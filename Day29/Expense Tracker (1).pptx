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Good morning, everyone. Thank you for joining me. Today I am presenting my final project, Expense Tracker: a secure mobile application that helps users record their daily expenses and understand where their money goes. My name is Maram Sharaf.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The presentation is organised in six parts. I will start with the problem and the objectives, then present the solution and its main features, followed by the application screens and a live demonstration. After that, I will explain the technical architecture, my quality assurance and release process, and finish with my conclusions and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Most people know their income, but not exactly where it is spent. Small daily purchases such as coffee, transport and deliveries accumulate without being noticed. Traditional methods like notebooks or spreadsheets require effort, so people usually stop using them after a short time. In addition, financial data is personal and must be protected. My objective was therefore to build a fast, secure and easy-to-use mobile application for recording and analysing personal expenses.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To address this problem, I developed Expense Tracker, which offers six core capabilities. First, secure user accounts with sign-up, login and password reset by email. Second, complete expense management: users can add, view, edit and delete expenses in six categories. Third, a monthly summary showing the current month's spending, the all-time total and a breakdown by category. Fourth, search, filtering by period and category, and sorting. Fifth, safe deletion with an Undo option. And finally, personalisation through light and dark themes.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These are the main screens of the application. The user starts on the login screen, can create a new account, or request a password reset link by email. After logging in, the home screen shows the monthly summary, the search bar and the filters. From there, the user can add a new expense with a title, amount, category and date. Finally, the menu allows switching between light and dark themes and logging out. I will now demonstrate these screens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Switch to the emulator or phone. Follow the demo table in docs/PRESENTATION.md: wrong password message, correct login, summary card, add an expense (empty form errors, invalid amount, then a valid one), search, Last month and category filters, sort by highest, open details, edit, swipe to delete, Undo, dark theme, log out. If anything fails, say: 'Let me show you the recorded version', and play the video. Return to the slides with: 'Let me now explain how the application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application follows a layered architecture. The presentation layer, made of screens and widgets, is responsible only for the user interface. The state layer uses the Provider package to hold the application state and business logic. The service layer is the only part of the code that communicates with the backend. The backend is Supabase, which provides authentication and a PostgreSQL database. Security is enforced in the database itself through Row Level Security policies, so each user can access only their own records, even if the API is called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This table summarises the technologies used. Flutter allows one codebase to run on Android and iOS. Provider manages the shared state. Supabase provides authentication and a REST API on top of a PostgreSQL database, which stores the expenses and enforces Row Level Security. SharedPreferences stores the user's theme choice on the device, and the official Flutter testing and lint packages ensure code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Quality was a priority throughout the project. All 40 automated unit and widget tests pass, and static analysis reports zero issues under strict lint rules. Every network request has a 20-second timeout, and errors are converted into clear messages such as 'No internet connection'. During the feature-completion phase, 13 bugs were identified and fixed. Input validation also covers edge cases such as NaN, scientific notation, negative values and decimal commas.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For the release, I built a release APK of 51.3 megabytes, and installed and tested it on a Pixel 7a running Android 16. The project is also configured to produce an App Bundle for Google Play. While preparing the release, I found an important issue: the INTERNET permission existed only in the debug configuration, which meant the release version could not connect to the server. I added it to the main manifest and verified the fix on a device. Finally, the project is fully documented with a README, API documentation, an architecture diagram and a release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This project taught me several important lessons: how to separate an application into clear layers, how to enforce data security at the database level, the importance of handling edge cases and errors before release, and that the release build must always be tested on a real device. For future work, I would like to add monthly budgets with alerts, spending charts over time, receipt photos, and Excel export with offline synchronisation.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Thank you for your attention. I would be happy to answer any questions. Prepared answers are in docs/PRESENTATION.md: why Supabase, whether the API key is a risk (no: publishable key plus Row Level Security), why Provider, offline use, the hardest part, iOS support, and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6232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1"/>
            <a:ext cx="10566400" cy="4165599"/>
          </a:xfrm>
          <a:prstGeom prst="rect">
            <a:avLst/>
          </a:prstGeom>
          <a:noFill/>
          <a:ln/>
        </p:spPr>
        <p:txBody>
          <a:bodyPr wrap="square" lIns="0" tIns="0" rIns="0" bIns="0" rtlCol="0" anchor="t"/>
          <a:lstStyle>
            <a:lvl1pPr algn="l" indent="0" marL="0">
              <a:lnSpc>
                <a:spcPct val="140000"/>
              </a:lnSpc>
              <a:buNone/>
              <a:defRPr lang="en-US" sz="1600" dirty="0">
                <a:solidFill>
                  <a:srgbClr val="16232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6232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1"/>
            <a:ext cx="10566400" cy="4165599"/>
          </a:xfrm>
          <a:prstGeom prst="rect">
            <a:avLst/>
          </a:prstGeom>
          <a:noFill/>
          <a:ln/>
        </p:spPr>
        <p:txBody>
          <a:bodyPr wrap="square" lIns="0" tIns="0" rIns="0" bIns="0" rtlCol="0" anchor="t"/>
          <a:lstStyle>
            <a:lvl1pPr algn="l" indent="0" marL="0">
              <a:lnSpc>
                <a:spcPct val="140000"/>
              </a:lnSpc>
              <a:buNone/>
              <a:defRPr lang="en-US" sz="1600" dirty="0">
                <a:solidFill>
                  <a:srgbClr val="16232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2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0B6E63"/>
          </a:solidFill>
          <a:ln/>
        </p:spPr>
      </p:sp>
      <p:sp>
        <p:nvSpPr>
          <p:cNvPr id="3" name="Text 1"/>
          <p:cNvSpPr/>
          <p:nvPr/>
        </p:nvSpPr>
        <p:spPr>
          <a:xfrm>
            <a:off x="812800" y="2075180"/>
            <a:ext cx="8031734"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7FC8BC"/>
                </a:solidFill>
                <a:latin typeface="IBM Plex Sans" pitchFamily="34" charset="0"/>
                <a:ea typeface="IBM Plex Sans" pitchFamily="34" charset="-122"/>
                <a:cs typeface="IBM Plex Sans" pitchFamily="34" charset="-120"/>
              </a:rPr>
              <a:t>FINAL PROJECT PRESENTATION</a:t>
            </a:r>
            <a:endParaRPr lang="en-US" sz="1300" dirty="0"/>
          </a:p>
        </p:txBody>
      </p:sp>
      <p:sp>
        <p:nvSpPr>
          <p:cNvPr id="4" name="Text 2"/>
          <p:cNvSpPr/>
          <p:nvPr>
            <p:ph type="title"/>
          </p:nvPr>
        </p:nvSpPr>
        <p:spPr>
          <a:xfrm>
            <a:off x="812800" y="2484120"/>
            <a:ext cx="8031734" cy="878840"/>
          </a:xfrm>
          <a:prstGeom prst="rect">
            <a:avLst/>
          </a:prstGeom>
          <a:noFill/>
          <a:ln/>
        </p:spPr>
        <p:txBody>
          <a:bodyPr wrap="square" lIns="0" tIns="0" rIns="0" bIns="0" rtlCol="0" anchor="t">
            <a:normAutofit/>
          </a:bodyPr>
          <a:lstStyle/>
          <a:p>
            <a:pPr algn="l" indent="0" marL="0">
              <a:lnSpc>
                <a:spcPts val="6720"/>
              </a:lnSpc>
              <a:buNone/>
            </a:pPr>
            <a:r>
              <a:rPr lang="en-US" sz="6400" b="1" i="0" dirty="0">
                <a:solidFill>
                  <a:srgbClr val="F7F6F2"/>
                </a:solidFill>
                <a:latin typeface="Source Serif 4" pitchFamily="18" charset="0"/>
                <a:ea typeface="Source Serif 4" pitchFamily="18" charset="-122"/>
                <a:cs typeface="Source Serif 4" pitchFamily="18" charset="-120"/>
              </a:rPr>
              <a:t>Expense Tracker</a:t>
            </a:r>
            <a:endParaRPr lang="en-US" sz="6400" dirty="0"/>
          </a:p>
        </p:txBody>
      </p:sp>
      <p:sp>
        <p:nvSpPr>
          <p:cNvPr id="5" name="Text 3"/>
          <p:cNvSpPr/>
          <p:nvPr/>
        </p:nvSpPr>
        <p:spPr>
          <a:xfrm>
            <a:off x="812800" y="3515360"/>
            <a:ext cx="8031734"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3CDD0"/>
                </a:solidFill>
                <a:latin typeface="IBM Plex Sans" pitchFamily="34" charset="0"/>
                <a:ea typeface="IBM Plex Sans" pitchFamily="34" charset="-122"/>
                <a:cs typeface="IBM Plex Sans" pitchFamily="34" charset="-120"/>
              </a:rPr>
              <a:t>A secure mobile application for tracking personal expenses</a:t>
            </a:r>
            <a:endParaRPr lang="en-US" sz="2000" dirty="0"/>
          </a:p>
        </p:txBody>
      </p:sp>
      <p:sp>
        <p:nvSpPr>
          <p:cNvPr id="6" name="Shape 4"/>
          <p:cNvSpPr/>
          <p:nvPr/>
        </p:nvSpPr>
        <p:spPr>
          <a:xfrm>
            <a:off x="812800" y="4036060"/>
            <a:ext cx="762000" cy="25400"/>
          </a:xfrm>
          <a:prstGeom prst="rect">
            <a:avLst/>
          </a:prstGeom>
          <a:solidFill>
            <a:srgbClr val="0B6E63"/>
          </a:solidFill>
          <a:ln/>
        </p:spPr>
      </p:sp>
      <p:sp>
        <p:nvSpPr>
          <p:cNvPr id="7" name="Text 5"/>
          <p:cNvSpPr/>
          <p:nvPr/>
        </p:nvSpPr>
        <p:spPr>
          <a:xfrm>
            <a:off x="812800" y="4239260"/>
            <a:ext cx="803173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IBM Plex Sans" pitchFamily="34" charset="0"/>
                <a:ea typeface="IBM Plex Sans" pitchFamily="34" charset="-122"/>
                <a:cs typeface="IBM Plex Sans" pitchFamily="34" charset="-120"/>
              </a:rPr>
              <a:t>Presented by: Maram Sharaf</a:t>
            </a:r>
            <a:endParaRPr lang="en-US" sz="1400" dirty="0"/>
          </a:p>
        </p:txBody>
      </p:sp>
      <p:sp>
        <p:nvSpPr>
          <p:cNvPr id="8" name="Text 6"/>
          <p:cNvSpPr/>
          <p:nvPr/>
        </p:nvSpPr>
        <p:spPr>
          <a:xfrm>
            <a:off x="812800" y="4551680"/>
            <a:ext cx="803173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AB0"/>
                </a:solidFill>
                <a:latin typeface="IBM Plex Sans" pitchFamily="34" charset="0"/>
                <a:ea typeface="IBM Plex Sans" pitchFamily="34" charset="-122"/>
                <a:cs typeface="IBM Plex Sans" pitchFamily="34" charset="-120"/>
              </a:rPr>
              <a:t>Flutter Internship Program · October 2026</a:t>
            </a:r>
            <a:endParaRPr lang="en-US" sz="1300" dirty="0"/>
          </a:p>
        </p:txBody>
      </p:sp>
      <p:pic>
        <p:nvPicPr>
          <p:cNvPr id="9" name="Image 0" descr="Expense Tracker login screen">    </p:cNvPr>
          <p:cNvPicPr>
            <a:picLocks noChangeAspect="1"/>
          </p:cNvPicPr>
          <p:nvPr/>
        </p:nvPicPr>
        <p:blipFill>
          <a:blip r:embed="rId1"/>
          <a:stretch>
            <a:fillRect/>
          </a:stretch>
        </p:blipFill>
        <p:spPr>
          <a:xfrm>
            <a:off x="9258300" y="1107886"/>
            <a:ext cx="2082800" cy="4642228"/>
          </a:xfrm>
          <a:custGeom>
            <a:avLst/>
            <a:gdLst/>
            <a:ahLst/>
            <a:cxnLst/>
            <a:rect l="l" t="t" r="r" b="b"/>
            <a:pathLst>
              <a:path w="2082800" h="4642228">
                <a:moveTo>
                  <a:pt x="0" y="117664"/>
                </a:moveTo>
                <a:arcTo wR="165100" hR="165100" stAng="10800000" swAng="2727222"/>
                <a:lnTo>
                  <a:pt x="2033515" y="0"/>
                </a:lnTo>
                <a:arcTo wR="165100" hR="165100" stAng="18872778" swAng="2727222"/>
                <a:lnTo>
                  <a:pt x="2082800" y="4524564"/>
                </a:lnTo>
                <a:arcTo wR="165100" hR="165100" stAng="0" swAng="2727222"/>
                <a:lnTo>
                  <a:pt x="49285" y="4642228"/>
                </a:lnTo>
                <a:arcTo wR="165100" hR="165100" stAng="8072778" swAng="2727222"/>
                <a:close/>
              </a:path>
            </a:pathLst>
          </a:custGeom>
        </p:spPr>
      </p:pic>
      <p:sp>
        <p:nvSpPr>
          <p:cNvPr id="10" name="Shape 7"/>
          <p:cNvSpPr/>
          <p:nvPr/>
        </p:nvSpPr>
        <p:spPr>
          <a:xfrm>
            <a:off x="9239250" y="1041400"/>
            <a:ext cx="2120900" cy="4775200"/>
          </a:xfrm>
          <a:prstGeom prst="roundRect">
            <a:avLst>
              <a:gd name="adj" fmla="val 8683"/>
            </a:avLst>
          </a:prstGeom>
          <a:noFill/>
          <a:ln w="38100">
            <a:solidFill>
              <a:srgbClr val="2E3E4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3"/>
                </a:solidFill>
                <a:latin typeface="IBM Plex Sans" pitchFamily="34" charset="0"/>
                <a:ea typeface="IBM Plex Sans" pitchFamily="34" charset="-122"/>
                <a:cs typeface="IBM Plex Sans" pitchFamily="34" charset="-120"/>
              </a:rPr>
              <a:t>AGENDA</a:t>
            </a:r>
            <a:endParaRPr lang="en-US" sz="1200" dirty="0"/>
          </a:p>
        </p:txBody>
      </p:sp>
      <p:sp>
        <p:nvSpPr>
          <p:cNvPr id="3" name="Text 1"/>
          <p:cNvSpPr/>
          <p:nvPr>
            <p:ph type="title"/>
          </p:nvPr>
        </p:nvSpPr>
        <p:spPr>
          <a:xfrm>
            <a:off x="812800" y="11277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2A"/>
                </a:solidFill>
                <a:latin typeface="Source Serif 4" pitchFamily="18" charset="0"/>
                <a:ea typeface="Source Serif 4" pitchFamily="18" charset="-122"/>
                <a:cs typeface="Source Serif 4" pitchFamily="18" charset="-120"/>
              </a:rPr>
              <a:t>Today's presentation</a:t>
            </a:r>
            <a:endParaRPr lang="en-US" sz="3200" dirty="0"/>
          </a:p>
        </p:txBody>
      </p:sp>
      <p:sp>
        <p:nvSpPr>
          <p:cNvPr id="4" name="Shape 2"/>
          <p:cNvSpPr/>
          <p:nvPr/>
        </p:nvSpPr>
        <p:spPr>
          <a:xfrm>
            <a:off x="812800" y="1933575"/>
            <a:ext cx="5283200" cy="0"/>
          </a:xfrm>
          <a:prstGeom prst="line">
            <a:avLst/>
          </a:prstGeom>
          <a:noFill/>
          <a:ln w="6350">
            <a:solidFill>
              <a:srgbClr val="D5D9D4"/>
            </a:solidFill>
            <a:prstDash val="solid"/>
          </a:ln>
        </p:spPr>
      </p:sp>
      <p:sp>
        <p:nvSpPr>
          <p:cNvPr id="5" name="Text 3"/>
          <p:cNvSpPr/>
          <p:nvPr/>
        </p:nvSpPr>
        <p:spPr>
          <a:xfrm>
            <a:off x="812800" y="2113280"/>
            <a:ext cx="33347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6E63"/>
                </a:solidFill>
                <a:latin typeface="Source Serif 4" pitchFamily="18" charset="0"/>
                <a:ea typeface="Source Serif 4" pitchFamily="18" charset="-122"/>
                <a:cs typeface="Source Serif 4" pitchFamily="18" charset="-120"/>
              </a:rPr>
              <a:t>01</a:t>
            </a:r>
            <a:endParaRPr lang="en-US" sz="2000" dirty="0"/>
          </a:p>
        </p:txBody>
      </p:sp>
      <p:sp>
        <p:nvSpPr>
          <p:cNvPr id="6" name="Text 4"/>
          <p:cNvSpPr/>
          <p:nvPr/>
        </p:nvSpPr>
        <p:spPr>
          <a:xfrm>
            <a:off x="1293892" y="2159000"/>
            <a:ext cx="256260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6232A"/>
                </a:solidFill>
                <a:latin typeface="IBM Plex Sans" pitchFamily="34" charset="0"/>
                <a:ea typeface="IBM Plex Sans" pitchFamily="34" charset="-122"/>
                <a:cs typeface="IBM Plex Sans" pitchFamily="34" charset="-120"/>
              </a:rPr>
              <a:t>Problem and objectives</a:t>
            </a:r>
            <a:endParaRPr lang="en-US" sz="1600" dirty="0"/>
          </a:p>
        </p:txBody>
      </p:sp>
      <p:sp>
        <p:nvSpPr>
          <p:cNvPr id="7" name="Shape 5"/>
          <p:cNvSpPr/>
          <p:nvPr/>
        </p:nvSpPr>
        <p:spPr>
          <a:xfrm>
            <a:off x="6096000" y="1933575"/>
            <a:ext cx="5283200" cy="0"/>
          </a:xfrm>
          <a:prstGeom prst="line">
            <a:avLst/>
          </a:prstGeom>
          <a:noFill/>
          <a:ln w="6350">
            <a:solidFill>
              <a:srgbClr val="D5D9D4"/>
            </a:solidFill>
            <a:prstDash val="solid"/>
          </a:ln>
        </p:spPr>
      </p:sp>
      <p:sp>
        <p:nvSpPr>
          <p:cNvPr id="8" name="Text 6"/>
          <p:cNvSpPr/>
          <p:nvPr/>
        </p:nvSpPr>
        <p:spPr>
          <a:xfrm>
            <a:off x="6096000" y="2113280"/>
            <a:ext cx="33347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6E63"/>
                </a:solidFill>
                <a:latin typeface="Source Serif 4" pitchFamily="18" charset="0"/>
                <a:ea typeface="Source Serif 4" pitchFamily="18" charset="-122"/>
                <a:cs typeface="Source Serif 4" pitchFamily="18" charset="-120"/>
              </a:rPr>
              <a:t>04</a:t>
            </a:r>
            <a:endParaRPr lang="en-US" sz="2000" dirty="0"/>
          </a:p>
        </p:txBody>
      </p:sp>
      <p:sp>
        <p:nvSpPr>
          <p:cNvPr id="9" name="Text 7"/>
          <p:cNvSpPr/>
          <p:nvPr/>
        </p:nvSpPr>
        <p:spPr>
          <a:xfrm>
            <a:off x="6577092" y="2159000"/>
            <a:ext cx="3930777"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6232A"/>
                </a:solidFill>
                <a:latin typeface="IBM Plex Sans" pitchFamily="34" charset="0"/>
                <a:ea typeface="IBM Plex Sans" pitchFamily="34" charset="-122"/>
                <a:cs typeface="IBM Plex Sans" pitchFamily="34" charset="-120"/>
              </a:rPr>
              <a:t>System architecture and technology</a:t>
            </a:r>
            <a:endParaRPr lang="en-US" sz="1600" dirty="0"/>
          </a:p>
        </p:txBody>
      </p:sp>
      <p:sp>
        <p:nvSpPr>
          <p:cNvPr id="10" name="Shape 8"/>
          <p:cNvSpPr/>
          <p:nvPr/>
        </p:nvSpPr>
        <p:spPr>
          <a:xfrm>
            <a:off x="812800" y="2649855"/>
            <a:ext cx="5283200" cy="0"/>
          </a:xfrm>
          <a:prstGeom prst="line">
            <a:avLst/>
          </a:prstGeom>
          <a:noFill/>
          <a:ln w="6350">
            <a:solidFill>
              <a:srgbClr val="D5D9D4"/>
            </a:solidFill>
            <a:prstDash val="solid"/>
          </a:ln>
        </p:spPr>
      </p:sp>
      <p:sp>
        <p:nvSpPr>
          <p:cNvPr id="11" name="Text 9"/>
          <p:cNvSpPr/>
          <p:nvPr/>
        </p:nvSpPr>
        <p:spPr>
          <a:xfrm>
            <a:off x="812800" y="2829560"/>
            <a:ext cx="33347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6E63"/>
                </a:solidFill>
                <a:latin typeface="Source Serif 4" pitchFamily="18" charset="0"/>
                <a:ea typeface="Source Serif 4" pitchFamily="18" charset="-122"/>
                <a:cs typeface="Source Serif 4" pitchFamily="18" charset="-120"/>
              </a:rPr>
              <a:t>02</a:t>
            </a:r>
            <a:endParaRPr lang="en-US" sz="2000" dirty="0"/>
          </a:p>
        </p:txBody>
      </p:sp>
      <p:sp>
        <p:nvSpPr>
          <p:cNvPr id="12" name="Text 10"/>
          <p:cNvSpPr/>
          <p:nvPr/>
        </p:nvSpPr>
        <p:spPr>
          <a:xfrm>
            <a:off x="1293892" y="2875280"/>
            <a:ext cx="341376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6232A"/>
                </a:solidFill>
                <a:latin typeface="IBM Plex Sans" pitchFamily="34" charset="0"/>
                <a:ea typeface="IBM Plex Sans" pitchFamily="34" charset="-122"/>
                <a:cs typeface="IBM Plex Sans" pitchFamily="34" charset="-120"/>
              </a:rPr>
              <a:t>Proposed solution and features</a:t>
            </a:r>
            <a:endParaRPr lang="en-US" sz="1600" dirty="0"/>
          </a:p>
        </p:txBody>
      </p:sp>
      <p:sp>
        <p:nvSpPr>
          <p:cNvPr id="13" name="Shape 11"/>
          <p:cNvSpPr/>
          <p:nvPr/>
        </p:nvSpPr>
        <p:spPr>
          <a:xfrm>
            <a:off x="6096000" y="2649855"/>
            <a:ext cx="5283200" cy="0"/>
          </a:xfrm>
          <a:prstGeom prst="line">
            <a:avLst/>
          </a:prstGeom>
          <a:noFill/>
          <a:ln w="6350">
            <a:solidFill>
              <a:srgbClr val="D5D9D4"/>
            </a:solidFill>
            <a:prstDash val="solid"/>
          </a:ln>
        </p:spPr>
      </p:sp>
      <p:sp>
        <p:nvSpPr>
          <p:cNvPr id="14" name="Text 12"/>
          <p:cNvSpPr/>
          <p:nvPr/>
        </p:nvSpPr>
        <p:spPr>
          <a:xfrm>
            <a:off x="6096000" y="2829560"/>
            <a:ext cx="33347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6E63"/>
                </a:solidFill>
                <a:latin typeface="Source Serif 4" pitchFamily="18" charset="0"/>
                <a:ea typeface="Source Serif 4" pitchFamily="18" charset="-122"/>
                <a:cs typeface="Source Serif 4" pitchFamily="18" charset="-120"/>
              </a:rPr>
              <a:t>05</a:t>
            </a:r>
            <a:endParaRPr lang="en-US" sz="2000" dirty="0"/>
          </a:p>
        </p:txBody>
      </p:sp>
      <p:sp>
        <p:nvSpPr>
          <p:cNvPr id="15" name="Text 13"/>
          <p:cNvSpPr/>
          <p:nvPr/>
        </p:nvSpPr>
        <p:spPr>
          <a:xfrm>
            <a:off x="6577092" y="2875280"/>
            <a:ext cx="328088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6232A"/>
                </a:solidFill>
                <a:latin typeface="IBM Plex Sans" pitchFamily="34" charset="0"/>
                <a:ea typeface="IBM Plex Sans" pitchFamily="34" charset="-122"/>
                <a:cs typeface="IBM Plex Sans" pitchFamily="34" charset="-120"/>
              </a:rPr>
              <a:t>Quality assurance and release</a:t>
            </a:r>
            <a:endParaRPr lang="en-US" sz="1600" dirty="0"/>
          </a:p>
        </p:txBody>
      </p:sp>
      <p:sp>
        <p:nvSpPr>
          <p:cNvPr id="16" name="Shape 14"/>
          <p:cNvSpPr/>
          <p:nvPr/>
        </p:nvSpPr>
        <p:spPr>
          <a:xfrm>
            <a:off x="812800" y="3366135"/>
            <a:ext cx="5283200" cy="0"/>
          </a:xfrm>
          <a:prstGeom prst="line">
            <a:avLst/>
          </a:prstGeom>
          <a:noFill/>
          <a:ln w="6350">
            <a:solidFill>
              <a:srgbClr val="D5D9D4"/>
            </a:solidFill>
            <a:prstDash val="solid"/>
          </a:ln>
        </p:spPr>
      </p:sp>
      <p:sp>
        <p:nvSpPr>
          <p:cNvPr id="17" name="Shape 15"/>
          <p:cNvSpPr/>
          <p:nvPr/>
        </p:nvSpPr>
        <p:spPr>
          <a:xfrm>
            <a:off x="812800" y="4081145"/>
            <a:ext cx="5283200" cy="0"/>
          </a:xfrm>
          <a:prstGeom prst="line">
            <a:avLst/>
          </a:prstGeom>
          <a:noFill/>
          <a:ln w="6350">
            <a:solidFill>
              <a:srgbClr val="D5D9D4"/>
            </a:solidFill>
            <a:prstDash val="solid"/>
          </a:ln>
        </p:spPr>
      </p:sp>
      <p:sp>
        <p:nvSpPr>
          <p:cNvPr id="18" name="Text 16"/>
          <p:cNvSpPr/>
          <p:nvPr/>
        </p:nvSpPr>
        <p:spPr>
          <a:xfrm>
            <a:off x="812800" y="3545840"/>
            <a:ext cx="33347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6E63"/>
                </a:solidFill>
                <a:latin typeface="Source Serif 4" pitchFamily="18" charset="0"/>
                <a:ea typeface="Source Serif 4" pitchFamily="18" charset="-122"/>
                <a:cs typeface="Source Serif 4" pitchFamily="18" charset="-120"/>
              </a:rPr>
              <a:t>03</a:t>
            </a:r>
            <a:endParaRPr lang="en-US" sz="2000" dirty="0"/>
          </a:p>
        </p:txBody>
      </p:sp>
      <p:sp>
        <p:nvSpPr>
          <p:cNvPr id="19" name="Text 17"/>
          <p:cNvSpPr/>
          <p:nvPr/>
        </p:nvSpPr>
        <p:spPr>
          <a:xfrm>
            <a:off x="1293892" y="3591560"/>
            <a:ext cx="4721257"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6232A"/>
                </a:solidFill>
                <a:latin typeface="IBM Plex Sans" pitchFamily="34" charset="0"/>
                <a:ea typeface="IBM Plex Sans" pitchFamily="34" charset="-122"/>
                <a:cs typeface="IBM Plex Sans" pitchFamily="34" charset="-120"/>
              </a:rPr>
              <a:t>Application screens and live demonstration</a:t>
            </a:r>
            <a:endParaRPr lang="en-US" sz="1600" dirty="0"/>
          </a:p>
        </p:txBody>
      </p:sp>
      <p:sp>
        <p:nvSpPr>
          <p:cNvPr id="20" name="Shape 18"/>
          <p:cNvSpPr/>
          <p:nvPr/>
        </p:nvSpPr>
        <p:spPr>
          <a:xfrm>
            <a:off x="6096000" y="3366135"/>
            <a:ext cx="5283200" cy="0"/>
          </a:xfrm>
          <a:prstGeom prst="line">
            <a:avLst/>
          </a:prstGeom>
          <a:noFill/>
          <a:ln w="6350">
            <a:solidFill>
              <a:srgbClr val="D5D9D4"/>
            </a:solidFill>
            <a:prstDash val="solid"/>
          </a:ln>
        </p:spPr>
      </p:sp>
      <p:sp>
        <p:nvSpPr>
          <p:cNvPr id="21" name="Shape 19"/>
          <p:cNvSpPr/>
          <p:nvPr/>
        </p:nvSpPr>
        <p:spPr>
          <a:xfrm>
            <a:off x="6096000" y="4081145"/>
            <a:ext cx="5283200" cy="0"/>
          </a:xfrm>
          <a:prstGeom prst="line">
            <a:avLst/>
          </a:prstGeom>
          <a:noFill/>
          <a:ln w="6350">
            <a:solidFill>
              <a:srgbClr val="D5D9D4"/>
            </a:solidFill>
            <a:prstDash val="solid"/>
          </a:ln>
        </p:spPr>
      </p:sp>
      <p:sp>
        <p:nvSpPr>
          <p:cNvPr id="22" name="Text 20"/>
          <p:cNvSpPr/>
          <p:nvPr/>
        </p:nvSpPr>
        <p:spPr>
          <a:xfrm>
            <a:off x="6096000" y="3545840"/>
            <a:ext cx="33347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6E63"/>
                </a:solidFill>
                <a:latin typeface="Source Serif 4" pitchFamily="18" charset="0"/>
                <a:ea typeface="Source Serif 4" pitchFamily="18" charset="-122"/>
                <a:cs typeface="Source Serif 4" pitchFamily="18" charset="-120"/>
              </a:rPr>
              <a:t>06</a:t>
            </a:r>
            <a:endParaRPr lang="en-US" sz="2000" dirty="0"/>
          </a:p>
        </p:txBody>
      </p:sp>
      <p:sp>
        <p:nvSpPr>
          <p:cNvPr id="23" name="Text 21"/>
          <p:cNvSpPr/>
          <p:nvPr/>
        </p:nvSpPr>
        <p:spPr>
          <a:xfrm>
            <a:off x="6577092" y="3591560"/>
            <a:ext cx="4308444"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6232A"/>
                </a:solidFill>
                <a:latin typeface="IBM Plex Sans" pitchFamily="34" charset="0"/>
                <a:ea typeface="IBM Plex Sans" pitchFamily="34" charset="-122"/>
                <a:cs typeface="IBM Plex Sans" pitchFamily="34" charset="-120"/>
              </a:rPr>
              <a:t>Conclusions, future work and questions</a:t>
            </a:r>
            <a:endParaRPr lang="en-US" sz="1600" dirty="0"/>
          </a:p>
        </p:txBody>
      </p:sp>
      <p:pic>
        <p:nvPicPr>
          <p:cNvPr id="24" name="Image 0" descr="line">    </p:cNvPr>
          <p:cNvPicPr>
            <a:picLocks noChangeAspect="1"/>
          </p:cNvPicPr>
          <p:nvPr/>
        </p:nvPicPr>
        <p:blipFill>
          <a:blip r:embed="rId1"/>
          <a:srcRect l="-12500" r="-12500" t="0" b="0"/>
          <a:stretch/>
        </p:blipFill>
        <p:spPr>
          <a:xfrm>
            <a:off x="812800" y="6096000"/>
            <a:ext cx="10566400" cy="10160"/>
          </a:xfrm>
          <a:prstGeom prst="rect">
            <a:avLst/>
          </a:prstGeom>
        </p:spPr>
      </p:pic>
      <p:sp>
        <p:nvSpPr>
          <p:cNvPr id="25" name="Text 22"/>
          <p:cNvSpPr/>
          <p:nvPr/>
        </p:nvSpPr>
        <p:spPr>
          <a:xfrm>
            <a:off x="812800" y="6238241"/>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Expense Tracker · Final Project Presentation</a:t>
            </a:r>
            <a:endParaRPr lang="en-US" sz="1200" dirty="0"/>
          </a:p>
        </p:txBody>
      </p:sp>
      <p:sp>
        <p:nvSpPr>
          <p:cNvPr id="26" name="Text 23"/>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3"/>
                </a:solidFill>
                <a:latin typeface="IBM Plex Sans" pitchFamily="34" charset="0"/>
                <a:ea typeface="IBM Plex Sans" pitchFamily="34" charset="-122"/>
                <a:cs typeface="IBM Plex Sans" pitchFamily="34" charset="-120"/>
              </a:rPr>
              <a:t>01 · PROBLEM STATEMENT</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2A"/>
                </a:solidFill>
                <a:latin typeface="Source Serif 4" pitchFamily="18" charset="0"/>
                <a:ea typeface="Source Serif 4" pitchFamily="18" charset="-122"/>
                <a:cs typeface="Source Serif 4" pitchFamily="18" charset="-120"/>
              </a:rPr>
              <a:t>Small daily expenses are easy to lose track of</a:t>
            </a:r>
            <a:endParaRPr lang="en-US" sz="3200" dirty="0"/>
          </a:p>
        </p:txBody>
      </p:sp>
      <p:sp>
        <p:nvSpPr>
          <p:cNvPr id="4" name="Shape 2"/>
          <p:cNvSpPr/>
          <p:nvPr/>
        </p:nvSpPr>
        <p:spPr>
          <a:xfrm>
            <a:off x="812800" y="1930400"/>
            <a:ext cx="3386614" cy="1955800"/>
          </a:xfrm>
          <a:prstGeom prst="rect">
            <a:avLst/>
          </a:prstGeom>
          <a:solidFill>
            <a:srgbClr val="FFFFFF"/>
          </a:solidFill>
          <a:ln/>
        </p:spPr>
      </p:sp>
      <p:sp>
        <p:nvSpPr>
          <p:cNvPr id="5" name="Shape 3"/>
          <p:cNvSpPr/>
          <p:nvPr/>
        </p:nvSpPr>
        <p:spPr>
          <a:xfrm>
            <a:off x="812800" y="1943100"/>
            <a:ext cx="3386614" cy="0"/>
          </a:xfrm>
          <a:prstGeom prst="line">
            <a:avLst/>
          </a:prstGeom>
          <a:noFill/>
          <a:ln w="25400">
            <a:solidFill>
              <a:srgbClr val="0B6E63"/>
            </a:solidFill>
            <a:prstDash val="solid"/>
          </a:ln>
        </p:spPr>
      </p:sp>
      <p:sp>
        <p:nvSpPr>
          <p:cNvPr id="6" name="Text 4"/>
          <p:cNvSpPr/>
          <p:nvPr/>
        </p:nvSpPr>
        <p:spPr>
          <a:xfrm>
            <a:off x="1066800" y="2209800"/>
            <a:ext cx="2964972"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6232A"/>
                </a:solidFill>
                <a:latin typeface="Source Serif 4" pitchFamily="18" charset="0"/>
                <a:ea typeface="Source Serif 4" pitchFamily="18" charset="-122"/>
                <a:cs typeface="Source Serif 4" pitchFamily="18" charset="-120"/>
              </a:rPr>
              <a:t>Low visibility</a:t>
            </a:r>
            <a:endParaRPr lang="en-US" sz="1900" dirty="0"/>
          </a:p>
        </p:txBody>
      </p:sp>
      <p:sp>
        <p:nvSpPr>
          <p:cNvPr id="7" name="Text 5"/>
          <p:cNvSpPr/>
          <p:nvPr/>
        </p:nvSpPr>
        <p:spPr>
          <a:xfrm>
            <a:off x="1066800" y="2600961"/>
            <a:ext cx="2964972"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860"/>
                </a:solidFill>
                <a:latin typeface="IBM Plex Sans" pitchFamily="34" charset="0"/>
                <a:ea typeface="IBM Plex Sans" pitchFamily="34" charset="-122"/>
                <a:cs typeface="IBM Plex Sans" pitchFamily="34" charset="-120"/>
              </a:rPr>
              <a:t>Individually small purchases accumulate into a large share of monthly income without being noticed.</a:t>
            </a:r>
            <a:endParaRPr lang="en-US" sz="1400" dirty="0"/>
          </a:p>
        </p:txBody>
      </p:sp>
      <p:sp>
        <p:nvSpPr>
          <p:cNvPr id="8" name="Shape 6"/>
          <p:cNvSpPr/>
          <p:nvPr/>
        </p:nvSpPr>
        <p:spPr>
          <a:xfrm>
            <a:off x="4402614" y="1930400"/>
            <a:ext cx="3386693" cy="1955800"/>
          </a:xfrm>
          <a:prstGeom prst="rect">
            <a:avLst/>
          </a:prstGeom>
          <a:solidFill>
            <a:srgbClr val="FFFFFF"/>
          </a:solidFill>
          <a:ln/>
        </p:spPr>
      </p:sp>
      <p:sp>
        <p:nvSpPr>
          <p:cNvPr id="9" name="Shape 7"/>
          <p:cNvSpPr/>
          <p:nvPr/>
        </p:nvSpPr>
        <p:spPr>
          <a:xfrm>
            <a:off x="4402614" y="1943100"/>
            <a:ext cx="3386693" cy="0"/>
          </a:xfrm>
          <a:prstGeom prst="line">
            <a:avLst/>
          </a:prstGeom>
          <a:noFill/>
          <a:ln w="25400">
            <a:solidFill>
              <a:srgbClr val="0B6E63"/>
            </a:solidFill>
            <a:prstDash val="solid"/>
          </a:ln>
        </p:spPr>
      </p:sp>
      <p:sp>
        <p:nvSpPr>
          <p:cNvPr id="10" name="Text 8"/>
          <p:cNvSpPr/>
          <p:nvPr/>
        </p:nvSpPr>
        <p:spPr>
          <a:xfrm>
            <a:off x="4656614" y="2209800"/>
            <a:ext cx="2965054"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6232A"/>
                </a:solidFill>
                <a:latin typeface="Source Serif 4" pitchFamily="18" charset="0"/>
                <a:ea typeface="Source Serif 4" pitchFamily="18" charset="-122"/>
                <a:cs typeface="Source Serif 4" pitchFamily="18" charset="-120"/>
              </a:rPr>
              <a:t>High effort</a:t>
            </a:r>
            <a:endParaRPr lang="en-US" sz="1900" dirty="0"/>
          </a:p>
        </p:txBody>
      </p:sp>
      <p:sp>
        <p:nvSpPr>
          <p:cNvPr id="11" name="Text 9"/>
          <p:cNvSpPr/>
          <p:nvPr/>
        </p:nvSpPr>
        <p:spPr>
          <a:xfrm>
            <a:off x="4656614" y="2600961"/>
            <a:ext cx="2965054"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860"/>
                </a:solidFill>
                <a:latin typeface="IBM Plex Sans" pitchFamily="34" charset="0"/>
                <a:ea typeface="IBM Plex Sans" pitchFamily="34" charset="-122"/>
                <a:cs typeface="IBM Plex Sans" pitchFamily="34" charset="-120"/>
              </a:rPr>
              <a:t>Notebooks and spreadsheets are slow to update, so most people stop recording after a short time.</a:t>
            </a:r>
            <a:endParaRPr lang="en-US" sz="1400" dirty="0"/>
          </a:p>
        </p:txBody>
      </p:sp>
      <p:sp>
        <p:nvSpPr>
          <p:cNvPr id="12" name="Shape 10"/>
          <p:cNvSpPr/>
          <p:nvPr/>
        </p:nvSpPr>
        <p:spPr>
          <a:xfrm>
            <a:off x="7992507" y="1930400"/>
            <a:ext cx="3386693" cy="1955800"/>
          </a:xfrm>
          <a:prstGeom prst="rect">
            <a:avLst/>
          </a:prstGeom>
          <a:solidFill>
            <a:srgbClr val="FFFFFF"/>
          </a:solidFill>
          <a:ln/>
        </p:spPr>
      </p:sp>
      <p:sp>
        <p:nvSpPr>
          <p:cNvPr id="13" name="Shape 11"/>
          <p:cNvSpPr/>
          <p:nvPr/>
        </p:nvSpPr>
        <p:spPr>
          <a:xfrm>
            <a:off x="7992507" y="1943100"/>
            <a:ext cx="3386693" cy="0"/>
          </a:xfrm>
          <a:prstGeom prst="line">
            <a:avLst/>
          </a:prstGeom>
          <a:noFill/>
          <a:ln w="25400">
            <a:solidFill>
              <a:srgbClr val="0B6E63"/>
            </a:solidFill>
            <a:prstDash val="solid"/>
          </a:ln>
        </p:spPr>
      </p:sp>
      <p:sp>
        <p:nvSpPr>
          <p:cNvPr id="14" name="Text 12"/>
          <p:cNvSpPr/>
          <p:nvPr/>
        </p:nvSpPr>
        <p:spPr>
          <a:xfrm>
            <a:off x="8246507" y="2209800"/>
            <a:ext cx="2965054"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6232A"/>
                </a:solidFill>
                <a:latin typeface="Source Serif 4" pitchFamily="18" charset="0"/>
                <a:ea typeface="Source Serif 4" pitchFamily="18" charset="-122"/>
                <a:cs typeface="Source Serif 4" pitchFamily="18" charset="-120"/>
              </a:rPr>
              <a:t>Privacy concerns</a:t>
            </a:r>
            <a:endParaRPr lang="en-US" sz="1900" dirty="0"/>
          </a:p>
        </p:txBody>
      </p:sp>
      <p:sp>
        <p:nvSpPr>
          <p:cNvPr id="15" name="Text 13"/>
          <p:cNvSpPr/>
          <p:nvPr/>
        </p:nvSpPr>
        <p:spPr>
          <a:xfrm>
            <a:off x="8246507" y="2600961"/>
            <a:ext cx="2965054"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860"/>
                </a:solidFill>
                <a:latin typeface="IBM Plex Sans" pitchFamily="34" charset="0"/>
                <a:ea typeface="IBM Plex Sans" pitchFamily="34" charset="-122"/>
                <a:cs typeface="IBM Plex Sans" pitchFamily="34" charset="-120"/>
              </a:rPr>
              <a:t>Financial data is personal and must remain secure and accessible only to its owner.</a:t>
            </a:r>
            <a:endParaRPr lang="en-US" sz="1400" dirty="0"/>
          </a:p>
        </p:txBody>
      </p:sp>
      <p:sp>
        <p:nvSpPr>
          <p:cNvPr id="16" name="Text 14"/>
          <p:cNvSpPr/>
          <p:nvPr/>
        </p:nvSpPr>
        <p:spPr>
          <a:xfrm>
            <a:off x="812800" y="4241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232A"/>
                </a:solidFill>
                <a:latin typeface="IBM Plex Sans" pitchFamily="34" charset="0"/>
                <a:ea typeface="IBM Plex Sans" pitchFamily="34" charset="-122"/>
                <a:cs typeface="IBM Plex Sans" pitchFamily="34" charset="-120"/>
              </a:rPr>
              <a:t>Objective:</a:t>
            </a:r>
            <a:r>
              <a:rPr lang="en-US" sz="1500" dirty="0">
                <a:solidFill>
                  <a:srgbClr val="16232A"/>
                </a:solidFill>
                <a:latin typeface="IBM Plex Sans" pitchFamily="34" charset="0"/>
                <a:ea typeface="IBM Plex Sans" pitchFamily="34" charset="-122"/>
                <a:cs typeface="IBM Plex Sans" pitchFamily="34" charset="-120"/>
              </a:rPr>
              <a:t> build a fast, secure and easy-to-use mobile application for recording and analysing personal expenses.</a:t>
            </a:r>
            <a:endParaRPr lang="en-US" sz="1500" dirty="0"/>
          </a:p>
        </p:txBody>
      </p:sp>
      <p:pic>
        <p:nvPicPr>
          <p:cNvPr id="17" name="Image 0" descr="line">    </p:cNvPr>
          <p:cNvPicPr>
            <a:picLocks noChangeAspect="1"/>
          </p:cNvPicPr>
          <p:nvPr/>
        </p:nvPicPr>
        <p:blipFill>
          <a:blip r:embed="rId1"/>
          <a:srcRect l="-12500" r="-12500" t="0" b="0"/>
          <a:stretch/>
        </p:blipFill>
        <p:spPr>
          <a:xfrm>
            <a:off x="812800" y="6096000"/>
            <a:ext cx="10566400" cy="10160"/>
          </a:xfrm>
          <a:prstGeom prst="rect">
            <a:avLst/>
          </a:prstGeom>
        </p:spPr>
      </p:pic>
      <p:sp>
        <p:nvSpPr>
          <p:cNvPr id="18" name="Text 15"/>
          <p:cNvSpPr/>
          <p:nvPr/>
        </p:nvSpPr>
        <p:spPr>
          <a:xfrm>
            <a:off x="812800" y="6238241"/>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Expense Tracker · Final Project Presentation</a:t>
            </a:r>
            <a:endParaRPr lang="en-US" sz="1200" dirty="0"/>
          </a:p>
        </p:txBody>
      </p:sp>
      <p:sp>
        <p:nvSpPr>
          <p:cNvPr id="19" name="Text 16"/>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3"/>
                </a:solidFill>
                <a:latin typeface="IBM Plex Sans" pitchFamily="34" charset="0"/>
                <a:ea typeface="IBM Plex Sans" pitchFamily="34" charset="-122"/>
                <a:cs typeface="IBM Plex Sans" pitchFamily="34" charset="-120"/>
              </a:rPr>
              <a:t>02 · PROPOSED SOLUTION</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2A"/>
                </a:solidFill>
                <a:latin typeface="Source Serif 4" pitchFamily="18" charset="0"/>
                <a:ea typeface="Source Serif 4" pitchFamily="18" charset="-122"/>
                <a:cs typeface="Source Serif 4" pitchFamily="18" charset="-120"/>
              </a:rPr>
              <a:t>Six core capabilities</a:t>
            </a:r>
            <a:endParaRPr lang="en-US" sz="3200" dirty="0"/>
          </a:p>
        </p:txBody>
      </p:sp>
      <p:pic>
        <p:nvPicPr>
          <p:cNvPr id="4" name="Image 0" descr="Lock">    </p:cNvPr>
          <p:cNvPicPr>
            <a:picLocks noChangeAspect="1"/>
          </p:cNvPicPr>
          <p:nvPr/>
        </p:nvPicPr>
        <p:blipFill>
          <a:blip r:embed="rId1"/>
          <a:srcRect l="0" r="0" t="0" b="0"/>
          <a:stretch/>
        </p:blipFill>
        <p:spPr>
          <a:xfrm>
            <a:off x="812800" y="1930400"/>
            <a:ext cx="304800" cy="304800"/>
          </a:xfrm>
          <a:prstGeom prst="rect">
            <a:avLst/>
          </a:prstGeom>
        </p:spPr>
      </p:pic>
      <p:sp>
        <p:nvSpPr>
          <p:cNvPr id="5" name="Text 2"/>
          <p:cNvSpPr/>
          <p:nvPr/>
        </p:nvSpPr>
        <p:spPr>
          <a:xfrm>
            <a:off x="812800" y="2324100"/>
            <a:ext cx="36277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2A"/>
                </a:solidFill>
                <a:latin typeface="Source Serif 4" pitchFamily="18" charset="0"/>
                <a:ea typeface="Source Serif 4" pitchFamily="18" charset="-122"/>
                <a:cs typeface="Source Serif 4" pitchFamily="18" charset="-120"/>
              </a:rPr>
              <a:t>Secure accounts</a:t>
            </a:r>
            <a:endParaRPr lang="en-US" sz="1800" dirty="0"/>
          </a:p>
        </p:txBody>
      </p:sp>
      <p:sp>
        <p:nvSpPr>
          <p:cNvPr id="6" name="Text 3"/>
          <p:cNvSpPr/>
          <p:nvPr/>
        </p:nvSpPr>
        <p:spPr>
          <a:xfrm>
            <a:off x="812800" y="2687320"/>
            <a:ext cx="3627770" cy="26479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860"/>
                </a:solidFill>
                <a:latin typeface="IBM Plex Sans" pitchFamily="34" charset="0"/>
                <a:ea typeface="IBM Plex Sans" pitchFamily="34" charset="-122"/>
                <a:cs typeface="IBM Plex Sans" pitchFamily="34" charset="-120"/>
              </a:rPr>
              <a:t>Sign up, log in and password reset by email.</a:t>
            </a:r>
            <a:endParaRPr lang="en-US" sz="1300" dirty="0"/>
          </a:p>
        </p:txBody>
      </p:sp>
      <p:pic>
        <p:nvPicPr>
          <p:cNvPr id="7" name="Image 1" descr="Database">    </p:cNvPr>
          <p:cNvPicPr>
            <a:picLocks noChangeAspect="1"/>
          </p:cNvPicPr>
          <p:nvPr/>
        </p:nvPicPr>
        <p:blipFill>
          <a:blip r:embed="rId2"/>
          <a:srcRect l="0" r="0" t="0" b="0"/>
          <a:stretch/>
        </p:blipFill>
        <p:spPr>
          <a:xfrm>
            <a:off x="4334907" y="1930400"/>
            <a:ext cx="304800" cy="304800"/>
          </a:xfrm>
          <a:prstGeom prst="rect">
            <a:avLst/>
          </a:prstGeom>
        </p:spPr>
      </p:pic>
      <p:sp>
        <p:nvSpPr>
          <p:cNvPr id="8" name="Text 4"/>
          <p:cNvSpPr/>
          <p:nvPr/>
        </p:nvSpPr>
        <p:spPr>
          <a:xfrm>
            <a:off x="4334907" y="2324100"/>
            <a:ext cx="36277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2A"/>
                </a:solidFill>
                <a:latin typeface="Source Serif 4" pitchFamily="18" charset="0"/>
                <a:ea typeface="Source Serif 4" pitchFamily="18" charset="-122"/>
                <a:cs typeface="Source Serif 4" pitchFamily="18" charset="-120"/>
              </a:rPr>
              <a:t>Expense management</a:t>
            </a:r>
            <a:endParaRPr lang="en-US" sz="1800" dirty="0"/>
          </a:p>
        </p:txBody>
      </p:sp>
      <p:sp>
        <p:nvSpPr>
          <p:cNvPr id="9" name="Text 5"/>
          <p:cNvSpPr/>
          <p:nvPr/>
        </p:nvSpPr>
        <p:spPr>
          <a:xfrm>
            <a:off x="4334907" y="2687320"/>
            <a:ext cx="3627770"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860"/>
                </a:solidFill>
                <a:latin typeface="IBM Plex Sans" pitchFamily="34" charset="0"/>
                <a:ea typeface="IBM Plex Sans" pitchFamily="34" charset="-122"/>
                <a:cs typeface="IBM Plex Sans" pitchFamily="34" charset="-120"/>
              </a:rPr>
              <a:t>Add, view, edit and delete expenses across six categories.</a:t>
            </a:r>
            <a:endParaRPr lang="en-US" sz="1300" dirty="0"/>
          </a:p>
        </p:txBody>
      </p:sp>
      <p:pic>
        <p:nvPicPr>
          <p:cNvPr id="10" name="Image 2" descr="Chart">    </p:cNvPr>
          <p:cNvPicPr>
            <a:picLocks noChangeAspect="1"/>
          </p:cNvPicPr>
          <p:nvPr/>
        </p:nvPicPr>
        <p:blipFill>
          <a:blip r:embed="rId3"/>
          <a:srcRect l="0" r="0" t="0" b="0"/>
          <a:stretch/>
        </p:blipFill>
        <p:spPr>
          <a:xfrm>
            <a:off x="7857014" y="1930400"/>
            <a:ext cx="304800" cy="304800"/>
          </a:xfrm>
          <a:prstGeom prst="rect">
            <a:avLst/>
          </a:prstGeom>
        </p:spPr>
      </p:pic>
      <p:sp>
        <p:nvSpPr>
          <p:cNvPr id="11" name="Text 6"/>
          <p:cNvSpPr/>
          <p:nvPr/>
        </p:nvSpPr>
        <p:spPr>
          <a:xfrm>
            <a:off x="7857014" y="2324100"/>
            <a:ext cx="36277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2A"/>
                </a:solidFill>
                <a:latin typeface="Source Serif 4" pitchFamily="18" charset="0"/>
                <a:ea typeface="Source Serif 4" pitchFamily="18" charset="-122"/>
                <a:cs typeface="Source Serif 4" pitchFamily="18" charset="-120"/>
              </a:rPr>
              <a:t>Monthly summary</a:t>
            </a:r>
            <a:endParaRPr lang="en-US" sz="1800" dirty="0"/>
          </a:p>
        </p:txBody>
      </p:sp>
      <p:sp>
        <p:nvSpPr>
          <p:cNvPr id="12" name="Text 7"/>
          <p:cNvSpPr/>
          <p:nvPr/>
        </p:nvSpPr>
        <p:spPr>
          <a:xfrm>
            <a:off x="7857014" y="2687320"/>
            <a:ext cx="3627770"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860"/>
                </a:solidFill>
                <a:latin typeface="IBM Plex Sans" pitchFamily="34" charset="0"/>
                <a:ea typeface="IBM Plex Sans" pitchFamily="34" charset="-122"/>
                <a:cs typeface="IBM Plex Sans" pitchFamily="34" charset="-120"/>
              </a:rPr>
              <a:t>Current month, all-time total and a breakdown by category.</a:t>
            </a:r>
            <a:endParaRPr lang="en-US" sz="1300" dirty="0"/>
          </a:p>
        </p:txBody>
      </p:sp>
      <p:pic>
        <p:nvPicPr>
          <p:cNvPr id="13" name="Image 3" descr="Search">    </p:cNvPr>
          <p:cNvPicPr>
            <a:picLocks noChangeAspect="1"/>
          </p:cNvPicPr>
          <p:nvPr/>
        </p:nvPicPr>
        <p:blipFill>
          <a:blip r:embed="rId4"/>
          <a:srcRect l="0" r="0" t="0" b="0"/>
          <a:stretch/>
        </p:blipFill>
        <p:spPr>
          <a:xfrm>
            <a:off x="812800" y="3166111"/>
            <a:ext cx="304800" cy="304800"/>
          </a:xfrm>
          <a:prstGeom prst="rect">
            <a:avLst/>
          </a:prstGeom>
        </p:spPr>
      </p:pic>
      <p:sp>
        <p:nvSpPr>
          <p:cNvPr id="14" name="Text 8"/>
          <p:cNvSpPr/>
          <p:nvPr/>
        </p:nvSpPr>
        <p:spPr>
          <a:xfrm>
            <a:off x="812800" y="3559811"/>
            <a:ext cx="36277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2A"/>
                </a:solidFill>
                <a:latin typeface="Source Serif 4" pitchFamily="18" charset="0"/>
                <a:ea typeface="Source Serif 4" pitchFamily="18" charset="-122"/>
                <a:cs typeface="Source Serif 4" pitchFamily="18" charset="-120"/>
              </a:rPr>
              <a:t>Search and filters</a:t>
            </a:r>
            <a:endParaRPr lang="en-US" sz="1800" dirty="0"/>
          </a:p>
        </p:txBody>
      </p:sp>
      <p:sp>
        <p:nvSpPr>
          <p:cNvPr id="15" name="Text 9"/>
          <p:cNvSpPr/>
          <p:nvPr/>
        </p:nvSpPr>
        <p:spPr>
          <a:xfrm>
            <a:off x="812800" y="3923030"/>
            <a:ext cx="3627770"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860"/>
                </a:solidFill>
                <a:latin typeface="IBM Plex Sans" pitchFamily="34" charset="0"/>
                <a:ea typeface="IBM Plex Sans" pitchFamily="34" charset="-122"/>
                <a:cs typeface="IBM Plex Sans" pitchFamily="34" charset="-120"/>
              </a:rPr>
              <a:t>Search, filter by period and category, and sort four ways.</a:t>
            </a:r>
            <a:endParaRPr lang="en-US" sz="1300" dirty="0"/>
          </a:p>
        </p:txBody>
      </p:sp>
      <p:pic>
        <p:nvPicPr>
          <p:cNvPr id="16" name="Image 4" descr="Check">    </p:cNvPr>
          <p:cNvPicPr>
            <a:picLocks noChangeAspect="1"/>
          </p:cNvPicPr>
          <p:nvPr/>
        </p:nvPicPr>
        <p:blipFill>
          <a:blip r:embed="rId5"/>
          <a:srcRect l="0" r="0" t="0" b="0"/>
          <a:stretch/>
        </p:blipFill>
        <p:spPr>
          <a:xfrm>
            <a:off x="4334907" y="3166111"/>
            <a:ext cx="304800" cy="304800"/>
          </a:xfrm>
          <a:prstGeom prst="rect">
            <a:avLst/>
          </a:prstGeom>
        </p:spPr>
      </p:pic>
      <p:sp>
        <p:nvSpPr>
          <p:cNvPr id="17" name="Text 10"/>
          <p:cNvSpPr/>
          <p:nvPr/>
        </p:nvSpPr>
        <p:spPr>
          <a:xfrm>
            <a:off x="4334907" y="3559811"/>
            <a:ext cx="36277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2A"/>
                </a:solidFill>
                <a:latin typeface="Source Serif 4" pitchFamily="18" charset="0"/>
                <a:ea typeface="Source Serif 4" pitchFamily="18" charset="-122"/>
                <a:cs typeface="Source Serif 4" pitchFamily="18" charset="-120"/>
              </a:rPr>
              <a:t>Safe deletion</a:t>
            </a:r>
            <a:endParaRPr lang="en-US" sz="1800" dirty="0"/>
          </a:p>
        </p:txBody>
      </p:sp>
      <p:sp>
        <p:nvSpPr>
          <p:cNvPr id="18" name="Text 11"/>
          <p:cNvSpPr/>
          <p:nvPr/>
        </p:nvSpPr>
        <p:spPr>
          <a:xfrm>
            <a:off x="4334907" y="3923030"/>
            <a:ext cx="3627770"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860"/>
                </a:solidFill>
                <a:latin typeface="IBM Plex Sans" pitchFamily="34" charset="0"/>
                <a:ea typeface="IBM Plex Sans" pitchFamily="34" charset="-122"/>
                <a:cs typeface="IBM Plex Sans" pitchFamily="34" charset="-120"/>
              </a:rPr>
              <a:t>Swipe to delete with an Undo option and confirmation dialogs.</a:t>
            </a:r>
            <a:endParaRPr lang="en-US" sz="1300" dirty="0"/>
          </a:p>
        </p:txBody>
      </p:sp>
      <p:pic>
        <p:nvPicPr>
          <p:cNvPr id="19" name="Image 5" descr="Settings">    </p:cNvPr>
          <p:cNvPicPr>
            <a:picLocks noChangeAspect="1"/>
          </p:cNvPicPr>
          <p:nvPr/>
        </p:nvPicPr>
        <p:blipFill>
          <a:blip r:embed="rId6"/>
          <a:srcRect l="0" r="0" t="0" b="0"/>
          <a:stretch/>
        </p:blipFill>
        <p:spPr>
          <a:xfrm>
            <a:off x="7857014" y="3166111"/>
            <a:ext cx="304800" cy="304800"/>
          </a:xfrm>
          <a:prstGeom prst="rect">
            <a:avLst/>
          </a:prstGeom>
        </p:spPr>
      </p:pic>
      <p:sp>
        <p:nvSpPr>
          <p:cNvPr id="20" name="Text 12"/>
          <p:cNvSpPr/>
          <p:nvPr/>
        </p:nvSpPr>
        <p:spPr>
          <a:xfrm>
            <a:off x="7857014" y="3559811"/>
            <a:ext cx="36277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32A"/>
                </a:solidFill>
                <a:latin typeface="Source Serif 4" pitchFamily="18" charset="0"/>
                <a:ea typeface="Source Serif 4" pitchFamily="18" charset="-122"/>
                <a:cs typeface="Source Serif 4" pitchFamily="18" charset="-120"/>
              </a:rPr>
              <a:t>Personalisation</a:t>
            </a:r>
            <a:endParaRPr lang="en-US" sz="1800" dirty="0"/>
          </a:p>
        </p:txBody>
      </p:sp>
      <p:sp>
        <p:nvSpPr>
          <p:cNvPr id="21" name="Text 13"/>
          <p:cNvSpPr/>
          <p:nvPr/>
        </p:nvSpPr>
        <p:spPr>
          <a:xfrm>
            <a:off x="7857014" y="3923030"/>
            <a:ext cx="3627770"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860"/>
                </a:solidFill>
                <a:latin typeface="IBM Plex Sans" pitchFamily="34" charset="0"/>
                <a:ea typeface="IBM Plex Sans" pitchFamily="34" charset="-122"/>
                <a:cs typeface="IBM Plex Sans" pitchFamily="34" charset="-120"/>
              </a:rPr>
              <a:t>Light, dark and system themes, remembered between sessions.</a:t>
            </a:r>
            <a:endParaRPr lang="en-US" sz="1300" dirty="0"/>
          </a:p>
        </p:txBody>
      </p:sp>
      <p:pic>
        <p:nvPicPr>
          <p:cNvPr id="22" name="Image 6" descr="line">    </p:cNvPr>
          <p:cNvPicPr>
            <a:picLocks noChangeAspect="1"/>
          </p:cNvPicPr>
          <p:nvPr/>
        </p:nvPicPr>
        <p:blipFill>
          <a:blip r:embed="rId7"/>
          <a:srcRect l="-12500" r="-12500" t="0" b="0"/>
          <a:stretch/>
        </p:blipFill>
        <p:spPr>
          <a:xfrm>
            <a:off x="812800" y="6096000"/>
            <a:ext cx="10566400" cy="10160"/>
          </a:xfrm>
          <a:prstGeom prst="rect">
            <a:avLst/>
          </a:prstGeom>
        </p:spPr>
      </p:pic>
      <p:sp>
        <p:nvSpPr>
          <p:cNvPr id="23" name="Text 14"/>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Expense Tracker · Final Project Presentation</a:t>
            </a:r>
            <a:endParaRPr lang="en-US" sz="1200" dirty="0"/>
          </a:p>
        </p:txBody>
      </p:sp>
      <p:sp>
        <p:nvSpPr>
          <p:cNvPr id="24" name="Text 1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3"/>
                </a:solidFill>
                <a:latin typeface="IBM Plex Sans" pitchFamily="34" charset="0"/>
                <a:ea typeface="IBM Plex Sans" pitchFamily="34" charset="-122"/>
                <a:cs typeface="IBM Plex Sans" pitchFamily="34" charset="-120"/>
              </a:rPr>
              <a:t>03 · APPLICATION SCREENS</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2A"/>
                </a:solidFill>
                <a:latin typeface="Source Serif 4" pitchFamily="18" charset="0"/>
                <a:ea typeface="Source Serif 4" pitchFamily="18" charset="-122"/>
                <a:cs typeface="Source Serif 4" pitchFamily="18" charset="-120"/>
              </a:rPr>
              <a:t>From sign-in to daily tracking</a:t>
            </a:r>
            <a:endParaRPr lang="en-US" sz="3200" dirty="0"/>
          </a:p>
        </p:txBody>
      </p:sp>
      <p:pic>
        <p:nvPicPr>
          <p:cNvPr id="4" name="Image 0" descr="Login screen">    </p:cNvPr>
          <p:cNvPicPr>
            <a:picLocks noChangeAspect="1"/>
          </p:cNvPicPr>
          <p:nvPr/>
        </p:nvPicPr>
        <p:blipFill>
          <a:blip r:embed="rId1"/>
          <a:stretch>
            <a:fillRect/>
          </a:stretch>
        </p:blipFill>
        <p:spPr>
          <a:xfrm>
            <a:off x="838200" y="1887383"/>
            <a:ext cx="1485900" cy="3311834"/>
          </a:xfrm>
          <a:custGeom>
            <a:avLst/>
            <a:gdLst/>
            <a:ahLst/>
            <a:cxnLst/>
            <a:rect l="l" t="t" r="r" b="b"/>
            <a:pathLst>
              <a:path w="1485900" h="3311834">
                <a:moveTo>
                  <a:pt x="0" y="68417"/>
                </a:moveTo>
                <a:arcTo wR="101600" hR="101600" stAng="10800000" swAng="2539771"/>
                <a:lnTo>
                  <a:pt x="1459411" y="0"/>
                </a:lnTo>
                <a:arcTo wR="101600" hR="101600" stAng="19060229" swAng="2539771"/>
                <a:lnTo>
                  <a:pt x="1485900" y="3243417"/>
                </a:lnTo>
                <a:arcTo wR="101600" hR="101600" stAng="0" swAng="2539771"/>
                <a:lnTo>
                  <a:pt x="26489" y="3311834"/>
                </a:lnTo>
                <a:arcTo wR="101600" hR="101600" stAng="8260229" swAng="2539771"/>
                <a:close/>
              </a:path>
            </a:pathLst>
          </a:custGeom>
        </p:spPr>
      </p:pic>
      <p:sp>
        <p:nvSpPr>
          <p:cNvPr id="5" name="Shape 2"/>
          <p:cNvSpPr/>
          <p:nvPr/>
        </p:nvSpPr>
        <p:spPr>
          <a:xfrm>
            <a:off x="825500" y="1841500"/>
            <a:ext cx="1511300" cy="3403600"/>
          </a:xfrm>
          <a:prstGeom prst="roundRect">
            <a:avLst>
              <a:gd name="adj" fmla="val 7563"/>
            </a:avLst>
          </a:prstGeom>
          <a:noFill/>
          <a:ln w="25400">
            <a:solidFill>
              <a:srgbClr val="16232A"/>
            </a:solidFill>
            <a:prstDash val="solid"/>
          </a:ln>
        </p:spPr>
      </p:sp>
      <p:sp>
        <p:nvSpPr>
          <p:cNvPr id="6" name="Text 3"/>
          <p:cNvSpPr/>
          <p:nvPr/>
        </p:nvSpPr>
        <p:spPr>
          <a:xfrm>
            <a:off x="1361892" y="5334000"/>
            <a:ext cx="43843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860"/>
                </a:solidFill>
                <a:latin typeface="IBM Plex Sans" pitchFamily="34" charset="0"/>
                <a:ea typeface="IBM Plex Sans" pitchFamily="34" charset="-122"/>
                <a:cs typeface="IBM Plex Sans" pitchFamily="34" charset="-120"/>
              </a:rPr>
              <a:t>Login</a:t>
            </a:r>
            <a:endParaRPr lang="en-US" sz="1200" dirty="0"/>
          </a:p>
        </p:txBody>
      </p:sp>
      <p:pic>
        <p:nvPicPr>
          <p:cNvPr id="7" name="Image 1" descr="Create account screen">    </p:cNvPr>
          <p:cNvPicPr>
            <a:picLocks noChangeAspect="1"/>
          </p:cNvPicPr>
          <p:nvPr/>
        </p:nvPicPr>
        <p:blipFill>
          <a:blip r:embed="rId2"/>
          <a:stretch>
            <a:fillRect/>
          </a:stretch>
        </p:blipFill>
        <p:spPr>
          <a:xfrm>
            <a:off x="2644140" y="1894880"/>
            <a:ext cx="1485900" cy="3296841"/>
          </a:xfrm>
          <a:custGeom>
            <a:avLst/>
            <a:gdLst/>
            <a:ahLst/>
            <a:cxnLst/>
            <a:rect l="l" t="t" r="r" b="b"/>
            <a:pathLst>
              <a:path w="1485900" h="3296841">
                <a:moveTo>
                  <a:pt x="0" y="60920"/>
                </a:moveTo>
                <a:arcTo wR="101600" hR="101600" stAng="10800000" swAng="2210516"/>
                <a:lnTo>
                  <a:pt x="1465610" y="0"/>
                </a:lnTo>
                <a:arcTo wR="101600" hR="101600" stAng="19389484" swAng="2210516"/>
                <a:lnTo>
                  <a:pt x="1485900" y="3235920"/>
                </a:lnTo>
                <a:arcTo wR="101600" hR="101600" stAng="0" swAng="2210516"/>
                <a:lnTo>
                  <a:pt x="20290" y="3296841"/>
                </a:lnTo>
                <a:arcTo wR="101600" hR="101600" stAng="8589484" swAng="2210516"/>
                <a:close/>
              </a:path>
            </a:pathLst>
          </a:custGeom>
        </p:spPr>
      </p:pic>
      <p:sp>
        <p:nvSpPr>
          <p:cNvPr id="8" name="Shape 4"/>
          <p:cNvSpPr/>
          <p:nvPr/>
        </p:nvSpPr>
        <p:spPr>
          <a:xfrm>
            <a:off x="2631440" y="1841500"/>
            <a:ext cx="1511300" cy="3403600"/>
          </a:xfrm>
          <a:prstGeom prst="roundRect">
            <a:avLst>
              <a:gd name="adj" fmla="val 7563"/>
            </a:avLst>
          </a:prstGeom>
          <a:noFill/>
          <a:ln w="25400">
            <a:solidFill>
              <a:srgbClr val="16232A"/>
            </a:solidFill>
            <a:prstDash val="solid"/>
          </a:ln>
        </p:spPr>
      </p:sp>
      <p:sp>
        <p:nvSpPr>
          <p:cNvPr id="9" name="Text 5"/>
          <p:cNvSpPr/>
          <p:nvPr/>
        </p:nvSpPr>
        <p:spPr>
          <a:xfrm>
            <a:off x="2767687" y="5334000"/>
            <a:ext cx="123872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860"/>
                </a:solidFill>
                <a:latin typeface="IBM Plex Sans" pitchFamily="34" charset="0"/>
                <a:ea typeface="IBM Plex Sans" pitchFamily="34" charset="-122"/>
                <a:cs typeface="IBM Plex Sans" pitchFamily="34" charset="-120"/>
              </a:rPr>
              <a:t>Create account</a:t>
            </a:r>
            <a:endParaRPr lang="en-US" sz="1200" dirty="0"/>
          </a:p>
        </p:txBody>
      </p:sp>
      <p:pic>
        <p:nvPicPr>
          <p:cNvPr id="10" name="Image 2" descr="Reset password dialog">    </p:cNvPr>
          <p:cNvPicPr>
            <a:picLocks noChangeAspect="1"/>
          </p:cNvPicPr>
          <p:nvPr/>
        </p:nvPicPr>
        <p:blipFill>
          <a:blip r:embed="rId3"/>
          <a:stretch>
            <a:fillRect/>
          </a:stretch>
        </p:blipFill>
        <p:spPr>
          <a:xfrm>
            <a:off x="4450080" y="1885054"/>
            <a:ext cx="1485900" cy="3316492"/>
          </a:xfrm>
          <a:custGeom>
            <a:avLst/>
            <a:gdLst/>
            <a:ahLst/>
            <a:cxnLst/>
            <a:rect l="l" t="t" r="r" b="b"/>
            <a:pathLst>
              <a:path w="1485900" h="3316492">
                <a:moveTo>
                  <a:pt x="0" y="70746"/>
                </a:moveTo>
                <a:arcTo wR="101600" hR="101600" stAng="10800000" swAng="2647934"/>
                <a:lnTo>
                  <a:pt x="1457222" y="0"/>
                </a:lnTo>
                <a:arcTo wR="101600" hR="101600" stAng="18952066" swAng="2647934"/>
                <a:lnTo>
                  <a:pt x="1485900" y="3245746"/>
                </a:lnTo>
                <a:arcTo wR="101600" hR="101600" stAng="0" swAng="2647934"/>
                <a:lnTo>
                  <a:pt x="28678" y="3316492"/>
                </a:lnTo>
                <a:arcTo wR="101600" hR="101600" stAng="8152066" swAng="2647934"/>
                <a:close/>
              </a:path>
            </a:pathLst>
          </a:custGeom>
        </p:spPr>
      </p:pic>
      <p:sp>
        <p:nvSpPr>
          <p:cNvPr id="11" name="Shape 6"/>
          <p:cNvSpPr/>
          <p:nvPr/>
        </p:nvSpPr>
        <p:spPr>
          <a:xfrm>
            <a:off x="4437380" y="1841500"/>
            <a:ext cx="1511300" cy="3403600"/>
          </a:xfrm>
          <a:prstGeom prst="roundRect">
            <a:avLst>
              <a:gd name="adj" fmla="val 7563"/>
            </a:avLst>
          </a:prstGeom>
          <a:noFill/>
          <a:ln w="25400">
            <a:solidFill>
              <a:srgbClr val="16232A"/>
            </a:solidFill>
            <a:prstDash val="solid"/>
          </a:ln>
        </p:spPr>
      </p:sp>
      <p:sp>
        <p:nvSpPr>
          <p:cNvPr id="12" name="Text 7"/>
          <p:cNvSpPr/>
          <p:nvPr/>
        </p:nvSpPr>
        <p:spPr>
          <a:xfrm>
            <a:off x="4540663" y="5334000"/>
            <a:ext cx="1304735"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860"/>
                </a:solidFill>
                <a:latin typeface="IBM Plex Sans" pitchFamily="34" charset="0"/>
                <a:ea typeface="IBM Plex Sans" pitchFamily="34" charset="-122"/>
                <a:cs typeface="IBM Plex Sans" pitchFamily="34" charset="-120"/>
              </a:rPr>
              <a:t>Reset password</a:t>
            </a:r>
            <a:endParaRPr lang="en-US" sz="1200" dirty="0"/>
          </a:p>
        </p:txBody>
      </p:sp>
      <p:pic>
        <p:nvPicPr>
          <p:cNvPr id="13" name="Image 3" descr="Home screen with summary and filters">    </p:cNvPr>
          <p:cNvPicPr>
            <a:picLocks noChangeAspect="1"/>
          </p:cNvPicPr>
          <p:nvPr/>
        </p:nvPicPr>
        <p:blipFill>
          <a:blip r:embed="rId4"/>
          <a:stretch>
            <a:fillRect/>
          </a:stretch>
        </p:blipFill>
        <p:spPr>
          <a:xfrm>
            <a:off x="6256020" y="1885950"/>
            <a:ext cx="1485900" cy="3314700"/>
          </a:xfrm>
          <a:custGeom>
            <a:avLst/>
            <a:gdLst/>
            <a:ahLst/>
            <a:cxnLst/>
            <a:rect l="l" t="t" r="r" b="b"/>
            <a:pathLst>
              <a:path w="1485900" h="3314700">
                <a:moveTo>
                  <a:pt x="0" y="69850"/>
                </a:moveTo>
                <a:arcTo wR="101600" hR="101600" stAng="10800000" swAng="2605952"/>
                <a:lnTo>
                  <a:pt x="1458080" y="0"/>
                </a:lnTo>
                <a:arcTo wR="101600" hR="101600" stAng="18994048" swAng="2605952"/>
                <a:lnTo>
                  <a:pt x="1485900" y="3244850"/>
                </a:lnTo>
                <a:arcTo wR="101600" hR="101600" stAng="0" swAng="2605952"/>
                <a:lnTo>
                  <a:pt x="27820" y="3314700"/>
                </a:lnTo>
                <a:arcTo wR="101600" hR="101600" stAng="8194048" swAng="2605952"/>
                <a:close/>
              </a:path>
            </a:pathLst>
          </a:custGeom>
        </p:spPr>
      </p:pic>
      <p:sp>
        <p:nvSpPr>
          <p:cNvPr id="14" name="Shape 8"/>
          <p:cNvSpPr/>
          <p:nvPr/>
        </p:nvSpPr>
        <p:spPr>
          <a:xfrm>
            <a:off x="6243320" y="1841500"/>
            <a:ext cx="1511300" cy="3403600"/>
          </a:xfrm>
          <a:prstGeom prst="roundRect">
            <a:avLst>
              <a:gd name="adj" fmla="val 7563"/>
            </a:avLst>
          </a:prstGeom>
          <a:noFill/>
          <a:ln w="25400">
            <a:solidFill>
              <a:srgbClr val="16232A"/>
            </a:solidFill>
            <a:prstDash val="solid"/>
          </a:ln>
        </p:spPr>
      </p:sp>
      <p:sp>
        <p:nvSpPr>
          <p:cNvPr id="15" name="Text 9"/>
          <p:cNvSpPr/>
          <p:nvPr/>
        </p:nvSpPr>
        <p:spPr>
          <a:xfrm>
            <a:off x="6753043" y="5334000"/>
            <a:ext cx="49177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860"/>
                </a:solidFill>
                <a:latin typeface="IBM Plex Sans" pitchFamily="34" charset="0"/>
                <a:ea typeface="IBM Plex Sans" pitchFamily="34" charset="-122"/>
                <a:cs typeface="IBM Plex Sans" pitchFamily="34" charset="-120"/>
              </a:rPr>
              <a:t>Home</a:t>
            </a:r>
            <a:endParaRPr lang="en-US" sz="1200" dirty="0"/>
          </a:p>
        </p:txBody>
      </p:sp>
      <p:pic>
        <p:nvPicPr>
          <p:cNvPr id="16" name="Image 4" descr="Add expense form">    </p:cNvPr>
          <p:cNvPicPr>
            <a:picLocks noChangeAspect="1"/>
          </p:cNvPicPr>
          <p:nvPr/>
        </p:nvPicPr>
        <p:blipFill>
          <a:blip r:embed="rId5"/>
          <a:stretch>
            <a:fillRect/>
          </a:stretch>
        </p:blipFill>
        <p:spPr>
          <a:xfrm>
            <a:off x="8061960" y="1892055"/>
            <a:ext cx="1485900" cy="3302490"/>
          </a:xfrm>
          <a:custGeom>
            <a:avLst/>
            <a:gdLst/>
            <a:ahLst/>
            <a:cxnLst/>
            <a:rect l="l" t="t" r="r" b="b"/>
            <a:pathLst>
              <a:path w="1485900" h="3302490">
                <a:moveTo>
                  <a:pt x="0" y="63745"/>
                </a:moveTo>
                <a:arcTo wR="101600" hR="101600" stAng="10800000" swAng="2331562"/>
                <a:lnTo>
                  <a:pt x="1463415" y="0"/>
                </a:lnTo>
                <a:arcTo wR="101600" hR="101600" stAng="19268438" swAng="2331562"/>
                <a:lnTo>
                  <a:pt x="1485900" y="3238745"/>
                </a:lnTo>
                <a:arcTo wR="101600" hR="101600" stAng="0" swAng="2331562"/>
                <a:lnTo>
                  <a:pt x="22485" y="3302490"/>
                </a:lnTo>
                <a:arcTo wR="101600" hR="101600" stAng="8468438" swAng="2331562"/>
                <a:close/>
              </a:path>
            </a:pathLst>
          </a:custGeom>
        </p:spPr>
      </p:pic>
      <p:sp>
        <p:nvSpPr>
          <p:cNvPr id="17" name="Shape 10"/>
          <p:cNvSpPr/>
          <p:nvPr/>
        </p:nvSpPr>
        <p:spPr>
          <a:xfrm>
            <a:off x="8049260" y="1841500"/>
            <a:ext cx="1511300" cy="3403600"/>
          </a:xfrm>
          <a:prstGeom prst="roundRect">
            <a:avLst>
              <a:gd name="adj" fmla="val 7563"/>
            </a:avLst>
          </a:prstGeom>
          <a:noFill/>
          <a:ln w="25400">
            <a:solidFill>
              <a:srgbClr val="16232A"/>
            </a:solidFill>
            <a:prstDash val="solid"/>
          </a:ln>
        </p:spPr>
      </p:sp>
      <p:sp>
        <p:nvSpPr>
          <p:cNvPr id="18" name="Text 11"/>
          <p:cNvSpPr/>
          <p:nvPr/>
        </p:nvSpPr>
        <p:spPr>
          <a:xfrm>
            <a:off x="8273233" y="5334000"/>
            <a:ext cx="106327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860"/>
                </a:solidFill>
                <a:latin typeface="IBM Plex Sans" pitchFamily="34" charset="0"/>
                <a:ea typeface="IBM Plex Sans" pitchFamily="34" charset="-122"/>
                <a:cs typeface="IBM Plex Sans" pitchFamily="34" charset="-120"/>
              </a:rPr>
              <a:t>Add expense</a:t>
            </a:r>
            <a:endParaRPr lang="en-US" sz="1200" dirty="0"/>
          </a:p>
        </p:txBody>
      </p:sp>
      <p:pic>
        <p:nvPicPr>
          <p:cNvPr id="19" name="Image 5" descr="Menu with theme options and log out">    </p:cNvPr>
          <p:cNvPicPr>
            <a:picLocks noChangeAspect="1"/>
          </p:cNvPicPr>
          <p:nvPr/>
        </p:nvPicPr>
        <p:blipFill>
          <a:blip r:embed="rId6"/>
          <a:stretch>
            <a:fillRect/>
          </a:stretch>
        </p:blipFill>
        <p:spPr>
          <a:xfrm>
            <a:off x="9867900" y="1885950"/>
            <a:ext cx="1485900" cy="3314700"/>
          </a:xfrm>
          <a:custGeom>
            <a:avLst/>
            <a:gdLst/>
            <a:ahLst/>
            <a:cxnLst/>
            <a:rect l="l" t="t" r="r" b="b"/>
            <a:pathLst>
              <a:path w="1485900" h="3314700">
                <a:moveTo>
                  <a:pt x="0" y="69850"/>
                </a:moveTo>
                <a:arcTo wR="101600" hR="101600" stAng="10800000" swAng="2605952"/>
                <a:lnTo>
                  <a:pt x="1458080" y="0"/>
                </a:lnTo>
                <a:arcTo wR="101600" hR="101600" stAng="18994048" swAng="2605952"/>
                <a:lnTo>
                  <a:pt x="1485900" y="3244850"/>
                </a:lnTo>
                <a:arcTo wR="101600" hR="101600" stAng="0" swAng="2605952"/>
                <a:lnTo>
                  <a:pt x="27820" y="3314700"/>
                </a:lnTo>
                <a:arcTo wR="101600" hR="101600" stAng="8194048" swAng="2605952"/>
                <a:close/>
              </a:path>
            </a:pathLst>
          </a:custGeom>
        </p:spPr>
      </p:pic>
      <p:sp>
        <p:nvSpPr>
          <p:cNvPr id="20" name="Shape 12"/>
          <p:cNvSpPr/>
          <p:nvPr/>
        </p:nvSpPr>
        <p:spPr>
          <a:xfrm>
            <a:off x="9855200" y="1841500"/>
            <a:ext cx="1511300" cy="3403600"/>
          </a:xfrm>
          <a:prstGeom prst="roundRect">
            <a:avLst>
              <a:gd name="adj" fmla="val 7563"/>
            </a:avLst>
          </a:prstGeom>
          <a:noFill/>
          <a:ln w="25400">
            <a:solidFill>
              <a:srgbClr val="16232A"/>
            </a:solidFill>
            <a:prstDash val="solid"/>
          </a:ln>
        </p:spPr>
      </p:sp>
      <p:sp>
        <p:nvSpPr>
          <p:cNvPr id="21" name="Text 13"/>
          <p:cNvSpPr/>
          <p:nvPr/>
        </p:nvSpPr>
        <p:spPr>
          <a:xfrm>
            <a:off x="9870289" y="5334000"/>
            <a:ext cx="1481042"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860"/>
                </a:solidFill>
                <a:latin typeface="IBM Plex Sans" pitchFamily="34" charset="0"/>
                <a:ea typeface="IBM Plex Sans" pitchFamily="34" charset="-122"/>
                <a:cs typeface="IBM Plex Sans" pitchFamily="34" charset="-120"/>
              </a:rPr>
              <a:t>Theme and logout</a:t>
            </a:r>
            <a:endParaRPr lang="en-US" sz="1200" dirty="0"/>
          </a:p>
        </p:txBody>
      </p:sp>
      <p:pic>
        <p:nvPicPr>
          <p:cNvPr id="22" name="Image 6" descr="line">    </p:cNvPr>
          <p:cNvPicPr>
            <a:picLocks noChangeAspect="1"/>
          </p:cNvPicPr>
          <p:nvPr/>
        </p:nvPicPr>
        <p:blipFill>
          <a:blip r:embed="rId7"/>
          <a:srcRect l="-12500" r="-12500" t="0" b="0"/>
          <a:stretch/>
        </p:blipFill>
        <p:spPr>
          <a:xfrm>
            <a:off x="812800" y="6096000"/>
            <a:ext cx="10566400" cy="10160"/>
          </a:xfrm>
          <a:prstGeom prst="rect">
            <a:avLst/>
          </a:prstGeom>
        </p:spPr>
      </p:pic>
      <p:sp>
        <p:nvSpPr>
          <p:cNvPr id="23" name="Text 14"/>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C73"/>
                </a:solidFill>
                <a:latin typeface="IBM Plex Sans" pitchFamily="34" charset="0"/>
                <a:ea typeface="IBM Plex Sans" pitchFamily="34" charset="-122"/>
                <a:cs typeface="IBM Plex Sans" pitchFamily="34" charset="-120"/>
              </a:rPr>
              <a:t>Expense Tracker · Final Project Presentation</a:t>
            </a:r>
            <a:endParaRPr lang="en-US" sz="1200" dirty="0"/>
          </a:p>
        </p:txBody>
      </p:sp>
      <p:sp>
        <p:nvSpPr>
          <p:cNvPr id="24" name="Text 1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C73"/>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32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0B6E63"/>
          </a:solidFill>
          <a:ln/>
        </p:spPr>
      </p:sp>
      <p:sp>
        <p:nvSpPr>
          <p:cNvPr id="3" name="Text 1"/>
          <p:cNvSpPr/>
          <p:nvPr/>
        </p:nvSpPr>
        <p:spPr>
          <a:xfrm>
            <a:off x="812800" y="2366327"/>
            <a:ext cx="504926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C8BC"/>
                </a:solidFill>
                <a:latin typeface="IBM Plex Sans" pitchFamily="34" charset="0"/>
                <a:ea typeface="IBM Plex Sans" pitchFamily="34" charset="-122"/>
                <a:cs typeface="IBM Plex Sans" pitchFamily="34" charset="-120"/>
              </a:rPr>
              <a:t>03 · LIVE DEMONSTRATION</a:t>
            </a:r>
            <a:endParaRPr lang="en-US" sz="1200" dirty="0"/>
          </a:p>
        </p:txBody>
      </p:sp>
      <p:sp>
        <p:nvSpPr>
          <p:cNvPr id="4" name="Text 2"/>
          <p:cNvSpPr/>
          <p:nvPr>
            <p:ph type="title"/>
          </p:nvPr>
        </p:nvSpPr>
        <p:spPr>
          <a:xfrm>
            <a:off x="812800" y="2757488"/>
            <a:ext cx="5049266" cy="130556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7F6F2"/>
                </a:solidFill>
                <a:latin typeface="Source Serif 4" pitchFamily="18" charset="0"/>
                <a:ea typeface="Source Serif 4" pitchFamily="18" charset="-122"/>
                <a:cs typeface="Source Serif 4" pitchFamily="18" charset="-120"/>
              </a:rPr>
              <a:t>The application in use</a:t>
            </a:r>
            <a:endParaRPr lang="en-US" sz="4800" dirty="0"/>
          </a:p>
        </p:txBody>
      </p:sp>
      <p:sp>
        <p:nvSpPr>
          <p:cNvPr id="5" name="Text 3"/>
          <p:cNvSpPr/>
          <p:nvPr/>
        </p:nvSpPr>
        <p:spPr>
          <a:xfrm>
            <a:off x="812800" y="4215448"/>
            <a:ext cx="5049266"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C3CDD0"/>
                </a:solidFill>
                <a:latin typeface="IBM Plex Sans" pitchFamily="34" charset="0"/>
                <a:ea typeface="IBM Plex Sans" pitchFamily="34" charset="-122"/>
                <a:cs typeface="IBM Plex Sans" pitchFamily="34" charset="-120"/>
              </a:rPr>
              <a:t>Release build running on an Android device.</a:t>
            </a:r>
            <a:endParaRPr lang="en-US" sz="1500" dirty="0"/>
          </a:p>
        </p:txBody>
      </p:sp>
      <p:sp>
        <p:nvSpPr>
          <p:cNvPr id="6" name="Shape 4"/>
          <p:cNvSpPr/>
          <p:nvPr/>
        </p:nvSpPr>
        <p:spPr>
          <a:xfrm>
            <a:off x="6477000" y="1798957"/>
            <a:ext cx="4902200" cy="0"/>
          </a:xfrm>
          <a:prstGeom prst="line">
            <a:avLst/>
          </a:prstGeom>
          <a:noFill/>
          <a:ln w="6350">
            <a:solidFill>
              <a:srgbClr val="2E3E45"/>
            </a:solidFill>
            <a:prstDash val="solid"/>
          </a:ln>
        </p:spPr>
      </p:sp>
      <p:sp>
        <p:nvSpPr>
          <p:cNvPr id="7" name="Text 5"/>
          <p:cNvSpPr/>
          <p:nvPr/>
        </p:nvSpPr>
        <p:spPr>
          <a:xfrm>
            <a:off x="6477000" y="1927861"/>
            <a:ext cx="16200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7FC8BC"/>
                </a:solidFill>
                <a:latin typeface="Source Serif 4" pitchFamily="18" charset="0"/>
                <a:ea typeface="Source Serif 4" pitchFamily="18" charset="-122"/>
                <a:cs typeface="Source Serif 4" pitchFamily="18" charset="-120"/>
              </a:rPr>
              <a:t>1</a:t>
            </a:r>
            <a:endParaRPr lang="en-US" sz="1600" dirty="0"/>
          </a:p>
        </p:txBody>
      </p:sp>
      <p:sp>
        <p:nvSpPr>
          <p:cNvPr id="8" name="Text 6"/>
          <p:cNvSpPr/>
          <p:nvPr/>
        </p:nvSpPr>
        <p:spPr>
          <a:xfrm>
            <a:off x="6766005" y="1938021"/>
            <a:ext cx="358654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6F2"/>
                </a:solidFill>
                <a:latin typeface="IBM Plex Sans" pitchFamily="34" charset="0"/>
                <a:ea typeface="IBM Plex Sans" pitchFamily="34" charset="-122"/>
                <a:cs typeface="IBM Plex Sans" pitchFamily="34" charset="-120"/>
              </a:rPr>
              <a:t>Authentication and error messages</a:t>
            </a:r>
            <a:endParaRPr lang="en-US" sz="1500" dirty="0"/>
          </a:p>
        </p:txBody>
      </p:sp>
      <p:sp>
        <p:nvSpPr>
          <p:cNvPr id="9" name="Shape 7"/>
          <p:cNvSpPr/>
          <p:nvPr/>
        </p:nvSpPr>
        <p:spPr>
          <a:xfrm>
            <a:off x="6477000" y="2342514"/>
            <a:ext cx="4902200" cy="0"/>
          </a:xfrm>
          <a:prstGeom prst="line">
            <a:avLst/>
          </a:prstGeom>
          <a:noFill/>
          <a:ln w="6350">
            <a:solidFill>
              <a:srgbClr val="2E3E45"/>
            </a:solidFill>
            <a:prstDash val="solid"/>
          </a:ln>
        </p:spPr>
      </p:sp>
      <p:sp>
        <p:nvSpPr>
          <p:cNvPr id="10" name="Text 8"/>
          <p:cNvSpPr/>
          <p:nvPr/>
        </p:nvSpPr>
        <p:spPr>
          <a:xfrm>
            <a:off x="6477000" y="2471421"/>
            <a:ext cx="16200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7FC8BC"/>
                </a:solidFill>
                <a:latin typeface="Source Serif 4" pitchFamily="18" charset="0"/>
                <a:ea typeface="Source Serif 4" pitchFamily="18" charset="-122"/>
                <a:cs typeface="Source Serif 4" pitchFamily="18" charset="-120"/>
              </a:rPr>
              <a:t>2</a:t>
            </a:r>
            <a:endParaRPr lang="en-US" sz="1600" dirty="0"/>
          </a:p>
        </p:txBody>
      </p:sp>
      <p:sp>
        <p:nvSpPr>
          <p:cNvPr id="11" name="Text 9"/>
          <p:cNvSpPr/>
          <p:nvPr/>
        </p:nvSpPr>
        <p:spPr>
          <a:xfrm>
            <a:off x="6766005" y="2481582"/>
            <a:ext cx="348138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6F2"/>
                </a:solidFill>
                <a:latin typeface="IBM Plex Sans" pitchFamily="34" charset="0"/>
                <a:ea typeface="IBM Plex Sans" pitchFamily="34" charset="-122"/>
                <a:cs typeface="IBM Plex Sans" pitchFamily="34" charset="-120"/>
              </a:rPr>
              <a:t>Monthly summary and breakdown</a:t>
            </a:r>
            <a:endParaRPr lang="en-US" sz="1500" dirty="0"/>
          </a:p>
        </p:txBody>
      </p:sp>
      <p:sp>
        <p:nvSpPr>
          <p:cNvPr id="12" name="Shape 10"/>
          <p:cNvSpPr/>
          <p:nvPr/>
        </p:nvSpPr>
        <p:spPr>
          <a:xfrm>
            <a:off x="6477000" y="2886075"/>
            <a:ext cx="4902200" cy="0"/>
          </a:xfrm>
          <a:prstGeom prst="line">
            <a:avLst/>
          </a:prstGeom>
          <a:noFill/>
          <a:ln w="6350">
            <a:solidFill>
              <a:srgbClr val="2E3E45"/>
            </a:solidFill>
            <a:prstDash val="solid"/>
          </a:ln>
        </p:spPr>
      </p:sp>
      <p:sp>
        <p:nvSpPr>
          <p:cNvPr id="13" name="Text 11"/>
          <p:cNvSpPr/>
          <p:nvPr/>
        </p:nvSpPr>
        <p:spPr>
          <a:xfrm>
            <a:off x="6477000" y="3014982"/>
            <a:ext cx="16200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7FC8BC"/>
                </a:solidFill>
                <a:latin typeface="Source Serif 4" pitchFamily="18" charset="0"/>
                <a:ea typeface="Source Serif 4" pitchFamily="18" charset="-122"/>
                <a:cs typeface="Source Serif 4" pitchFamily="18" charset="-120"/>
              </a:rPr>
              <a:t>3</a:t>
            </a:r>
            <a:endParaRPr lang="en-US" sz="1600" dirty="0"/>
          </a:p>
        </p:txBody>
      </p:sp>
      <p:sp>
        <p:nvSpPr>
          <p:cNvPr id="14" name="Text 12"/>
          <p:cNvSpPr/>
          <p:nvPr/>
        </p:nvSpPr>
        <p:spPr>
          <a:xfrm>
            <a:off x="6766005" y="3025139"/>
            <a:ext cx="349510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6F2"/>
                </a:solidFill>
                <a:latin typeface="IBM Plex Sans" pitchFamily="34" charset="0"/>
                <a:ea typeface="IBM Plex Sans" pitchFamily="34" charset="-122"/>
                <a:cs typeface="IBM Plex Sans" pitchFamily="34" charset="-120"/>
              </a:rPr>
              <a:t>Adding an expense with validation</a:t>
            </a:r>
            <a:endParaRPr lang="en-US" sz="1500" dirty="0"/>
          </a:p>
        </p:txBody>
      </p:sp>
      <p:sp>
        <p:nvSpPr>
          <p:cNvPr id="15" name="Shape 13"/>
          <p:cNvSpPr/>
          <p:nvPr/>
        </p:nvSpPr>
        <p:spPr>
          <a:xfrm>
            <a:off x="6477000" y="3429636"/>
            <a:ext cx="4902200" cy="0"/>
          </a:xfrm>
          <a:prstGeom prst="line">
            <a:avLst/>
          </a:prstGeom>
          <a:noFill/>
          <a:ln w="6350">
            <a:solidFill>
              <a:srgbClr val="2E3E45"/>
            </a:solidFill>
            <a:prstDash val="solid"/>
          </a:ln>
        </p:spPr>
      </p:sp>
      <p:sp>
        <p:nvSpPr>
          <p:cNvPr id="16" name="Text 14"/>
          <p:cNvSpPr/>
          <p:nvPr/>
        </p:nvSpPr>
        <p:spPr>
          <a:xfrm>
            <a:off x="6477000" y="3558539"/>
            <a:ext cx="16200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7FC8BC"/>
                </a:solidFill>
                <a:latin typeface="Source Serif 4" pitchFamily="18" charset="0"/>
                <a:ea typeface="Source Serif 4" pitchFamily="18" charset="-122"/>
                <a:cs typeface="Source Serif 4" pitchFamily="18" charset="-120"/>
              </a:rPr>
              <a:t>4</a:t>
            </a:r>
            <a:endParaRPr lang="en-US" sz="1600" dirty="0"/>
          </a:p>
        </p:txBody>
      </p:sp>
      <p:sp>
        <p:nvSpPr>
          <p:cNvPr id="17" name="Text 15"/>
          <p:cNvSpPr/>
          <p:nvPr/>
        </p:nvSpPr>
        <p:spPr>
          <a:xfrm>
            <a:off x="6766005" y="3568700"/>
            <a:ext cx="261937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6F2"/>
                </a:solidFill>
                <a:latin typeface="IBM Plex Sans" pitchFamily="34" charset="0"/>
                <a:ea typeface="IBM Plex Sans" pitchFamily="34" charset="-122"/>
                <a:cs typeface="IBM Plex Sans" pitchFamily="34" charset="-120"/>
              </a:rPr>
              <a:t>Search, filters and sorting</a:t>
            </a:r>
            <a:endParaRPr lang="en-US" sz="1500" dirty="0"/>
          </a:p>
        </p:txBody>
      </p:sp>
      <p:sp>
        <p:nvSpPr>
          <p:cNvPr id="18" name="Shape 16"/>
          <p:cNvSpPr/>
          <p:nvPr/>
        </p:nvSpPr>
        <p:spPr>
          <a:xfrm>
            <a:off x="6477000" y="3973196"/>
            <a:ext cx="4902200" cy="0"/>
          </a:xfrm>
          <a:prstGeom prst="line">
            <a:avLst/>
          </a:prstGeom>
          <a:noFill/>
          <a:ln w="6350">
            <a:solidFill>
              <a:srgbClr val="2E3E45"/>
            </a:solidFill>
            <a:prstDash val="solid"/>
          </a:ln>
        </p:spPr>
      </p:sp>
      <p:sp>
        <p:nvSpPr>
          <p:cNvPr id="19" name="Text 17"/>
          <p:cNvSpPr/>
          <p:nvPr/>
        </p:nvSpPr>
        <p:spPr>
          <a:xfrm>
            <a:off x="6477000" y="4102100"/>
            <a:ext cx="16200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7FC8BC"/>
                </a:solidFill>
                <a:latin typeface="Source Serif 4" pitchFamily="18" charset="0"/>
                <a:ea typeface="Source Serif 4" pitchFamily="18" charset="-122"/>
                <a:cs typeface="Source Serif 4" pitchFamily="18" charset="-120"/>
              </a:rPr>
              <a:t>5</a:t>
            </a:r>
            <a:endParaRPr lang="en-US" sz="1600" dirty="0"/>
          </a:p>
        </p:txBody>
      </p:sp>
      <p:sp>
        <p:nvSpPr>
          <p:cNvPr id="20" name="Text 18"/>
          <p:cNvSpPr/>
          <p:nvPr/>
        </p:nvSpPr>
        <p:spPr>
          <a:xfrm>
            <a:off x="6766005" y="4112261"/>
            <a:ext cx="270662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6F2"/>
                </a:solidFill>
                <a:latin typeface="IBM Plex Sans" pitchFamily="34" charset="0"/>
                <a:ea typeface="IBM Plex Sans" pitchFamily="34" charset="-122"/>
                <a:cs typeface="IBM Plex Sans" pitchFamily="34" charset="-120"/>
              </a:rPr>
              <a:t>Editing, deletion and Undo</a:t>
            </a:r>
            <a:endParaRPr lang="en-US" sz="1500" dirty="0"/>
          </a:p>
        </p:txBody>
      </p:sp>
      <p:sp>
        <p:nvSpPr>
          <p:cNvPr id="21" name="Shape 19"/>
          <p:cNvSpPr/>
          <p:nvPr/>
        </p:nvSpPr>
        <p:spPr>
          <a:xfrm>
            <a:off x="6477000" y="4516757"/>
            <a:ext cx="4902200" cy="0"/>
          </a:xfrm>
          <a:prstGeom prst="line">
            <a:avLst/>
          </a:prstGeom>
          <a:noFill/>
          <a:ln w="6350">
            <a:solidFill>
              <a:srgbClr val="2E3E45"/>
            </a:solidFill>
            <a:prstDash val="solid"/>
          </a:ln>
        </p:spPr>
      </p:sp>
      <p:sp>
        <p:nvSpPr>
          <p:cNvPr id="22" name="Shape 20"/>
          <p:cNvSpPr/>
          <p:nvPr/>
        </p:nvSpPr>
        <p:spPr>
          <a:xfrm>
            <a:off x="6477000" y="5059047"/>
            <a:ext cx="4902200" cy="0"/>
          </a:xfrm>
          <a:prstGeom prst="line">
            <a:avLst/>
          </a:prstGeom>
          <a:noFill/>
          <a:ln w="6350">
            <a:solidFill>
              <a:srgbClr val="2E3E45"/>
            </a:solidFill>
            <a:prstDash val="solid"/>
          </a:ln>
        </p:spPr>
      </p:sp>
      <p:sp>
        <p:nvSpPr>
          <p:cNvPr id="23" name="Text 21"/>
          <p:cNvSpPr/>
          <p:nvPr/>
        </p:nvSpPr>
        <p:spPr>
          <a:xfrm>
            <a:off x="6477000" y="4645661"/>
            <a:ext cx="16200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7FC8BC"/>
                </a:solidFill>
                <a:latin typeface="Source Serif 4" pitchFamily="18" charset="0"/>
                <a:ea typeface="Source Serif 4" pitchFamily="18" charset="-122"/>
                <a:cs typeface="Source Serif 4" pitchFamily="18" charset="-120"/>
              </a:rPr>
              <a:t>6</a:t>
            </a:r>
            <a:endParaRPr lang="en-US" sz="1600" dirty="0"/>
          </a:p>
        </p:txBody>
      </p:sp>
      <p:sp>
        <p:nvSpPr>
          <p:cNvPr id="24" name="Text 22"/>
          <p:cNvSpPr/>
          <p:nvPr/>
        </p:nvSpPr>
        <p:spPr>
          <a:xfrm>
            <a:off x="6766005" y="4655821"/>
            <a:ext cx="233448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6F2"/>
                </a:solidFill>
                <a:latin typeface="IBM Plex Sans" pitchFamily="34" charset="0"/>
                <a:ea typeface="IBM Plex Sans" pitchFamily="34" charset="-122"/>
                <a:cs typeface="IBM Plex Sans" pitchFamily="34" charset="-120"/>
              </a:rPr>
              <a:t>Dark theme and logout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3"/>
                </a:solidFill>
                <a:latin typeface="IBM Plex Sans" pitchFamily="34" charset="0"/>
                <a:ea typeface="IBM Plex Sans" pitchFamily="34" charset="-122"/>
                <a:cs typeface="IBM Plex Sans" pitchFamily="34" charset="-120"/>
              </a:rPr>
              <a:t>04 · SYSTEM ARCHITECTURE</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2A"/>
                </a:solidFill>
                <a:latin typeface="Source Serif 4" pitchFamily="18" charset="0"/>
                <a:ea typeface="Source Serif 4" pitchFamily="18" charset="-122"/>
                <a:cs typeface="Source Serif 4" pitchFamily="18" charset="-120"/>
              </a:rPr>
              <a:t>A layered design with a secure backend</a:t>
            </a:r>
            <a:endParaRPr lang="en-US" sz="3200" dirty="0"/>
          </a:p>
        </p:txBody>
      </p:sp>
      <p:sp>
        <p:nvSpPr>
          <p:cNvPr id="4" name="Shape 2"/>
          <p:cNvSpPr/>
          <p:nvPr/>
        </p:nvSpPr>
        <p:spPr>
          <a:xfrm>
            <a:off x="812800" y="1828800"/>
            <a:ext cx="5486400" cy="3949700"/>
          </a:xfrm>
          <a:prstGeom prst="rect">
            <a:avLst/>
          </a:prstGeom>
          <a:solidFill>
            <a:srgbClr val="FFFFFF"/>
          </a:solidFill>
          <a:ln/>
        </p:spPr>
      </p:sp>
      <p:pic>
        <p:nvPicPr>
          <p:cNvPr id="5" name="Image 0" descr="Architecture diagram: UI layer, state layer with providers, service layer, and Supabase cloud with Auth, PostgREST and Postgres">    </p:cNvPr>
          <p:cNvPicPr>
            <a:picLocks noChangeAspect="1"/>
          </p:cNvPicPr>
          <p:nvPr/>
        </p:nvPicPr>
        <p:blipFill>
          <a:blip r:embed="rId1"/>
          <a:srcRect l="-52" r="-52" t="0" b="0"/>
          <a:stretch/>
        </p:blipFill>
        <p:spPr>
          <a:xfrm>
            <a:off x="819150" y="1835150"/>
            <a:ext cx="5473700" cy="3937000"/>
          </a:xfrm>
          <a:prstGeom prst="rect">
            <a:avLst/>
          </a:prstGeom>
        </p:spPr>
      </p:pic>
      <p:sp>
        <p:nvSpPr>
          <p:cNvPr id="6" name="Shape 3"/>
          <p:cNvSpPr/>
          <p:nvPr/>
        </p:nvSpPr>
        <p:spPr>
          <a:xfrm>
            <a:off x="815975" y="1831975"/>
            <a:ext cx="5480050" cy="3943350"/>
          </a:xfrm>
          <a:prstGeom prst="rect">
            <a:avLst/>
          </a:prstGeom>
          <a:noFill/>
          <a:ln w="6350">
            <a:solidFill>
              <a:srgbClr val="D5D9D4"/>
            </a:solidFill>
            <a:prstDash val="solid"/>
          </a:ln>
        </p:spPr>
      </p:sp>
      <p:sp>
        <p:nvSpPr>
          <p:cNvPr id="7" name="Shape 4"/>
          <p:cNvSpPr/>
          <p:nvPr/>
        </p:nvSpPr>
        <p:spPr>
          <a:xfrm>
            <a:off x="6705600" y="2290446"/>
            <a:ext cx="4673600" cy="0"/>
          </a:xfrm>
          <a:prstGeom prst="line">
            <a:avLst/>
          </a:prstGeom>
          <a:noFill/>
          <a:ln w="6350">
            <a:solidFill>
              <a:srgbClr val="D5D9D4"/>
            </a:solidFill>
            <a:prstDash val="solid"/>
          </a:ln>
        </p:spPr>
      </p:sp>
      <p:sp>
        <p:nvSpPr>
          <p:cNvPr id="8" name="Text 5"/>
          <p:cNvSpPr/>
          <p:nvPr/>
        </p:nvSpPr>
        <p:spPr>
          <a:xfrm>
            <a:off x="6705600" y="2419350"/>
            <a:ext cx="48138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6E63"/>
                </a:solidFill>
                <a:latin typeface="IBM Plex Sans" pitchFamily="34" charset="0"/>
                <a:ea typeface="IBM Plex Sans" pitchFamily="34" charset="-122"/>
                <a:cs typeface="IBM Plex Sans" pitchFamily="34" charset="-120"/>
              </a:rPr>
              <a:t>Presentation layer</a:t>
            </a:r>
            <a:endParaRPr lang="en-US" sz="1500" dirty="0"/>
          </a:p>
        </p:txBody>
      </p:sp>
      <p:sp>
        <p:nvSpPr>
          <p:cNvPr id="9" name="Text 6"/>
          <p:cNvSpPr/>
          <p:nvPr/>
        </p:nvSpPr>
        <p:spPr>
          <a:xfrm>
            <a:off x="6705600" y="2686050"/>
            <a:ext cx="481380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0"/>
                </a:solidFill>
                <a:latin typeface="IBM Plex Sans" pitchFamily="34" charset="0"/>
                <a:ea typeface="IBM Plex Sans" pitchFamily="34" charset="-122"/>
                <a:cs typeface="IBM Plex Sans" pitchFamily="34" charset="-120"/>
              </a:rPr>
              <a:t>Screens and widgets render the interface only.</a:t>
            </a:r>
            <a:endParaRPr lang="en-US" sz="1300" dirty="0"/>
          </a:p>
        </p:txBody>
      </p:sp>
      <p:sp>
        <p:nvSpPr>
          <p:cNvPr id="10" name="Shape 7"/>
          <p:cNvSpPr/>
          <p:nvPr/>
        </p:nvSpPr>
        <p:spPr>
          <a:xfrm>
            <a:off x="6705600" y="3047364"/>
            <a:ext cx="4673600" cy="0"/>
          </a:xfrm>
          <a:prstGeom prst="line">
            <a:avLst/>
          </a:prstGeom>
          <a:noFill/>
          <a:ln w="6350">
            <a:solidFill>
              <a:srgbClr val="D5D9D4"/>
            </a:solidFill>
            <a:prstDash val="solid"/>
          </a:ln>
        </p:spPr>
      </p:sp>
      <p:sp>
        <p:nvSpPr>
          <p:cNvPr id="11" name="Text 8"/>
          <p:cNvSpPr/>
          <p:nvPr/>
        </p:nvSpPr>
        <p:spPr>
          <a:xfrm>
            <a:off x="6705600" y="3176271"/>
            <a:ext cx="48138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6E63"/>
                </a:solidFill>
                <a:latin typeface="IBM Plex Sans" pitchFamily="34" charset="0"/>
                <a:ea typeface="IBM Plex Sans" pitchFamily="34" charset="-122"/>
                <a:cs typeface="IBM Plex Sans" pitchFamily="34" charset="-120"/>
              </a:rPr>
              <a:t>State layer</a:t>
            </a:r>
            <a:endParaRPr lang="en-US" sz="1500" dirty="0"/>
          </a:p>
        </p:txBody>
      </p:sp>
      <p:sp>
        <p:nvSpPr>
          <p:cNvPr id="12" name="Text 9"/>
          <p:cNvSpPr/>
          <p:nvPr/>
        </p:nvSpPr>
        <p:spPr>
          <a:xfrm>
            <a:off x="6705600" y="3442971"/>
            <a:ext cx="481380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0"/>
                </a:solidFill>
                <a:latin typeface="IBM Plex Sans" pitchFamily="34" charset="0"/>
                <a:ea typeface="IBM Plex Sans" pitchFamily="34" charset="-122"/>
                <a:cs typeface="IBM Plex Sans" pitchFamily="34" charset="-120"/>
              </a:rPr>
              <a:t>Providers hold application state and business logic.</a:t>
            </a:r>
            <a:endParaRPr lang="en-US" sz="1300" dirty="0"/>
          </a:p>
        </p:txBody>
      </p:sp>
      <p:sp>
        <p:nvSpPr>
          <p:cNvPr id="13" name="Shape 10"/>
          <p:cNvSpPr/>
          <p:nvPr/>
        </p:nvSpPr>
        <p:spPr>
          <a:xfrm>
            <a:off x="6705600" y="3804286"/>
            <a:ext cx="4673600" cy="0"/>
          </a:xfrm>
          <a:prstGeom prst="line">
            <a:avLst/>
          </a:prstGeom>
          <a:noFill/>
          <a:ln w="6350">
            <a:solidFill>
              <a:srgbClr val="D5D9D4"/>
            </a:solidFill>
            <a:prstDash val="solid"/>
          </a:ln>
        </p:spPr>
      </p:sp>
      <p:sp>
        <p:nvSpPr>
          <p:cNvPr id="14" name="Text 11"/>
          <p:cNvSpPr/>
          <p:nvPr/>
        </p:nvSpPr>
        <p:spPr>
          <a:xfrm>
            <a:off x="6705600" y="3933189"/>
            <a:ext cx="48138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6E63"/>
                </a:solidFill>
                <a:latin typeface="IBM Plex Sans" pitchFamily="34" charset="0"/>
                <a:ea typeface="IBM Plex Sans" pitchFamily="34" charset="-122"/>
                <a:cs typeface="IBM Plex Sans" pitchFamily="34" charset="-120"/>
              </a:rPr>
              <a:t>Service layer</a:t>
            </a:r>
            <a:endParaRPr lang="en-US" sz="1500" dirty="0"/>
          </a:p>
        </p:txBody>
      </p:sp>
      <p:sp>
        <p:nvSpPr>
          <p:cNvPr id="15" name="Text 12"/>
          <p:cNvSpPr/>
          <p:nvPr/>
        </p:nvSpPr>
        <p:spPr>
          <a:xfrm>
            <a:off x="6705600" y="4199889"/>
            <a:ext cx="481380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0"/>
                </a:solidFill>
                <a:latin typeface="IBM Plex Sans" pitchFamily="34" charset="0"/>
                <a:ea typeface="IBM Plex Sans" pitchFamily="34" charset="-122"/>
                <a:cs typeface="IBM Plex Sans" pitchFamily="34" charset="-120"/>
              </a:rPr>
              <a:t>The only code that communicates with Supabase.</a:t>
            </a:r>
            <a:endParaRPr lang="en-US" sz="1300" dirty="0"/>
          </a:p>
        </p:txBody>
      </p:sp>
      <p:sp>
        <p:nvSpPr>
          <p:cNvPr id="16" name="Shape 13"/>
          <p:cNvSpPr/>
          <p:nvPr/>
        </p:nvSpPr>
        <p:spPr>
          <a:xfrm>
            <a:off x="6705600" y="4561207"/>
            <a:ext cx="4673600" cy="0"/>
          </a:xfrm>
          <a:prstGeom prst="line">
            <a:avLst/>
          </a:prstGeom>
          <a:noFill/>
          <a:ln w="6350">
            <a:solidFill>
              <a:srgbClr val="D5D9D4"/>
            </a:solidFill>
            <a:prstDash val="solid"/>
          </a:ln>
        </p:spPr>
      </p:sp>
      <p:sp>
        <p:nvSpPr>
          <p:cNvPr id="17" name="Shape 14"/>
          <p:cNvSpPr/>
          <p:nvPr/>
        </p:nvSpPr>
        <p:spPr>
          <a:xfrm>
            <a:off x="6705600" y="5316857"/>
            <a:ext cx="4673600" cy="0"/>
          </a:xfrm>
          <a:prstGeom prst="line">
            <a:avLst/>
          </a:prstGeom>
          <a:noFill/>
          <a:ln w="6350">
            <a:solidFill>
              <a:srgbClr val="D5D9D4"/>
            </a:solidFill>
            <a:prstDash val="solid"/>
          </a:ln>
        </p:spPr>
      </p:sp>
      <p:sp>
        <p:nvSpPr>
          <p:cNvPr id="18" name="Text 15"/>
          <p:cNvSpPr/>
          <p:nvPr/>
        </p:nvSpPr>
        <p:spPr>
          <a:xfrm>
            <a:off x="6705600" y="4690111"/>
            <a:ext cx="48138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B6E63"/>
                </a:solidFill>
                <a:latin typeface="IBM Plex Sans" pitchFamily="34" charset="0"/>
                <a:ea typeface="IBM Plex Sans" pitchFamily="34" charset="-122"/>
                <a:cs typeface="IBM Plex Sans" pitchFamily="34" charset="-120"/>
              </a:rPr>
              <a:t>Row Level Security</a:t>
            </a:r>
            <a:endParaRPr lang="en-US" sz="1500" dirty="0"/>
          </a:p>
        </p:txBody>
      </p:sp>
      <p:sp>
        <p:nvSpPr>
          <p:cNvPr id="19" name="Text 16"/>
          <p:cNvSpPr/>
          <p:nvPr/>
        </p:nvSpPr>
        <p:spPr>
          <a:xfrm>
            <a:off x="6705600" y="4956811"/>
            <a:ext cx="481380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0"/>
                </a:solidFill>
                <a:latin typeface="IBM Plex Sans" pitchFamily="34" charset="0"/>
                <a:ea typeface="IBM Plex Sans" pitchFamily="34" charset="-122"/>
                <a:cs typeface="IBM Plex Sans" pitchFamily="34" charset="-120"/>
              </a:rPr>
              <a:t>Each user can access only their own records.</a:t>
            </a:r>
            <a:endParaRPr lang="en-US" sz="1300" dirty="0"/>
          </a:p>
        </p:txBody>
      </p:sp>
      <p:pic>
        <p:nvPicPr>
          <p:cNvPr id="20" name="Image 1" descr="line">    </p:cNvPr>
          <p:cNvPicPr>
            <a:picLocks noChangeAspect="1"/>
          </p:cNvPicPr>
          <p:nvPr/>
        </p:nvPicPr>
        <p:blipFill>
          <a:blip r:embed="rId2"/>
          <a:srcRect l="-12500" r="-12500" t="0" b="0"/>
          <a:stretch/>
        </p:blipFill>
        <p:spPr>
          <a:xfrm>
            <a:off x="812800" y="6096000"/>
            <a:ext cx="10566400" cy="10160"/>
          </a:xfrm>
          <a:prstGeom prst="rect">
            <a:avLst/>
          </a:prstGeom>
        </p:spPr>
      </p:pic>
      <p:sp>
        <p:nvSpPr>
          <p:cNvPr id="21" name="Text 17"/>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Expense Tracker · Final Project Presentation</a:t>
            </a:r>
            <a:endParaRPr lang="en-US" sz="1200" dirty="0"/>
          </a:p>
        </p:txBody>
      </p:sp>
      <p:sp>
        <p:nvSpPr>
          <p:cNvPr id="22" name="Text 18"/>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3"/>
                </a:solidFill>
                <a:latin typeface="IBM Plex Sans" pitchFamily="34" charset="0"/>
                <a:ea typeface="IBM Plex Sans" pitchFamily="34" charset="-122"/>
                <a:cs typeface="IBM Plex Sans" pitchFamily="34" charset="-120"/>
              </a:rPr>
              <a:t>04 · TECHNOLOGY STACK</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2A"/>
                </a:solidFill>
                <a:latin typeface="Source Serif 4" pitchFamily="18" charset="0"/>
                <a:ea typeface="Source Serif 4" pitchFamily="18" charset="-122"/>
                <a:cs typeface="Source Serif 4" pitchFamily="18" charset="-120"/>
              </a:rPr>
              <a:t>Tools and technologies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89760"/>
          <a:ext cx="10556240" cy="3413760"/>
        </p:xfrm>
        <a:graphic>
          <a:graphicData uri="http://schemas.openxmlformats.org/drawingml/2006/table">
            <a:tbl>
              <a:tblPr/>
              <a:tblGrid>
                <a:gridCol w="2533498"/>
                <a:gridCol w="3166872"/>
                <a:gridCol w="4855870"/>
              </a:tblGrid>
              <a:tr h="487680">
                <a:tc>
                  <a:txBody>
                    <a:bodyPr/>
                    <a:lstStyle/>
                    <a:p>
                      <a:pP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Area</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16202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62025"/>
                      </a:solidFill>
                      <a:prstDash val="solid"/>
                      <a:round/>
                      <a:headEnd type="none" w="med" len="med"/>
                      <a:tailEnd type="none" w="med" len="med"/>
                    </a:lnB>
                    <a:solidFill>
                      <a:srgbClr val="16232A"/>
                    </a:solidFill>
                  </a:tcPr>
                </a:tc>
                <a:tc>
                  <a:txBody>
                    <a:bodyPr/>
                    <a:lstStyle/>
                    <a:p>
                      <a:pP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Technology</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162025"/>
                      </a:solidFill>
                      <a:prstDash val="solid"/>
                      <a:round/>
                      <a:headEnd type="none" w="med" len="med"/>
                      <a:tailEnd type="none" w="med" len="med"/>
                    </a:lnL>
                    <a:lnR w="12700" cap="flat" cmpd="sng" algn="ctr">
                      <a:solidFill>
                        <a:srgbClr val="16202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62025"/>
                      </a:solidFill>
                      <a:prstDash val="solid"/>
                      <a:round/>
                      <a:headEnd type="none" w="med" len="med"/>
                      <a:tailEnd type="none" w="med" len="med"/>
                    </a:lnB>
                    <a:solidFill>
                      <a:srgbClr val="16232A"/>
                    </a:solidFill>
                  </a:tcPr>
                </a:tc>
                <a:tc>
                  <a:txBody>
                    <a:bodyPr/>
                    <a:lstStyle/>
                    <a:p>
                      <a:pP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Purpose</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162025"/>
                      </a:solidFill>
                      <a:prstDash val="solid"/>
                      <a:round/>
                      <a:headEnd type="none" w="med" len="med"/>
                      <a:tailEnd type="none" w="med" len="med"/>
                    </a:lnL>
                    <a:lnR w="12700" cap="flat" cmpd="sng" algn="ctr">
                      <a:solidFill>
                        <a:srgbClr val="162025"/>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62025"/>
                      </a:solidFill>
                      <a:prstDash val="solid"/>
                      <a:round/>
                      <a:headEnd type="none" w="med" len="med"/>
                      <a:tailEnd type="none" w="med" len="med"/>
                    </a:lnB>
                    <a:solidFill>
                      <a:srgbClr val="16232A"/>
                    </a:solidFill>
                  </a:tcPr>
                </a:tc>
              </a:tr>
              <a:tr h="487680">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Framework</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202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Flutter · Dart 3.13</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202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One codebase for Android and iOS</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202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87680">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State management</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Provider</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Shares state between screens</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487680">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Backend</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Supabase</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Authentication and REST API</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87680">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Database</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PostgreSQL</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Stores expenses with Row Level Security</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487680">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Local storage</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SharedPreferences</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Remembers the selected theme</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87680">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Quality</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flutter_test · flutter_lints</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Automated tests and static analysis</a:t>
                      </a:r>
                      <a:endParaRPr lang="en-US" sz="1400" dirty="0">
                        <a:latin typeface="IBM Plex Sans" charset="0"/>
                        <a:ea typeface="IBM Plex Sans" charset="0"/>
                        <a:cs typeface="IBM Plex Sans" charset="0"/>
                      </a:endParaRPr>
                    </a:p>
                  </a:txBody>
                  <a:tcPr marL="152400" marR="152400" marT="114300" marB="1143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bl>
          </a:graphicData>
        </a:graphic>
      </p:graphicFrame>
      <p:pic>
        <p:nvPicPr>
          <p:cNvPr id="5" name="Image 0" descr="line">    </p:cNvPr>
          <p:cNvPicPr>
            <a:picLocks noChangeAspect="1"/>
          </p:cNvPicPr>
          <p:nvPr/>
        </p:nvPicPr>
        <p:blipFill>
          <a:blip r:embed="rId1"/>
          <a:srcRect l="-12500" r="-12500" t="0" b="0"/>
          <a:stretch/>
        </p:blipFill>
        <p:spPr>
          <a:xfrm>
            <a:off x="812800" y="6096000"/>
            <a:ext cx="10566400" cy="10160"/>
          </a:xfrm>
          <a:prstGeom prst="rect">
            <a:avLst/>
          </a:prstGeom>
        </p:spPr>
      </p:pic>
      <p:sp>
        <p:nvSpPr>
          <p:cNvPr id="6" name="Text 2"/>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Expense Tracker · Final Project Presentation</a:t>
            </a:r>
            <a:endParaRPr lang="en-US" sz="1200" dirty="0"/>
          </a:p>
        </p:txBody>
      </p:sp>
      <p:sp>
        <p:nvSpPr>
          <p:cNvPr id="7" name="Text 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3"/>
                </a:solidFill>
                <a:latin typeface="IBM Plex Sans" pitchFamily="34" charset="0"/>
                <a:ea typeface="IBM Plex Sans" pitchFamily="34" charset="-122"/>
                <a:cs typeface="IBM Plex Sans" pitchFamily="34" charset="-120"/>
              </a:rPr>
              <a:t>05 · QUALITY ASSURANCE</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2A"/>
                </a:solidFill>
                <a:latin typeface="Source Serif 4" pitchFamily="18" charset="0"/>
                <a:ea typeface="Source Serif 4" pitchFamily="18" charset="-122"/>
                <a:cs typeface="Source Serif 4" pitchFamily="18" charset="-120"/>
              </a:rPr>
              <a:t>Verified through testing and analysis</a:t>
            </a:r>
            <a:endParaRPr lang="en-US" sz="3200" dirty="0"/>
          </a:p>
        </p:txBody>
      </p:sp>
      <p:sp>
        <p:nvSpPr>
          <p:cNvPr id="4" name="Text 2"/>
          <p:cNvSpPr/>
          <p:nvPr/>
        </p:nvSpPr>
        <p:spPr>
          <a:xfrm>
            <a:off x="812800" y="1930400"/>
            <a:ext cx="232449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0B6E63"/>
                </a:solidFill>
                <a:latin typeface="Source Serif 4" pitchFamily="18" charset="0"/>
                <a:ea typeface="Source Serif 4" pitchFamily="18" charset="-122"/>
                <a:cs typeface="Source Serif 4" pitchFamily="18" charset="-120"/>
              </a:rPr>
              <a:t>40</a:t>
            </a:r>
            <a:endParaRPr lang="en-US" sz="6000" dirty="0"/>
          </a:p>
        </p:txBody>
      </p:sp>
      <p:sp>
        <p:nvSpPr>
          <p:cNvPr id="5" name="Text 3"/>
          <p:cNvSpPr/>
          <p:nvPr/>
        </p:nvSpPr>
        <p:spPr>
          <a:xfrm>
            <a:off x="812800" y="2768600"/>
            <a:ext cx="232449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2A"/>
                </a:solidFill>
                <a:latin typeface="IBM Plex Sans" pitchFamily="34" charset="0"/>
                <a:ea typeface="IBM Plex Sans" pitchFamily="34" charset="-122"/>
                <a:cs typeface="IBM Plex Sans" pitchFamily="34" charset="-120"/>
              </a:rPr>
              <a:t>Automated tests passed</a:t>
            </a:r>
            <a:endParaRPr lang="en-US" sz="1400" dirty="0"/>
          </a:p>
        </p:txBody>
      </p:sp>
      <p:sp>
        <p:nvSpPr>
          <p:cNvPr id="6" name="Text 4"/>
          <p:cNvSpPr/>
          <p:nvPr/>
        </p:nvSpPr>
        <p:spPr>
          <a:xfrm>
            <a:off x="812800" y="3093721"/>
            <a:ext cx="2324494"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0"/>
                </a:solidFill>
                <a:latin typeface="IBM Plex Sans" pitchFamily="34" charset="0"/>
                <a:ea typeface="IBM Plex Sans" pitchFamily="34" charset="-122"/>
                <a:cs typeface="IBM Plex Sans" pitchFamily="34" charset="-120"/>
              </a:rPr>
              <a:t>Unit and widget tests for validators, providers and screens.</a:t>
            </a:r>
            <a:endParaRPr lang="en-US" sz="1300" dirty="0"/>
          </a:p>
        </p:txBody>
      </p:sp>
      <p:sp>
        <p:nvSpPr>
          <p:cNvPr id="7" name="Shape 5"/>
          <p:cNvSpPr/>
          <p:nvPr/>
        </p:nvSpPr>
        <p:spPr>
          <a:xfrm>
            <a:off x="3326765" y="1930400"/>
            <a:ext cx="0" cy="1856740"/>
          </a:xfrm>
          <a:prstGeom prst="line">
            <a:avLst/>
          </a:prstGeom>
          <a:noFill/>
          <a:ln w="6350">
            <a:solidFill>
              <a:srgbClr val="D5D9D4"/>
            </a:solidFill>
            <a:prstDash val="solid"/>
          </a:ln>
        </p:spPr>
      </p:sp>
      <p:sp>
        <p:nvSpPr>
          <p:cNvPr id="8" name="Text 6"/>
          <p:cNvSpPr/>
          <p:nvPr/>
        </p:nvSpPr>
        <p:spPr>
          <a:xfrm>
            <a:off x="3582670" y="1930400"/>
            <a:ext cx="232449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0B6E63"/>
                </a:solidFill>
                <a:latin typeface="Source Serif 4" pitchFamily="18" charset="0"/>
                <a:ea typeface="Source Serif 4" pitchFamily="18" charset="-122"/>
                <a:cs typeface="Source Serif 4" pitchFamily="18" charset="-120"/>
              </a:rPr>
              <a:t>0</a:t>
            </a:r>
            <a:endParaRPr lang="en-US" sz="6000" dirty="0"/>
          </a:p>
        </p:txBody>
      </p:sp>
      <p:sp>
        <p:nvSpPr>
          <p:cNvPr id="9" name="Text 7"/>
          <p:cNvSpPr/>
          <p:nvPr/>
        </p:nvSpPr>
        <p:spPr>
          <a:xfrm>
            <a:off x="3582670" y="2768600"/>
            <a:ext cx="232449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2A"/>
                </a:solidFill>
                <a:latin typeface="IBM Plex Sans" pitchFamily="34" charset="0"/>
                <a:ea typeface="IBM Plex Sans" pitchFamily="34" charset="-122"/>
                <a:cs typeface="IBM Plex Sans" pitchFamily="34" charset="-120"/>
              </a:rPr>
              <a:t>Static analysis issues</a:t>
            </a:r>
            <a:endParaRPr lang="en-US" sz="1400" dirty="0"/>
          </a:p>
        </p:txBody>
      </p:sp>
      <p:sp>
        <p:nvSpPr>
          <p:cNvPr id="10" name="Text 8"/>
          <p:cNvSpPr/>
          <p:nvPr/>
        </p:nvSpPr>
        <p:spPr>
          <a:xfrm>
            <a:off x="3582670" y="3093721"/>
            <a:ext cx="232449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0"/>
                </a:solidFill>
                <a:latin typeface="IBM Plex Sans" pitchFamily="34" charset="0"/>
                <a:ea typeface="IBM Plex Sans" pitchFamily="34" charset="-122"/>
                <a:cs typeface="IBM Plex Sans" pitchFamily="34" charset="-120"/>
              </a:rPr>
              <a:t>Strict lint rules, including no debug prints.</a:t>
            </a:r>
            <a:endParaRPr lang="en-US" sz="1300" dirty="0"/>
          </a:p>
        </p:txBody>
      </p:sp>
      <p:sp>
        <p:nvSpPr>
          <p:cNvPr id="11" name="Shape 9"/>
          <p:cNvSpPr/>
          <p:nvPr/>
        </p:nvSpPr>
        <p:spPr>
          <a:xfrm>
            <a:off x="6096635" y="1930400"/>
            <a:ext cx="0" cy="1856740"/>
          </a:xfrm>
          <a:prstGeom prst="line">
            <a:avLst/>
          </a:prstGeom>
          <a:noFill/>
          <a:ln w="6350">
            <a:solidFill>
              <a:srgbClr val="D5D9D4"/>
            </a:solidFill>
            <a:prstDash val="solid"/>
          </a:ln>
        </p:spPr>
      </p:sp>
      <p:sp>
        <p:nvSpPr>
          <p:cNvPr id="12" name="Text 10"/>
          <p:cNvSpPr/>
          <p:nvPr/>
        </p:nvSpPr>
        <p:spPr>
          <a:xfrm>
            <a:off x="6352540" y="1930400"/>
            <a:ext cx="232449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0B6E63"/>
                </a:solidFill>
                <a:latin typeface="Source Serif 4" pitchFamily="18" charset="0"/>
                <a:ea typeface="Source Serif 4" pitchFamily="18" charset="-122"/>
                <a:cs typeface="Source Serif 4" pitchFamily="18" charset="-120"/>
              </a:rPr>
              <a:t>20 s</a:t>
            </a:r>
            <a:endParaRPr lang="en-US" sz="6000" dirty="0"/>
          </a:p>
        </p:txBody>
      </p:sp>
      <p:sp>
        <p:nvSpPr>
          <p:cNvPr id="13" name="Text 11"/>
          <p:cNvSpPr/>
          <p:nvPr/>
        </p:nvSpPr>
        <p:spPr>
          <a:xfrm>
            <a:off x="6352540" y="2768600"/>
            <a:ext cx="232449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2A"/>
                </a:solidFill>
                <a:latin typeface="IBM Plex Sans" pitchFamily="34" charset="0"/>
                <a:ea typeface="IBM Plex Sans" pitchFamily="34" charset="-122"/>
                <a:cs typeface="IBM Plex Sans" pitchFamily="34" charset="-120"/>
              </a:rPr>
              <a:t>Request timeout</a:t>
            </a:r>
            <a:endParaRPr lang="en-US" sz="1400" dirty="0"/>
          </a:p>
        </p:txBody>
      </p:sp>
      <p:sp>
        <p:nvSpPr>
          <p:cNvPr id="14" name="Text 12"/>
          <p:cNvSpPr/>
          <p:nvPr/>
        </p:nvSpPr>
        <p:spPr>
          <a:xfrm>
            <a:off x="6352540" y="3093721"/>
            <a:ext cx="232449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0"/>
                </a:solidFill>
                <a:latin typeface="IBM Plex Sans" pitchFamily="34" charset="0"/>
                <a:ea typeface="IBM Plex Sans" pitchFamily="34" charset="-122"/>
                <a:cs typeface="IBM Plex Sans" pitchFamily="34" charset="-120"/>
              </a:rPr>
              <a:t>Network errors become clear, friendly messages.</a:t>
            </a:r>
            <a:endParaRPr lang="en-US" sz="1300" dirty="0"/>
          </a:p>
        </p:txBody>
      </p:sp>
      <p:sp>
        <p:nvSpPr>
          <p:cNvPr id="15" name="Shape 13"/>
          <p:cNvSpPr/>
          <p:nvPr/>
        </p:nvSpPr>
        <p:spPr>
          <a:xfrm>
            <a:off x="8866505" y="1930400"/>
            <a:ext cx="0" cy="1856740"/>
          </a:xfrm>
          <a:prstGeom prst="line">
            <a:avLst/>
          </a:prstGeom>
          <a:noFill/>
          <a:ln w="6350">
            <a:solidFill>
              <a:srgbClr val="D5D9D4"/>
            </a:solidFill>
            <a:prstDash val="solid"/>
          </a:ln>
        </p:spPr>
      </p:sp>
      <p:sp>
        <p:nvSpPr>
          <p:cNvPr id="16" name="Text 14"/>
          <p:cNvSpPr/>
          <p:nvPr/>
        </p:nvSpPr>
        <p:spPr>
          <a:xfrm>
            <a:off x="9122410" y="1930400"/>
            <a:ext cx="232449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0B6E63"/>
                </a:solidFill>
                <a:latin typeface="Source Serif 4" pitchFamily="18" charset="0"/>
                <a:ea typeface="Source Serif 4" pitchFamily="18" charset="-122"/>
                <a:cs typeface="Source Serif 4" pitchFamily="18" charset="-120"/>
              </a:rPr>
              <a:t>13</a:t>
            </a:r>
            <a:endParaRPr lang="en-US" sz="6000" dirty="0"/>
          </a:p>
        </p:txBody>
      </p:sp>
      <p:sp>
        <p:nvSpPr>
          <p:cNvPr id="17" name="Text 15"/>
          <p:cNvSpPr/>
          <p:nvPr/>
        </p:nvSpPr>
        <p:spPr>
          <a:xfrm>
            <a:off x="9122410" y="2768600"/>
            <a:ext cx="232449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2A"/>
                </a:solidFill>
                <a:latin typeface="IBM Plex Sans" pitchFamily="34" charset="0"/>
                <a:ea typeface="IBM Plex Sans" pitchFamily="34" charset="-122"/>
                <a:cs typeface="IBM Plex Sans" pitchFamily="34" charset="-120"/>
              </a:rPr>
              <a:t>Bugs fixed</a:t>
            </a:r>
            <a:endParaRPr lang="en-US" sz="1400" dirty="0"/>
          </a:p>
        </p:txBody>
      </p:sp>
      <p:sp>
        <p:nvSpPr>
          <p:cNvPr id="18" name="Text 16"/>
          <p:cNvSpPr/>
          <p:nvPr/>
        </p:nvSpPr>
        <p:spPr>
          <a:xfrm>
            <a:off x="9122410" y="3093721"/>
            <a:ext cx="232449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860"/>
                </a:solidFill>
                <a:latin typeface="IBM Plex Sans" pitchFamily="34" charset="0"/>
                <a:ea typeface="IBM Plex Sans" pitchFamily="34" charset="-122"/>
                <a:cs typeface="IBM Plex Sans" pitchFamily="34" charset="-120"/>
              </a:rPr>
              <a:t>Found and resolved during feature completion.</a:t>
            </a:r>
            <a:endParaRPr lang="en-US" sz="1300" dirty="0"/>
          </a:p>
        </p:txBody>
      </p:sp>
      <p:sp>
        <p:nvSpPr>
          <p:cNvPr id="19" name="Text 17"/>
          <p:cNvSpPr/>
          <p:nvPr/>
        </p:nvSpPr>
        <p:spPr>
          <a:xfrm>
            <a:off x="812800" y="4142742"/>
            <a:ext cx="10883392"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860"/>
                </a:solidFill>
                <a:latin typeface="IBM Plex Sans" pitchFamily="34" charset="0"/>
                <a:ea typeface="IBM Plex Sans" pitchFamily="34" charset="-122"/>
                <a:cs typeface="IBM Plex Sans" pitchFamily="34" charset="-120"/>
              </a:rPr>
              <a:t>Input validation covers edge cases such as NaN, 1e5, negative values and decimal commas.</a:t>
            </a:r>
            <a:endParaRPr lang="en-US" sz="1400" dirty="0"/>
          </a:p>
        </p:txBody>
      </p:sp>
      <p:pic>
        <p:nvPicPr>
          <p:cNvPr id="20" name="Image 0" descr="line">    </p:cNvPr>
          <p:cNvPicPr>
            <a:picLocks noChangeAspect="1"/>
          </p:cNvPicPr>
          <p:nvPr/>
        </p:nvPicPr>
        <p:blipFill>
          <a:blip r:embed="rId1"/>
          <a:srcRect l="-12500" r="-12500" t="0" b="0"/>
          <a:stretch/>
        </p:blipFill>
        <p:spPr>
          <a:xfrm>
            <a:off x="812800" y="6096000"/>
            <a:ext cx="10566400" cy="10160"/>
          </a:xfrm>
          <a:prstGeom prst="rect">
            <a:avLst/>
          </a:prstGeom>
        </p:spPr>
      </p:pic>
      <p:sp>
        <p:nvSpPr>
          <p:cNvPr id="21" name="Text 18"/>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Expense Tracker · Final Project Presentation</a:t>
            </a:r>
            <a:endParaRPr lang="en-US" sz="1200" dirty="0"/>
          </a:p>
        </p:txBody>
      </p:sp>
      <p:sp>
        <p:nvSpPr>
          <p:cNvPr id="22" name="Text 1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3"/>
                </a:solidFill>
                <a:latin typeface="IBM Plex Sans" pitchFamily="34" charset="0"/>
                <a:ea typeface="IBM Plex Sans" pitchFamily="34" charset="-122"/>
                <a:cs typeface="IBM Plex Sans" pitchFamily="34" charset="-120"/>
              </a:rPr>
              <a:t>05 · RELEASE AND DEPLOYMENT</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2A"/>
                </a:solidFill>
                <a:latin typeface="Source Serif 4" pitchFamily="18" charset="0"/>
                <a:ea typeface="Source Serif 4" pitchFamily="18" charset="-122"/>
                <a:cs typeface="Source Serif 4" pitchFamily="18" charset="-120"/>
              </a:rPr>
              <a:t>Version 1.2.0 is ready for release</a:t>
            </a:r>
            <a:endParaRPr lang="en-US" sz="3200" dirty="0"/>
          </a:p>
        </p:txBody>
      </p:sp>
      <p:sp>
        <p:nvSpPr>
          <p:cNvPr id="4" name="Shape 2"/>
          <p:cNvSpPr/>
          <p:nvPr/>
        </p:nvSpPr>
        <p:spPr>
          <a:xfrm>
            <a:off x="812800" y="1882775"/>
            <a:ext cx="6324600" cy="0"/>
          </a:xfrm>
          <a:prstGeom prst="line">
            <a:avLst/>
          </a:prstGeom>
          <a:noFill/>
          <a:ln w="6350">
            <a:solidFill>
              <a:srgbClr val="D5D9D4"/>
            </a:solidFill>
            <a:prstDash val="solid"/>
          </a:ln>
        </p:spPr>
      </p:sp>
      <p:pic>
        <p:nvPicPr>
          <p:cNvPr id="5" name="Image 0" descr="CheckCircle">    </p:cNvPr>
          <p:cNvPicPr>
            <a:picLocks noChangeAspect="1"/>
          </p:cNvPicPr>
          <p:nvPr/>
        </p:nvPicPr>
        <p:blipFill>
          <a:blip r:embed="rId1"/>
          <a:srcRect l="0" r="0" t="0" b="0"/>
          <a:stretch/>
        </p:blipFill>
        <p:spPr>
          <a:xfrm>
            <a:off x="812800" y="2024379"/>
            <a:ext cx="254000" cy="254000"/>
          </a:xfrm>
          <a:prstGeom prst="rect">
            <a:avLst/>
          </a:prstGeom>
        </p:spPr>
      </p:pic>
      <p:sp>
        <p:nvSpPr>
          <p:cNvPr id="6" name="Text 3"/>
          <p:cNvSpPr/>
          <p:nvPr/>
        </p:nvSpPr>
        <p:spPr>
          <a:xfrm>
            <a:off x="1219200" y="2026921"/>
            <a:ext cx="391096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Release APK built successfully (51.3 MB)</a:t>
            </a:r>
            <a:endParaRPr lang="en-US" sz="1400" dirty="0"/>
          </a:p>
        </p:txBody>
      </p:sp>
      <p:sp>
        <p:nvSpPr>
          <p:cNvPr id="7" name="Shape 4"/>
          <p:cNvSpPr/>
          <p:nvPr/>
        </p:nvSpPr>
        <p:spPr>
          <a:xfrm>
            <a:off x="812800" y="2421254"/>
            <a:ext cx="6324600" cy="0"/>
          </a:xfrm>
          <a:prstGeom prst="line">
            <a:avLst/>
          </a:prstGeom>
          <a:noFill/>
          <a:ln w="6350">
            <a:solidFill>
              <a:srgbClr val="D5D9D4"/>
            </a:solidFill>
            <a:prstDash val="solid"/>
          </a:ln>
        </p:spPr>
      </p:sp>
      <p:pic>
        <p:nvPicPr>
          <p:cNvPr id="8" name="Image 1" descr="CheckCircle">    </p:cNvPr>
          <p:cNvPicPr>
            <a:picLocks noChangeAspect="1"/>
          </p:cNvPicPr>
          <p:nvPr/>
        </p:nvPicPr>
        <p:blipFill>
          <a:blip r:embed="rId2"/>
          <a:srcRect l="0" r="0" t="0" b="0"/>
          <a:stretch/>
        </p:blipFill>
        <p:spPr>
          <a:xfrm>
            <a:off x="812800" y="2562864"/>
            <a:ext cx="254000" cy="254000"/>
          </a:xfrm>
          <a:prstGeom prst="rect">
            <a:avLst/>
          </a:prstGeom>
        </p:spPr>
      </p:pic>
      <p:sp>
        <p:nvSpPr>
          <p:cNvPr id="9" name="Text 5"/>
          <p:cNvSpPr/>
          <p:nvPr/>
        </p:nvSpPr>
        <p:spPr>
          <a:xfrm>
            <a:off x="1219200" y="2565400"/>
            <a:ext cx="419128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Installed and tested on Pixel 7a, Android 16</a:t>
            </a:r>
            <a:endParaRPr lang="en-US" sz="1400" dirty="0"/>
          </a:p>
        </p:txBody>
      </p:sp>
      <p:sp>
        <p:nvSpPr>
          <p:cNvPr id="10" name="Shape 6"/>
          <p:cNvSpPr/>
          <p:nvPr/>
        </p:nvSpPr>
        <p:spPr>
          <a:xfrm>
            <a:off x="812800" y="2959739"/>
            <a:ext cx="6324600" cy="0"/>
          </a:xfrm>
          <a:prstGeom prst="line">
            <a:avLst/>
          </a:prstGeom>
          <a:noFill/>
          <a:ln w="6350">
            <a:solidFill>
              <a:srgbClr val="D5D9D4"/>
            </a:solidFill>
            <a:prstDash val="solid"/>
          </a:ln>
        </p:spPr>
      </p:sp>
      <p:pic>
        <p:nvPicPr>
          <p:cNvPr id="11" name="Image 2" descr="CheckCircle">    </p:cNvPr>
          <p:cNvPicPr>
            <a:picLocks noChangeAspect="1"/>
          </p:cNvPicPr>
          <p:nvPr/>
        </p:nvPicPr>
        <p:blipFill>
          <a:blip r:embed="rId3"/>
          <a:srcRect l="0" r="0" t="0" b="0"/>
          <a:stretch/>
        </p:blipFill>
        <p:spPr>
          <a:xfrm>
            <a:off x="812800" y="3101342"/>
            <a:ext cx="254000" cy="254000"/>
          </a:xfrm>
          <a:prstGeom prst="rect">
            <a:avLst/>
          </a:prstGeom>
        </p:spPr>
      </p:pic>
      <p:sp>
        <p:nvSpPr>
          <p:cNvPr id="12" name="Text 7"/>
          <p:cNvSpPr/>
          <p:nvPr/>
        </p:nvSpPr>
        <p:spPr>
          <a:xfrm>
            <a:off x="1219200" y="3103879"/>
            <a:ext cx="320535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App Bundle setup for Google Play</a:t>
            </a:r>
            <a:endParaRPr lang="en-US" sz="1400" dirty="0"/>
          </a:p>
        </p:txBody>
      </p:sp>
      <p:sp>
        <p:nvSpPr>
          <p:cNvPr id="13" name="Shape 8"/>
          <p:cNvSpPr/>
          <p:nvPr/>
        </p:nvSpPr>
        <p:spPr>
          <a:xfrm>
            <a:off x="812800" y="3498217"/>
            <a:ext cx="6324600" cy="0"/>
          </a:xfrm>
          <a:prstGeom prst="line">
            <a:avLst/>
          </a:prstGeom>
          <a:noFill/>
          <a:ln w="6350">
            <a:solidFill>
              <a:srgbClr val="D5D9D4"/>
            </a:solidFill>
            <a:prstDash val="solid"/>
          </a:ln>
        </p:spPr>
      </p:sp>
      <p:sp>
        <p:nvSpPr>
          <p:cNvPr id="14" name="Shape 9"/>
          <p:cNvSpPr/>
          <p:nvPr/>
        </p:nvSpPr>
        <p:spPr>
          <a:xfrm>
            <a:off x="812800" y="4035427"/>
            <a:ext cx="6324600" cy="0"/>
          </a:xfrm>
          <a:prstGeom prst="line">
            <a:avLst/>
          </a:prstGeom>
          <a:noFill/>
          <a:ln w="6350">
            <a:solidFill>
              <a:srgbClr val="D5D9D4"/>
            </a:solidFill>
            <a:prstDash val="solid"/>
          </a:ln>
        </p:spPr>
      </p:sp>
      <p:pic>
        <p:nvPicPr>
          <p:cNvPr id="15" name="Image 3" descr="CheckCircle">    </p:cNvPr>
          <p:cNvPicPr>
            <a:picLocks noChangeAspect="1"/>
          </p:cNvPicPr>
          <p:nvPr/>
        </p:nvPicPr>
        <p:blipFill>
          <a:blip r:embed="rId4"/>
          <a:srcRect l="0" r="0" t="0" b="0"/>
          <a:stretch/>
        </p:blipFill>
        <p:spPr>
          <a:xfrm>
            <a:off x="812800" y="3639821"/>
            <a:ext cx="254000" cy="254000"/>
          </a:xfrm>
          <a:prstGeom prst="rect">
            <a:avLst/>
          </a:prstGeom>
        </p:spPr>
      </p:pic>
      <p:sp>
        <p:nvSpPr>
          <p:cNvPr id="16" name="Text 10"/>
          <p:cNvSpPr/>
          <p:nvPr/>
        </p:nvSpPr>
        <p:spPr>
          <a:xfrm>
            <a:off x="1219200" y="3642364"/>
            <a:ext cx="481412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2A"/>
                </a:solidFill>
                <a:latin typeface="IBM Plex Sans" pitchFamily="34" charset="0"/>
                <a:ea typeface="IBM Plex Sans" pitchFamily="34" charset="-122"/>
                <a:cs typeface="IBM Plex Sans" pitchFamily="34" charset="-120"/>
              </a:rPr>
              <a:t>README, API docs, architecture and release guide</a:t>
            </a:r>
            <a:endParaRPr lang="en-US" sz="1400" dirty="0"/>
          </a:p>
        </p:txBody>
      </p:sp>
      <p:sp>
        <p:nvSpPr>
          <p:cNvPr id="17" name="Shape 11"/>
          <p:cNvSpPr/>
          <p:nvPr/>
        </p:nvSpPr>
        <p:spPr>
          <a:xfrm>
            <a:off x="7442200" y="1879600"/>
            <a:ext cx="3937000" cy="2644140"/>
          </a:xfrm>
          <a:prstGeom prst="rect">
            <a:avLst/>
          </a:prstGeom>
          <a:solidFill>
            <a:srgbClr val="16232A"/>
          </a:solidFill>
          <a:ln/>
        </p:spPr>
      </p:sp>
      <p:sp>
        <p:nvSpPr>
          <p:cNvPr id="18" name="Text 12"/>
          <p:cNvSpPr/>
          <p:nvPr/>
        </p:nvSpPr>
        <p:spPr>
          <a:xfrm>
            <a:off x="7747000" y="2184400"/>
            <a:ext cx="342722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C8BC"/>
                </a:solidFill>
                <a:latin typeface="IBM Plex Sans" pitchFamily="34" charset="0"/>
                <a:ea typeface="IBM Plex Sans" pitchFamily="34" charset="-122"/>
                <a:cs typeface="IBM Plex Sans" pitchFamily="34" charset="-120"/>
              </a:rPr>
              <a:t>ISSUE FOUND IN RELEASE TESTING</a:t>
            </a:r>
            <a:endParaRPr lang="en-US" sz="1200" dirty="0"/>
          </a:p>
        </p:txBody>
      </p:sp>
      <p:sp>
        <p:nvSpPr>
          <p:cNvPr id="19" name="Text 13"/>
          <p:cNvSpPr/>
          <p:nvPr/>
        </p:nvSpPr>
        <p:spPr>
          <a:xfrm>
            <a:off x="7747000" y="2524764"/>
            <a:ext cx="3427222"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6F2"/>
                </a:solidFill>
                <a:latin typeface="Source Serif 4" pitchFamily="18" charset="0"/>
                <a:ea typeface="Source Serif 4" pitchFamily="18" charset="-122"/>
                <a:cs typeface="Source Serif 4" pitchFamily="18" charset="-120"/>
              </a:rPr>
              <a:t>Missing INTERNET permission</a:t>
            </a:r>
            <a:endParaRPr lang="en-US" sz="2000" dirty="0"/>
          </a:p>
        </p:txBody>
      </p:sp>
      <p:sp>
        <p:nvSpPr>
          <p:cNvPr id="20" name="Text 14"/>
          <p:cNvSpPr/>
          <p:nvPr/>
        </p:nvSpPr>
        <p:spPr>
          <a:xfrm>
            <a:off x="7747000" y="3261364"/>
            <a:ext cx="3427222" cy="9829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3CDD0"/>
                </a:solidFill>
                <a:latin typeface="IBM Plex Sans" pitchFamily="34" charset="0"/>
                <a:ea typeface="IBM Plex Sans" pitchFamily="34" charset="-122"/>
                <a:cs typeface="IBM Plex Sans" pitchFamily="34" charset="-120"/>
              </a:rPr>
              <a:t>The permission existed only in the debug configuration, so the release build could not reach the server. It was added to the main manifest and verified on a device.</a:t>
            </a:r>
            <a:endParaRPr lang="en-US" sz="1300" dirty="0"/>
          </a:p>
        </p:txBody>
      </p:sp>
      <p:pic>
        <p:nvPicPr>
          <p:cNvPr id="21" name="Image 4" descr="line">    </p:cNvPr>
          <p:cNvPicPr>
            <a:picLocks noChangeAspect="1"/>
          </p:cNvPicPr>
          <p:nvPr/>
        </p:nvPicPr>
        <p:blipFill>
          <a:blip r:embed="rId5"/>
          <a:srcRect l="-12500" r="-12500" t="0" b="0"/>
          <a:stretch/>
        </p:blipFill>
        <p:spPr>
          <a:xfrm>
            <a:off x="812800" y="6096000"/>
            <a:ext cx="10566400" cy="10160"/>
          </a:xfrm>
          <a:prstGeom prst="rect">
            <a:avLst/>
          </a:prstGeom>
        </p:spPr>
      </p:pic>
      <p:sp>
        <p:nvSpPr>
          <p:cNvPr id="22" name="Text 15"/>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Expense Tracker · Final Project Presentation</a:t>
            </a:r>
            <a:endParaRPr lang="en-US" sz="1200" dirty="0"/>
          </a:p>
        </p:txBody>
      </p:sp>
      <p:sp>
        <p:nvSpPr>
          <p:cNvPr id="23"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63"/>
                </a:solidFill>
                <a:latin typeface="IBM Plex Sans" pitchFamily="34" charset="0"/>
                <a:ea typeface="IBM Plex Sans" pitchFamily="34" charset="-122"/>
                <a:cs typeface="IBM Plex Sans" pitchFamily="34" charset="-120"/>
              </a:rPr>
              <a:t>06 · CONCLUSIONS</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32A"/>
                </a:solidFill>
                <a:latin typeface="Source Serif 4" pitchFamily="18" charset="0"/>
                <a:ea typeface="Source Serif 4" pitchFamily="18" charset="-122"/>
                <a:cs typeface="Source Serif 4" pitchFamily="18" charset="-120"/>
              </a:rPr>
              <a:t>Lessons learned and future work</a:t>
            </a:r>
            <a:endParaRPr lang="en-US" sz="3200" dirty="0"/>
          </a:p>
        </p:txBody>
      </p:sp>
      <p:sp>
        <p:nvSpPr>
          <p:cNvPr id="4" name="Shape 2"/>
          <p:cNvSpPr/>
          <p:nvPr/>
        </p:nvSpPr>
        <p:spPr>
          <a:xfrm>
            <a:off x="812800" y="2340610"/>
            <a:ext cx="5080000" cy="0"/>
          </a:xfrm>
          <a:prstGeom prst="line">
            <a:avLst/>
          </a:prstGeom>
          <a:noFill/>
          <a:ln w="12700">
            <a:solidFill>
              <a:srgbClr val="0B6E63"/>
            </a:solidFill>
            <a:prstDash val="solid"/>
          </a:ln>
        </p:spPr>
      </p:sp>
      <p:sp>
        <p:nvSpPr>
          <p:cNvPr id="5" name="Text 3"/>
          <p:cNvSpPr/>
          <p:nvPr/>
        </p:nvSpPr>
        <p:spPr>
          <a:xfrm>
            <a:off x="812800" y="1930400"/>
            <a:ext cx="52324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32A"/>
                </a:solidFill>
                <a:latin typeface="Source Serif 4" pitchFamily="18" charset="0"/>
                <a:ea typeface="Source Serif 4" pitchFamily="18" charset="-122"/>
                <a:cs typeface="Source Serif 4" pitchFamily="18" charset="-120"/>
              </a:rPr>
              <a:t>Key lessons</a:t>
            </a:r>
            <a:endParaRPr lang="en-US" sz="2000" dirty="0"/>
          </a:p>
        </p:txBody>
      </p:sp>
      <p:sp>
        <p:nvSpPr>
          <p:cNvPr id="6" name="Text 4"/>
          <p:cNvSpPr/>
          <p:nvPr/>
        </p:nvSpPr>
        <p:spPr>
          <a:xfrm>
            <a:off x="891032" y="2499364"/>
            <a:ext cx="5146548" cy="1163320"/>
          </a:xfrm>
          <a:prstGeom prst="rect">
            <a:avLst/>
          </a:prstGeom>
          <a:noFill/>
          <a:ln/>
        </p:spPr>
        <p:txBody>
          <a:bodyPr wrap="square" lIns="0" tIns="0" rIns="0" bIns="0" rtlCol="0" anchor="t">
            <a:normAutofit/>
          </a:bodyPr>
          <a:lstStyle/>
          <a:p>
            <a:pPr algn="l" marL="175768" indent="-175768">
              <a:lnSpc>
                <a:spcPts val="2240"/>
              </a:lnSpc>
              <a:buSzPct val="100000"/>
              <a:buChar char="•"/>
            </a:pPr>
            <a:r>
              <a:rPr lang="en-US" sz="1400" dirty="0">
                <a:solidFill>
                  <a:srgbClr val="4A5860"/>
                </a:solidFill>
                <a:latin typeface="IBM Plex Sans" pitchFamily="34" charset="0"/>
                <a:ea typeface="IBM Plex Sans" pitchFamily="34" charset="-122"/>
                <a:cs typeface="IBM Plex Sans" pitchFamily="34" charset="-120"/>
              </a:rPr>
              <a:t>Separate an application into clear layers</a:t>
            </a:r>
            <a:endParaRPr lang="en-US" sz="1400" dirty="0"/>
          </a:p>
          <a:p>
            <a:pPr algn="l" marL="175768" indent="-175768">
              <a:lnSpc>
                <a:spcPts val="2240"/>
              </a:lnSpc>
              <a:buSzPct val="100000"/>
              <a:buChar char="•"/>
            </a:pPr>
            <a:r>
              <a:rPr lang="en-US" sz="1400" dirty="0">
                <a:solidFill>
                  <a:srgbClr val="4A5860"/>
                </a:solidFill>
                <a:latin typeface="IBM Plex Sans" pitchFamily="34" charset="0"/>
                <a:ea typeface="IBM Plex Sans" pitchFamily="34" charset="-122"/>
                <a:cs typeface="IBM Plex Sans" pitchFamily="34" charset="-120"/>
              </a:rPr>
              <a:t>Enforce data security at the database level</a:t>
            </a:r>
            <a:endParaRPr lang="en-US" sz="1400" dirty="0"/>
          </a:p>
          <a:p>
            <a:pPr algn="l" marL="175768" indent="-175768">
              <a:lnSpc>
                <a:spcPts val="2240"/>
              </a:lnSpc>
              <a:buSzPct val="100000"/>
              <a:buChar char="•"/>
            </a:pPr>
            <a:r>
              <a:rPr lang="en-US" sz="1400" dirty="0">
                <a:solidFill>
                  <a:srgbClr val="4A5860"/>
                </a:solidFill>
                <a:latin typeface="IBM Plex Sans" pitchFamily="34" charset="0"/>
                <a:ea typeface="IBM Plex Sans" pitchFamily="34" charset="-122"/>
                <a:cs typeface="IBM Plex Sans" pitchFamily="34" charset="-120"/>
              </a:rPr>
              <a:t>Handle edge cases and errors before release</a:t>
            </a:r>
            <a:endParaRPr lang="en-US" sz="1400" dirty="0"/>
          </a:p>
          <a:p>
            <a:pPr algn="l" marL="175768" indent="-175768">
              <a:lnSpc>
                <a:spcPts val="2240"/>
              </a:lnSpc>
              <a:buSzPct val="100000"/>
              <a:buChar char="•"/>
            </a:pPr>
            <a:r>
              <a:rPr lang="en-US" sz="1400" dirty="0">
                <a:solidFill>
                  <a:srgbClr val="4A5860"/>
                </a:solidFill>
                <a:latin typeface="IBM Plex Sans" pitchFamily="34" charset="0"/>
                <a:ea typeface="IBM Plex Sans" pitchFamily="34" charset="-122"/>
                <a:cs typeface="IBM Plex Sans" pitchFamily="34" charset="-120"/>
              </a:rPr>
              <a:t>Always test the release build on a device</a:t>
            </a:r>
            <a:endParaRPr lang="en-US" sz="1400" dirty="0"/>
          </a:p>
        </p:txBody>
      </p:sp>
      <p:sp>
        <p:nvSpPr>
          <p:cNvPr id="7" name="Shape 5"/>
          <p:cNvSpPr/>
          <p:nvPr/>
        </p:nvSpPr>
        <p:spPr>
          <a:xfrm>
            <a:off x="6299200" y="2340610"/>
            <a:ext cx="5080000" cy="0"/>
          </a:xfrm>
          <a:prstGeom prst="line">
            <a:avLst/>
          </a:prstGeom>
          <a:noFill/>
          <a:ln w="12700">
            <a:solidFill>
              <a:srgbClr val="0B6E63"/>
            </a:solidFill>
            <a:prstDash val="solid"/>
          </a:ln>
        </p:spPr>
      </p:sp>
      <p:sp>
        <p:nvSpPr>
          <p:cNvPr id="8" name="Text 6"/>
          <p:cNvSpPr/>
          <p:nvPr/>
        </p:nvSpPr>
        <p:spPr>
          <a:xfrm>
            <a:off x="6299200" y="1930400"/>
            <a:ext cx="52324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6232A"/>
                </a:solidFill>
                <a:latin typeface="Source Serif 4" pitchFamily="18" charset="0"/>
                <a:ea typeface="Source Serif 4" pitchFamily="18" charset="-122"/>
                <a:cs typeface="Source Serif 4" pitchFamily="18" charset="-120"/>
              </a:rPr>
              <a:t>Future work</a:t>
            </a:r>
            <a:endParaRPr lang="en-US" sz="2000" dirty="0"/>
          </a:p>
        </p:txBody>
      </p:sp>
      <p:sp>
        <p:nvSpPr>
          <p:cNvPr id="9" name="Text 7"/>
          <p:cNvSpPr/>
          <p:nvPr/>
        </p:nvSpPr>
        <p:spPr>
          <a:xfrm>
            <a:off x="6377432" y="2499364"/>
            <a:ext cx="5146548" cy="1163320"/>
          </a:xfrm>
          <a:prstGeom prst="rect">
            <a:avLst/>
          </a:prstGeom>
          <a:noFill/>
          <a:ln/>
        </p:spPr>
        <p:txBody>
          <a:bodyPr wrap="square" lIns="0" tIns="0" rIns="0" bIns="0" rtlCol="0" anchor="t">
            <a:normAutofit/>
          </a:bodyPr>
          <a:lstStyle/>
          <a:p>
            <a:pPr algn="l" marL="175768" indent="-175768">
              <a:lnSpc>
                <a:spcPts val="2240"/>
              </a:lnSpc>
              <a:buSzPct val="100000"/>
              <a:buChar char="•"/>
            </a:pPr>
            <a:r>
              <a:rPr lang="en-US" sz="1400" dirty="0">
                <a:solidFill>
                  <a:srgbClr val="4A5860"/>
                </a:solidFill>
                <a:latin typeface="IBM Plex Sans" pitchFamily="34" charset="0"/>
                <a:ea typeface="IBM Plex Sans" pitchFamily="34" charset="-122"/>
                <a:cs typeface="IBM Plex Sans" pitchFamily="34" charset="-120"/>
              </a:rPr>
              <a:t>Monthly budgets with alerts</a:t>
            </a:r>
            <a:endParaRPr lang="en-US" sz="1400" dirty="0"/>
          </a:p>
          <a:p>
            <a:pPr algn="l" marL="175768" indent="-175768">
              <a:lnSpc>
                <a:spcPts val="2240"/>
              </a:lnSpc>
              <a:buSzPct val="100000"/>
              <a:buChar char="•"/>
            </a:pPr>
            <a:r>
              <a:rPr lang="en-US" sz="1400" dirty="0">
                <a:solidFill>
                  <a:srgbClr val="4A5860"/>
                </a:solidFill>
                <a:latin typeface="IBM Plex Sans" pitchFamily="34" charset="0"/>
                <a:ea typeface="IBM Plex Sans" pitchFamily="34" charset="-122"/>
                <a:cs typeface="IBM Plex Sans" pitchFamily="34" charset="-120"/>
              </a:rPr>
              <a:t>Spending charts over time</a:t>
            </a:r>
            <a:endParaRPr lang="en-US" sz="1400" dirty="0"/>
          </a:p>
          <a:p>
            <a:pPr algn="l" marL="175768" indent="-175768">
              <a:lnSpc>
                <a:spcPts val="2240"/>
              </a:lnSpc>
              <a:buSzPct val="100000"/>
              <a:buChar char="•"/>
            </a:pPr>
            <a:r>
              <a:rPr lang="en-US" sz="1400" dirty="0">
                <a:solidFill>
                  <a:srgbClr val="4A5860"/>
                </a:solidFill>
                <a:latin typeface="IBM Plex Sans" pitchFamily="34" charset="0"/>
                <a:ea typeface="IBM Plex Sans" pitchFamily="34" charset="-122"/>
                <a:cs typeface="IBM Plex Sans" pitchFamily="34" charset="-120"/>
              </a:rPr>
              <a:t>Receipt photo attachments</a:t>
            </a:r>
            <a:endParaRPr lang="en-US" sz="1400" dirty="0"/>
          </a:p>
          <a:p>
            <a:pPr algn="l" marL="175768" indent="-175768">
              <a:lnSpc>
                <a:spcPts val="2240"/>
              </a:lnSpc>
              <a:buSzPct val="100000"/>
              <a:buChar char="•"/>
            </a:pPr>
            <a:r>
              <a:rPr lang="en-US" sz="1400" dirty="0">
                <a:solidFill>
                  <a:srgbClr val="4A5860"/>
                </a:solidFill>
                <a:latin typeface="IBM Plex Sans" pitchFamily="34" charset="0"/>
                <a:ea typeface="IBM Plex Sans" pitchFamily="34" charset="-122"/>
                <a:cs typeface="IBM Plex Sans" pitchFamily="34" charset="-120"/>
              </a:rPr>
              <a:t>Excel export and offline synchronisation</a:t>
            </a:r>
            <a:endParaRPr lang="en-US" sz="1400" dirty="0"/>
          </a:p>
        </p:txBody>
      </p:sp>
      <p:pic>
        <p:nvPicPr>
          <p:cNvPr id="10" name="Image 0" descr="line">    </p:cNvPr>
          <p:cNvPicPr>
            <a:picLocks noChangeAspect="1"/>
          </p:cNvPicPr>
          <p:nvPr/>
        </p:nvPicPr>
        <p:blipFill>
          <a:blip r:embed="rId1"/>
          <a:srcRect l="-12500" r="-12500" t="0" b="0"/>
          <a:stretch/>
        </p:blipFill>
        <p:spPr>
          <a:xfrm>
            <a:off x="812800" y="6096000"/>
            <a:ext cx="10566400" cy="10160"/>
          </a:xfrm>
          <a:prstGeom prst="rect">
            <a:avLst/>
          </a:prstGeom>
        </p:spPr>
      </p:pic>
      <p:sp>
        <p:nvSpPr>
          <p:cNvPr id="11" name="Text 8"/>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Expense Tracker · Final Project Presentation</a:t>
            </a:r>
            <a:endParaRPr lang="en-US" sz="1200" dirty="0"/>
          </a:p>
        </p:txBody>
      </p:sp>
      <p:sp>
        <p:nvSpPr>
          <p:cNvPr id="12" name="Text 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880"/>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32A"/>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0B6E63"/>
          </a:solidFill>
          <a:ln/>
        </p:spPr>
      </p:sp>
      <p:sp>
        <p:nvSpPr>
          <p:cNvPr id="3" name="Text 1"/>
          <p:cNvSpPr/>
          <p:nvPr/>
        </p:nvSpPr>
        <p:spPr>
          <a:xfrm>
            <a:off x="812800" y="19177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7FC8BC"/>
                </a:solidFill>
                <a:latin typeface="IBM Plex Sans" pitchFamily="34" charset="0"/>
                <a:ea typeface="IBM Plex Sans" pitchFamily="34" charset="-122"/>
                <a:cs typeface="IBM Plex Sans" pitchFamily="34" charset="-120"/>
              </a:rPr>
              <a:t>EXPENSE TRACKER</a:t>
            </a:r>
            <a:endParaRPr lang="en-US" sz="1300" dirty="0"/>
          </a:p>
        </p:txBody>
      </p:sp>
      <p:sp>
        <p:nvSpPr>
          <p:cNvPr id="4" name="Text 2"/>
          <p:cNvSpPr/>
          <p:nvPr>
            <p:ph type="title"/>
          </p:nvPr>
        </p:nvSpPr>
        <p:spPr>
          <a:xfrm>
            <a:off x="812800" y="2352042"/>
            <a:ext cx="10883392" cy="932180"/>
          </a:xfrm>
          <a:prstGeom prst="rect">
            <a:avLst/>
          </a:prstGeom>
          <a:noFill/>
          <a:ln/>
        </p:spPr>
        <p:txBody>
          <a:bodyPr wrap="square" lIns="0" tIns="0" rIns="0" bIns="0" rtlCol="0" anchor="t">
            <a:normAutofit/>
          </a:bodyPr>
          <a:lstStyle/>
          <a:p>
            <a:pPr algn="l" indent="0" marL="0">
              <a:lnSpc>
                <a:spcPts val="7140"/>
              </a:lnSpc>
              <a:buNone/>
            </a:pPr>
            <a:r>
              <a:rPr lang="en-US" sz="7000" b="1" i="0" dirty="0">
                <a:solidFill>
                  <a:srgbClr val="F7F6F2"/>
                </a:solidFill>
                <a:latin typeface="Source Serif 4" pitchFamily="18" charset="0"/>
                <a:ea typeface="Source Serif 4" pitchFamily="18" charset="-122"/>
                <a:cs typeface="Source Serif 4" pitchFamily="18" charset="-120"/>
              </a:rPr>
              <a:t>Thank you</a:t>
            </a:r>
            <a:endParaRPr lang="en-US" sz="7000" dirty="0"/>
          </a:p>
        </p:txBody>
      </p:sp>
      <p:sp>
        <p:nvSpPr>
          <p:cNvPr id="5" name="Text 3"/>
          <p:cNvSpPr/>
          <p:nvPr/>
        </p:nvSpPr>
        <p:spPr>
          <a:xfrm>
            <a:off x="812800" y="3462021"/>
            <a:ext cx="10883392"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3CDD0"/>
                </a:solidFill>
                <a:latin typeface="IBM Plex Sans" pitchFamily="34" charset="0"/>
                <a:ea typeface="IBM Plex Sans" pitchFamily="34" charset="-122"/>
                <a:cs typeface="IBM Plex Sans" pitchFamily="34" charset="-120"/>
              </a:rPr>
              <a:t>I welcome your questions.</a:t>
            </a:r>
            <a:endParaRPr lang="en-US" sz="2200" dirty="0"/>
          </a:p>
        </p:txBody>
      </p:sp>
      <p:sp>
        <p:nvSpPr>
          <p:cNvPr id="6" name="Shape 4"/>
          <p:cNvSpPr/>
          <p:nvPr/>
        </p:nvSpPr>
        <p:spPr>
          <a:xfrm>
            <a:off x="812800" y="4028442"/>
            <a:ext cx="762000" cy="25400"/>
          </a:xfrm>
          <a:prstGeom prst="rect">
            <a:avLst/>
          </a:prstGeom>
          <a:solidFill>
            <a:srgbClr val="0B6E63"/>
          </a:solidFill>
          <a:ln/>
        </p:spPr>
      </p:sp>
      <p:sp>
        <p:nvSpPr>
          <p:cNvPr id="7" name="Text 5"/>
          <p:cNvSpPr/>
          <p:nvPr/>
        </p:nvSpPr>
        <p:spPr>
          <a:xfrm>
            <a:off x="812800" y="425704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6F2"/>
                </a:solidFill>
                <a:latin typeface="IBM Plex Sans" pitchFamily="34" charset="0"/>
                <a:ea typeface="IBM Plex Sans" pitchFamily="34" charset="-122"/>
                <a:cs typeface="IBM Plex Sans" pitchFamily="34" charset="-120"/>
              </a:rPr>
              <a:t>Maram Sharaf</a:t>
            </a:r>
            <a:endParaRPr lang="en-US" sz="1400" dirty="0"/>
          </a:p>
        </p:txBody>
      </p:sp>
      <p:sp>
        <p:nvSpPr>
          <p:cNvPr id="8" name="Text 6"/>
          <p:cNvSpPr/>
          <p:nvPr/>
        </p:nvSpPr>
        <p:spPr>
          <a:xfrm>
            <a:off x="812800" y="4709164"/>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AB0"/>
                </a:solidFill>
                <a:latin typeface="IBM Plex Sans" pitchFamily="34" charset="0"/>
                <a:ea typeface="IBM Plex Sans" pitchFamily="34" charset="-122"/>
                <a:cs typeface="IBM Plex Sans" pitchFamily="34" charset="-120"/>
              </a:rPr>
              <a:t>Flutter Internship Program · October 2026</a:t>
            </a:r>
            <a:endParaRPr lang="en-US" sz="1300" dirty="0"/>
          </a:p>
        </p:txBody>
      </p:sp>
    </p:spTree>
  </p:cSld>
  <p:clrMapOvr>
    <a:masterClrMapping/>
  </p:clrMapOvr>
</p:sld>
</file>

<file path=ppt/theme/theme1.xml><?xml version="1.0" encoding="utf-8"?>
<a:theme xmlns:a="http://schemas.openxmlformats.org/drawingml/2006/main" name="Expense Tracker">
  <a:themeElements>
    <a:clrScheme name="Expense Tracker">
      <a:dk1>
        <a:srgbClr val="16232A"/>
      </a:dk1>
      <a:lt1>
        <a:srgbClr val="F7F6F2"/>
      </a:lt1>
      <a:dk2>
        <a:srgbClr val="4E585C"/>
      </a:dk2>
      <a:lt2>
        <a:srgbClr val="E1E1DE"/>
      </a:lt2>
      <a:accent1>
        <a:srgbClr val="0B6E63"/>
      </a:accent1>
      <a:accent2>
        <a:srgbClr val="7FC8BC"/>
      </a:accent2>
      <a:accent3>
        <a:srgbClr val="4A5860"/>
      </a:accent3>
      <a:accent4>
        <a:srgbClr val="6B7880"/>
      </a:accent4>
      <a:accent5>
        <a:srgbClr val="C3CDD0"/>
      </a:accent5>
      <a:accent6>
        <a:srgbClr val="9AAAB0"/>
      </a:accent6>
      <a:hlink>
        <a:srgbClr val="0563C1"/>
      </a:hlink>
      <a:folHlink>
        <a:srgbClr val="954F72"/>
      </a:folHlink>
    </a:clrScheme>
    <a:fontScheme name="Expense Tracker">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Expense Tracker</dc:title>
  <dc:subject/>
  <dc:creator/>
  <cp:lastModifiedBy/>
  <cp:revision>1</cp:revision>
  <dcterms:created xsi:type="dcterms:W3CDTF">2026-10-14T05:01:18Z</dcterms:created>
  <dcterms:modified xsi:type="dcterms:W3CDTF">2026-10-14T05:01:18Z</dcterms:modified>
</cp:coreProperties>
</file>
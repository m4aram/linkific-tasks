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8" r:id="rId19"/>
    <p:sldId id="269" r:id="rId20"/>
    <p:sldId id="262" r:id="rId8"/>
    <p:sldId id="263" r:id="rId9"/>
    <p:sldId id="270" r:id="rId21"/>
    <p:sldId id="271" r:id="rId22"/>
    <p:sldId id="272" r:id="rId23"/>
    <p:sldId id="264" r:id="rId10"/>
    <p:sldId id="273" r:id="rId24"/>
    <p:sldId id="274" r:id="rId25"/>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 Good morning, everyone. Thank you for joining me. My name is Maram Sharaf, and today I am presenting my final project from the Flutter internship: Expense Tracker, a secure mobile application that helps people record their daily expenses and understand where their money goes.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 The presentation takes about twenty-five minutes and has five parts. First, a short introduction to the problem and my solution. Then the main part, a ten-minute live demo with all features, a full user flow and the edge cases. After that, five minutes of technical discussion: architecture, the challenges I solved and some code. Then how I organised the work and used Git, and finally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Most people know their income, but not exactly where it is spent. Small daily purchases such as coffee, transport and deliveries add up without being noticed. Notebooks and spreadsheets take effort, so people usually stop using them. And financial data is personal, so it must be protected. My objective was to build a fast, secure and easy-to-use mobile app for recording and analysing personal expenses.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Expense Tracker answers this with six capabilities: secure accounts with sign-up, login and password reset; complete expense management in six categories; a monthly summary with a category breakdown; search, filters and sorting; safe deletion with Undo; and light and dark themes. Let me show you how it works.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These are the main screens: login, account creation, password reset, the home screen with the summary and filters, the add-expense form, and the menu for theme and logout. Now let me show them live.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 The demo has two parts. First I will walk through every feature as one realistic user journey. Then I will deliberately try to break the app, to show how it handles edge cases. I am using the release build on an Android device.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The app follows a layered architecture. The UI layer, screens and widgets, only draws the interface. The state layer uses Provider to hold the app state and business logic. The service layer is the only code that talks to the backend. The backend is Supabase: authentication plus a PostgreSQL database. Security is enforced in the database itself with Row Level Security, so each user can only access their own rows, even if someone calls the API directly.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Briefly, the stack: Flutter for one codebase on Android and iOS, Provider for state, Supabase for authentication and a REST API on PostgreSQL, SharedPreferences for the theme choice, and the official test and lint packages for quality.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To make sure it all works: 40 automated unit and widget tests pass, static analysis reports zero issues, every request has a 20-second timeout, and I found and fixed 13 bugs during feature completion. I also tested the release APK on a Pixel 7a with a 24-step manual checklist.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on the slide, then about 6 min on the phone) This is the journey I will follow: from creating an account to logging out. Switch to the phone now and follow Part A of the demo script in PRESENTATION.md. The demo account already has seven expenses, so the summary and filters show real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The most important things I learned: separate an app into clear layers; enforce security in the database, not only in the app; handle edge cases before release; always test the release build on a real device; plan in milestones and commit small changes; and write documentation as part of the work. Next, I would like to add monthly budgets with alerts, spending charts, receipt photos, and Excel export with offline sync.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 min Q&amp;A) Thank you for your attention. I would be happy to answer your questions. Prepared answers are in PRESENTATION.md, section 6. If you do not know an answer: 'That is a good question. I have not tried that yet, but this is how I would approach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on the slide, then about 2 min 40 s on the phone) Now the second part: what happens when things go wrong. Follow Part B of the demo script: wrong password, duplicate email, empty form, invalid amounts, airplane mode, unsaved-changes warning and Undo. Then return to the slides: 'Let me now explain how the application is built.'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s) Here are three real problems I solved. First, parsing money: people type commas or dots, and Dart's parser also accepts values like NaN and 1e5, so I wrote my own validator, which I will show next. Second, Supabase hides duplicate sign-ups for privacy: it returns a user with no identities instead of an error, so the user thought registration worked. I check for that and show a clear message. Third, the release APK could not reach the internet, because the INTERNET permission was only in the debug manifest. I fixed it and re-tested on a real phone. The lesson: always test the release build.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This is the real code from validators.dart. First, normalizeAmount decides what a comma means: one comma followed by one or two digits is a decimal comma, like 12,50; any other comma is a thousands separator, like 1,250.00. Then parseAmount checks a strict regular expression: only digits with up to two decimals. This whitelist rejects NaN, Infinity, 1e5 and negative numbers with one rule, instead of chasing special cases. Finally, the amount validator adds the business limits: greater than zero and at most one million. The form and the unit tests use exactly the same code.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 the left is the database side. user_id has the default auth.uid(), so the database fills it, not the app. Row Level Security is enabled, and every policy checks that auth.uid() equals user_id, for select, insert, update and delete. On the right is the app side. addExpense calls the service with a 20-second timeout and inserts the result. The shared _save method prevents double submits, sets isSaving so the button shows a spinner, recalculates the totals once, turns any error into a friendly message, and the finally block always resets the loading state.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This was an individual project, so I covered every role myself: planning and UX, Flutter development, the Supabase backend, testing, and release and documentation. The work came as daily tasks from the program, and I delivered it in three milestones: version 1.0 with the core app, 1.1 with feature completion and tests, and 1.2 with the release build and full documentation. The mentors reviewed each task, and I used their feedback in the next 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For version control I used Git with a GitHub repository. For each task I built a small change locally, ran flutter analyze and flutter test, committed with a clear message and pushed. The milestones are versions 1.0, 1.1 and 1.2. Secrets such as the signing key are excluded with .gitignore. Because I worked alone, I did not need pull requests, but in a team I would use a feature branch for every task, pull requests with code review, CI running the tests, and rebasing on main to resolve conflicts. [Adjust this slide to match exactly how you used Git.]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2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1623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2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1623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B6E63"/>
          </a:solidFill>
          <a:ln/>
        </p:spPr>
      </p:sp>
      <p:sp>
        <p:nvSpPr>
          <p:cNvPr id="3" name="Text 1"/>
          <p:cNvSpPr/>
          <p:nvPr/>
        </p:nvSpPr>
        <p:spPr>
          <a:xfrm>
            <a:off x="812800" y="2075180"/>
            <a:ext cx="8031734"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7FC8BC"/>
                </a:solidFill>
                <a:latin typeface="IBM Plex Sans" pitchFamily="34" charset="0"/>
                <a:ea typeface="IBM Plex Sans" pitchFamily="34" charset="-122"/>
                <a:cs typeface="IBM Plex Sans" pitchFamily="34" charset="-120"/>
              </a:rPr>
              <a:t>FINAL PROJECT PRESENTATION</a:t>
            </a:r>
            <a:endParaRPr lang="en-US" sz="1300" dirty="0"/>
          </a:p>
        </p:txBody>
      </p:sp>
      <p:sp>
        <p:nvSpPr>
          <p:cNvPr id="4" name="Text 2"/>
          <p:cNvSpPr/>
          <p:nvPr>
            <p:ph type="title"/>
          </p:nvPr>
        </p:nvSpPr>
        <p:spPr>
          <a:xfrm>
            <a:off x="812800" y="2484120"/>
            <a:ext cx="8031734" cy="878840"/>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F7F6F2"/>
                </a:solidFill>
                <a:latin typeface="Source Serif 4" pitchFamily="18" charset="0"/>
                <a:ea typeface="Source Serif 4" pitchFamily="18" charset="-122"/>
                <a:cs typeface="Source Serif 4" pitchFamily="18" charset="-120"/>
              </a:rPr>
              <a:t>Expense Tracker</a:t>
            </a:r>
            <a:endParaRPr lang="en-US" sz="6400" dirty="0"/>
          </a:p>
        </p:txBody>
      </p:sp>
      <p:sp>
        <p:nvSpPr>
          <p:cNvPr id="5" name="Text 3"/>
          <p:cNvSpPr/>
          <p:nvPr/>
        </p:nvSpPr>
        <p:spPr>
          <a:xfrm>
            <a:off x="812800" y="3515360"/>
            <a:ext cx="8031734"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3CDD0"/>
                </a:solidFill>
                <a:latin typeface="IBM Plex Sans" pitchFamily="34" charset="0"/>
                <a:ea typeface="IBM Plex Sans" pitchFamily="34" charset="-122"/>
                <a:cs typeface="IBM Plex Sans" pitchFamily="34" charset="-120"/>
              </a:rPr>
              <a:t>A secure mobile application for tracking personal expenses</a:t>
            </a:r>
            <a:endParaRPr lang="en-US" sz="2000" dirty="0"/>
          </a:p>
        </p:txBody>
      </p:sp>
      <p:sp>
        <p:nvSpPr>
          <p:cNvPr id="6" name="Shape 4"/>
          <p:cNvSpPr/>
          <p:nvPr/>
        </p:nvSpPr>
        <p:spPr>
          <a:xfrm>
            <a:off x="812800" y="4036060"/>
            <a:ext cx="762000" cy="25400"/>
          </a:xfrm>
          <a:prstGeom prst="rect">
            <a:avLst/>
          </a:prstGeom>
          <a:solidFill>
            <a:srgbClr val="0B6E63"/>
          </a:solidFill>
          <a:ln/>
        </p:spPr>
      </p:sp>
      <p:sp>
        <p:nvSpPr>
          <p:cNvPr id="7" name="Text 5"/>
          <p:cNvSpPr/>
          <p:nvPr/>
        </p:nvSpPr>
        <p:spPr>
          <a:xfrm>
            <a:off x="812800" y="4239260"/>
            <a:ext cx="803173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Presented by: Maram Sharaf</a:t>
            </a:r>
            <a:endParaRPr lang="en-US" sz="1400" dirty="0"/>
          </a:p>
        </p:txBody>
      </p:sp>
      <p:sp>
        <p:nvSpPr>
          <p:cNvPr id="8" name="Text 6"/>
          <p:cNvSpPr/>
          <p:nvPr/>
        </p:nvSpPr>
        <p:spPr>
          <a:xfrm>
            <a:off x="812800" y="4551680"/>
            <a:ext cx="803173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AB0"/>
                </a:solidFill>
                <a:latin typeface="IBM Plex Sans" pitchFamily="34" charset="0"/>
                <a:ea typeface="IBM Plex Sans" pitchFamily="34" charset="-122"/>
                <a:cs typeface="IBM Plex Sans" pitchFamily="34" charset="-120"/>
              </a:rPr>
              <a:t>Flutter Internship Program · October 2026</a:t>
            </a:r>
            <a:endParaRPr lang="en-US" sz="1300" dirty="0"/>
          </a:p>
        </p:txBody>
      </p:sp>
      <p:pic>
        <p:nvPicPr>
          <p:cNvPr id="9" name="Image 0" descr="Expense Tracker login screen">    </p:cNvPr>
          <p:cNvPicPr>
            <a:picLocks noChangeAspect="1"/>
          </p:cNvPicPr>
          <p:nvPr/>
        </p:nvPicPr>
        <p:blipFill>
          <a:blip r:embed="rId1"/>
          <a:stretch>
            <a:fillRect/>
          </a:stretch>
        </p:blipFill>
        <p:spPr>
          <a:xfrm>
            <a:off x="9258300" y="1107886"/>
            <a:ext cx="2082800" cy="4642228"/>
          </a:xfrm>
          <a:custGeom>
            <a:avLst/>
            <a:gdLst/>
            <a:ahLst/>
            <a:cxnLst/>
            <a:rect l="l" t="t" r="r" b="b"/>
            <a:pathLst>
              <a:path w="2082800" h="4642228">
                <a:moveTo>
                  <a:pt x="0" y="117664"/>
                </a:moveTo>
                <a:arcTo wR="165100" hR="165100" stAng="10800000" swAng="2727222"/>
                <a:lnTo>
                  <a:pt x="2033515" y="0"/>
                </a:lnTo>
                <a:arcTo wR="165100" hR="165100" stAng="18872778" swAng="2727222"/>
                <a:lnTo>
                  <a:pt x="2082800" y="4524564"/>
                </a:lnTo>
                <a:arcTo wR="165100" hR="165100" stAng="0" swAng="2727222"/>
                <a:lnTo>
                  <a:pt x="49285" y="4642228"/>
                </a:lnTo>
                <a:arcTo wR="165100" hR="165100" stAng="8072778" swAng="2727222"/>
                <a:close/>
              </a:path>
            </a:pathLst>
          </a:custGeom>
        </p:spPr>
      </p:pic>
      <p:sp>
        <p:nvSpPr>
          <p:cNvPr id="10" name="Shape 7"/>
          <p:cNvSpPr/>
          <p:nvPr/>
        </p:nvSpPr>
        <p:spPr>
          <a:xfrm>
            <a:off x="9239250" y="1041400"/>
            <a:ext cx="2120900" cy="4775200"/>
          </a:xfrm>
          <a:prstGeom prst="roundRect">
            <a:avLst>
              <a:gd name="adj" fmla="val 8683"/>
            </a:avLst>
          </a:prstGeom>
          <a:noFill/>
          <a:ln w="38100">
            <a:solidFill>
              <a:srgbClr val="2E3E4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AGENDA</a:t>
            </a:r>
            <a:endParaRPr lang="en-US" sz="1200" dirty="0"/>
          </a:p>
        </p:txBody>
      </p:sp>
      <p:sp>
        <p:nvSpPr>
          <p:cNvPr id="3" name="Text 1"/>
          <p:cNvSpPr/>
          <p:nvPr>
            <p:ph type="title"/>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Today’s presentation · 25 minutes</a:t>
            </a:r>
            <a:endParaRPr lang="en-US" sz="3200" dirty="0"/>
          </a:p>
        </p:txBody>
      </p:sp>
      <p:sp>
        <p:nvSpPr>
          <p:cNvPr id="4" name="Shape 2"/>
          <p:cNvSpPr/>
          <p:nvPr/>
        </p:nvSpPr>
        <p:spPr>
          <a:xfrm>
            <a:off x="812800" y="1933575"/>
            <a:ext cx="5283200" cy="0"/>
          </a:xfrm>
          <a:prstGeom prst="line">
            <a:avLst/>
          </a:prstGeom>
          <a:noFill/>
          <a:ln w="6350">
            <a:solidFill>
              <a:srgbClr val="D5D9D4"/>
            </a:solidFill>
            <a:prstDash val="solid"/>
          </a:ln>
        </p:spPr>
        <p:txBody>
          <a:bodyPr/>
          <a:p/>
        </p:txBody>
      </p:sp>
      <p:sp>
        <p:nvSpPr>
          <p:cNvPr id="5" name="Text 3"/>
          <p:cNvSpPr/>
          <p:nvPr/>
        </p:nvSpPr>
        <p:spPr>
          <a:xfrm>
            <a:off x="812800" y="2113280"/>
            <a:ext cx="457200" cy="381000"/>
          </a:xfrm>
          <a:prstGeom prst="rect">
            <a:avLst/>
          </a:prstGeom>
          <a:noFill/>
          <a:ln/>
        </p:spPr>
        <p:txBody>
          <a:bodyPr wrap="square" lIns="0" tIns="0" rIns="0" bIns="0" rtlCol="0" anchor="t"/>
          <a:lstStyle/>
          <a:p>
            <a:pPr algn="l" indent="0" marL="0">
              <a:lnSpc>
                <a:spcPts val="2800"/>
              </a:lnSpc>
              <a:buNone/>
            </a:pPr>
            <a:r>
              <a:rPr lang="en-US" sz="2000" b="1" dirty="0">
                <a:solidFill>
                  <a:srgbClr val="0B6E63"/>
                </a:solidFill>
                <a:latin typeface="Source Serif 4" pitchFamily="18" charset="0"/>
                <a:ea typeface="Source Serif 4" pitchFamily="18" charset="-122"/>
                <a:cs typeface="Source Serif 4" pitchFamily="18" charset="-120"/>
              </a:rPr>
              <a:t>01</a:t>
            </a:r>
            <a:endParaRPr lang="en-US" sz="2000" dirty="0"/>
          </a:p>
        </p:txBody>
      </p:sp>
      <p:sp>
        <p:nvSpPr>
          <p:cNvPr id="6" name="Text 4"/>
          <p:cNvSpPr/>
          <p:nvPr/>
        </p:nvSpPr>
        <p:spPr>
          <a:xfrm>
            <a:off x="1293892" y="2159000"/>
            <a:ext cx="4663440" cy="309880"/>
          </a:xfrm>
          <a:prstGeom prst="rect">
            <a:avLst/>
          </a:prstGeom>
          <a:noFill/>
          <a:ln/>
        </p:spPr>
        <p:txBody>
          <a:bodyPr wrap="square" lIns="0" tIns="0" rIns="0" bIns="0" rtlCol="0" anchor="t"/>
          <a:lstStyle/>
          <a:p>
            <a:pPr algn="l" indent="0" marL="0">
              <a:lnSpc>
                <a:spcPts val="2240"/>
              </a:lnSpc>
              <a:buNone/>
            </a:pPr>
            <a:r>
              <a:rPr lang="en-US" sz="1500" dirty="0">
                <a:solidFill>
                  <a:srgbClr val="16232A"/>
                </a:solidFill>
                <a:latin typeface="IBM Plex Sans" pitchFamily="34" charset="0"/>
                <a:ea typeface="IBM Plex Sans" pitchFamily="34" charset="-122"/>
                <a:cs typeface="IBM Plex Sans" pitchFamily="34" charset="-120"/>
              </a:rPr>
              <a:t>Introduction: problem and solution · 2 min</a:t>
            </a:r>
            <a:endParaRPr lang="en-US" sz="1600" dirty="0"/>
          </a:p>
        </p:txBody>
      </p:sp>
      <p:sp>
        <p:nvSpPr>
          <p:cNvPr id="7" name="Shape 5"/>
          <p:cNvSpPr/>
          <p:nvPr/>
        </p:nvSpPr>
        <p:spPr>
          <a:xfrm>
            <a:off x="6096000" y="1933575"/>
            <a:ext cx="5283200" cy="0"/>
          </a:xfrm>
          <a:prstGeom prst="line">
            <a:avLst/>
          </a:prstGeom>
          <a:noFill/>
          <a:ln w="6350">
            <a:solidFill>
              <a:srgbClr val="D5D9D4"/>
            </a:solidFill>
            <a:prstDash val="solid"/>
          </a:ln>
        </p:spPr>
        <p:txBody>
          <a:bodyPr/>
          <a:p/>
        </p:txBody>
      </p:sp>
      <p:sp>
        <p:nvSpPr>
          <p:cNvPr id="8" name="Text 6"/>
          <p:cNvSpPr/>
          <p:nvPr/>
        </p:nvSpPr>
        <p:spPr>
          <a:xfrm>
            <a:off x="6096000" y="2113280"/>
            <a:ext cx="457200" cy="381000"/>
          </a:xfrm>
          <a:prstGeom prst="rect">
            <a:avLst/>
          </a:prstGeom>
          <a:noFill/>
          <a:ln/>
        </p:spPr>
        <p:txBody>
          <a:bodyPr wrap="square" lIns="0" tIns="0" rIns="0" bIns="0" rtlCol="0" anchor="t"/>
          <a:lstStyle/>
          <a:p>
            <a:pPr algn="l" indent="0" marL="0">
              <a:lnSpc>
                <a:spcPts val="2800"/>
              </a:lnSpc>
              <a:buNone/>
            </a:pPr>
            <a:r>
              <a:rPr lang="en-US" sz="2000" b="1" dirty="0">
                <a:solidFill>
                  <a:srgbClr val="0B6E63"/>
                </a:solidFill>
                <a:latin typeface="Source Serif 4" pitchFamily="18" charset="0"/>
                <a:ea typeface="Source Serif 4" pitchFamily="18" charset="-122"/>
                <a:cs typeface="Source Serif 4" pitchFamily="18" charset="-120"/>
              </a:rPr>
              <a:t>04</a:t>
            </a:r>
            <a:endParaRPr lang="en-US" sz="2000" dirty="0"/>
          </a:p>
        </p:txBody>
      </p:sp>
      <p:sp>
        <p:nvSpPr>
          <p:cNvPr id="9" name="Text 7"/>
          <p:cNvSpPr/>
          <p:nvPr/>
        </p:nvSpPr>
        <p:spPr>
          <a:xfrm>
            <a:off x="6577092" y="2159000"/>
            <a:ext cx="4663440" cy="309880"/>
          </a:xfrm>
          <a:prstGeom prst="rect">
            <a:avLst/>
          </a:prstGeom>
          <a:noFill/>
          <a:ln/>
        </p:spPr>
        <p:txBody>
          <a:bodyPr wrap="square" lIns="0" tIns="0" rIns="0" bIns="0" rtlCol="0" anchor="t"/>
          <a:lstStyle/>
          <a:p>
            <a:pPr algn="l" indent="0" marL="0">
              <a:lnSpc>
                <a:spcPts val="2240"/>
              </a:lnSpc>
              <a:buNone/>
            </a:pPr>
            <a:r>
              <a:rPr lang="en-US" sz="1500" dirty="0">
                <a:solidFill>
                  <a:srgbClr val="16232A"/>
                </a:solidFill>
                <a:latin typeface="IBM Plex Sans" pitchFamily="34" charset="0"/>
                <a:ea typeface="IBM Plex Sans" pitchFamily="34" charset="-122"/>
                <a:cs typeface="IBM Plex Sans" pitchFamily="34" charset="-120"/>
              </a:rPr>
              <a:t>Work division, Git workflow and learnings · 3 min</a:t>
            </a:r>
            <a:endParaRPr lang="en-US" sz="1600" dirty="0"/>
          </a:p>
        </p:txBody>
      </p:sp>
      <p:sp>
        <p:nvSpPr>
          <p:cNvPr id="10" name="Shape 8"/>
          <p:cNvSpPr/>
          <p:nvPr/>
        </p:nvSpPr>
        <p:spPr>
          <a:xfrm>
            <a:off x="812800" y="2649855"/>
            <a:ext cx="5283200" cy="0"/>
          </a:xfrm>
          <a:prstGeom prst="line">
            <a:avLst/>
          </a:prstGeom>
          <a:noFill/>
          <a:ln w="6350">
            <a:solidFill>
              <a:srgbClr val="D5D9D4"/>
            </a:solidFill>
            <a:prstDash val="solid"/>
          </a:ln>
        </p:spPr>
        <p:txBody>
          <a:bodyPr/>
          <a:p/>
        </p:txBody>
      </p:sp>
      <p:sp>
        <p:nvSpPr>
          <p:cNvPr id="11" name="Text 9"/>
          <p:cNvSpPr/>
          <p:nvPr/>
        </p:nvSpPr>
        <p:spPr>
          <a:xfrm>
            <a:off x="812800" y="2829560"/>
            <a:ext cx="457200" cy="381000"/>
          </a:xfrm>
          <a:prstGeom prst="rect">
            <a:avLst/>
          </a:prstGeom>
          <a:noFill/>
          <a:ln/>
        </p:spPr>
        <p:txBody>
          <a:bodyPr wrap="square" lIns="0" tIns="0" rIns="0" bIns="0" rtlCol="0" anchor="t"/>
          <a:lstStyle/>
          <a:p>
            <a:pPr algn="l" indent="0" marL="0">
              <a:lnSpc>
                <a:spcPts val="2800"/>
              </a:lnSpc>
              <a:buNone/>
            </a:pPr>
            <a:r>
              <a:rPr lang="en-US" sz="2000" b="1" dirty="0">
                <a:solidFill>
                  <a:srgbClr val="0B6E63"/>
                </a:solidFill>
                <a:latin typeface="Source Serif 4" pitchFamily="18" charset="0"/>
                <a:ea typeface="Source Serif 4" pitchFamily="18" charset="-122"/>
                <a:cs typeface="Source Serif 4" pitchFamily="18" charset="-120"/>
              </a:rPr>
              <a:t>02</a:t>
            </a:r>
            <a:endParaRPr lang="en-US" sz="2000" dirty="0"/>
          </a:p>
        </p:txBody>
      </p:sp>
      <p:sp>
        <p:nvSpPr>
          <p:cNvPr id="12" name="Text 10"/>
          <p:cNvSpPr/>
          <p:nvPr/>
        </p:nvSpPr>
        <p:spPr>
          <a:xfrm>
            <a:off x="1293892" y="2875280"/>
            <a:ext cx="4663440" cy="309880"/>
          </a:xfrm>
          <a:prstGeom prst="rect">
            <a:avLst/>
          </a:prstGeom>
          <a:noFill/>
          <a:ln/>
        </p:spPr>
        <p:txBody>
          <a:bodyPr wrap="square" lIns="0" tIns="0" rIns="0" bIns="0" rtlCol="0" anchor="t"/>
          <a:lstStyle/>
          <a:p>
            <a:pPr algn="l" indent="0" marL="0">
              <a:lnSpc>
                <a:spcPts val="2240"/>
              </a:lnSpc>
              <a:buNone/>
            </a:pPr>
            <a:r>
              <a:rPr lang="en-US" sz="1500" dirty="0">
                <a:solidFill>
                  <a:srgbClr val="16232A"/>
                </a:solidFill>
                <a:latin typeface="IBM Plex Sans" pitchFamily="34" charset="0"/>
                <a:ea typeface="IBM Plex Sans" pitchFamily="34" charset="-122"/>
                <a:cs typeface="IBM Plex Sans" pitchFamily="34" charset="-120"/>
              </a:rPr>
              <a:t>Live demo: features, user flow, edge cases · 10 min</a:t>
            </a:r>
            <a:endParaRPr lang="en-US" sz="1600" dirty="0"/>
          </a:p>
        </p:txBody>
      </p:sp>
      <p:sp>
        <p:nvSpPr>
          <p:cNvPr id="13" name="Shape 11"/>
          <p:cNvSpPr/>
          <p:nvPr/>
        </p:nvSpPr>
        <p:spPr>
          <a:xfrm>
            <a:off x="6096000" y="2649855"/>
            <a:ext cx="5283200" cy="0"/>
          </a:xfrm>
          <a:prstGeom prst="line">
            <a:avLst/>
          </a:prstGeom>
          <a:noFill/>
          <a:ln w="6350">
            <a:solidFill>
              <a:srgbClr val="D5D9D4"/>
            </a:solidFill>
            <a:prstDash val="solid"/>
          </a:ln>
        </p:spPr>
        <p:txBody>
          <a:bodyPr/>
          <a:p/>
        </p:txBody>
      </p:sp>
      <p:sp>
        <p:nvSpPr>
          <p:cNvPr id="14" name="Text 12"/>
          <p:cNvSpPr/>
          <p:nvPr/>
        </p:nvSpPr>
        <p:spPr>
          <a:xfrm>
            <a:off x="6096000" y="2829560"/>
            <a:ext cx="457200" cy="381000"/>
          </a:xfrm>
          <a:prstGeom prst="rect">
            <a:avLst/>
          </a:prstGeom>
          <a:noFill/>
          <a:ln/>
        </p:spPr>
        <p:txBody>
          <a:bodyPr wrap="square" lIns="0" tIns="0" rIns="0" bIns="0" rtlCol="0" anchor="t"/>
          <a:lstStyle/>
          <a:p>
            <a:pPr algn="l" indent="0" marL="0">
              <a:lnSpc>
                <a:spcPts val="2800"/>
              </a:lnSpc>
              <a:buNone/>
            </a:pPr>
            <a:r>
              <a:rPr lang="en-US" sz="2000" b="1" dirty="0">
                <a:solidFill>
                  <a:srgbClr val="0B6E63"/>
                </a:solidFill>
                <a:latin typeface="Source Serif 4" pitchFamily="18" charset="0"/>
                <a:ea typeface="Source Serif 4" pitchFamily="18" charset="-122"/>
                <a:cs typeface="Source Serif 4" pitchFamily="18" charset="-120"/>
              </a:rPr>
              <a:t>05</a:t>
            </a:r>
            <a:endParaRPr lang="en-US" sz="2000" dirty="0"/>
          </a:p>
        </p:txBody>
      </p:sp>
      <p:sp>
        <p:nvSpPr>
          <p:cNvPr id="15" name="Text 13"/>
          <p:cNvSpPr/>
          <p:nvPr/>
        </p:nvSpPr>
        <p:spPr>
          <a:xfrm>
            <a:off x="6577092" y="2875280"/>
            <a:ext cx="4663440" cy="309880"/>
          </a:xfrm>
          <a:prstGeom prst="rect">
            <a:avLst/>
          </a:prstGeom>
          <a:noFill/>
          <a:ln/>
        </p:spPr>
        <p:txBody>
          <a:bodyPr wrap="square" lIns="0" tIns="0" rIns="0" bIns="0" rtlCol="0" anchor="t"/>
          <a:lstStyle/>
          <a:p>
            <a:pPr algn="l" indent="0" marL="0">
              <a:lnSpc>
                <a:spcPts val="2240"/>
              </a:lnSpc>
              <a:buNone/>
            </a:pPr>
            <a:r>
              <a:rPr lang="en-US" sz="1500" dirty="0">
                <a:solidFill>
                  <a:srgbClr val="16232A"/>
                </a:solidFill>
                <a:latin typeface="IBM Plex Sans" pitchFamily="34" charset="0"/>
                <a:ea typeface="IBM Plex Sans" pitchFamily="34" charset="-122"/>
                <a:cs typeface="IBM Plex Sans" pitchFamily="34" charset="-120"/>
              </a:rPr>
              <a:t>Questions and answers · 5 min</a:t>
            </a:r>
            <a:endParaRPr lang="en-US" sz="1600" dirty="0"/>
          </a:p>
        </p:txBody>
      </p:sp>
      <p:sp>
        <p:nvSpPr>
          <p:cNvPr id="16" name="Shape 14"/>
          <p:cNvSpPr/>
          <p:nvPr/>
        </p:nvSpPr>
        <p:spPr>
          <a:xfrm>
            <a:off x="812800" y="3366135"/>
            <a:ext cx="5283200" cy="0"/>
          </a:xfrm>
          <a:prstGeom prst="line">
            <a:avLst/>
          </a:prstGeom>
          <a:noFill/>
          <a:ln w="6350">
            <a:solidFill>
              <a:srgbClr val="D5D9D4"/>
            </a:solidFill>
            <a:prstDash val="solid"/>
          </a:ln>
        </p:spPr>
        <p:txBody>
          <a:bodyPr/>
          <a:p/>
        </p:txBody>
      </p:sp>
      <p:sp>
        <p:nvSpPr>
          <p:cNvPr id="17" name="Shape 15"/>
          <p:cNvSpPr/>
          <p:nvPr/>
        </p:nvSpPr>
        <p:spPr>
          <a:xfrm>
            <a:off x="812800" y="4081145"/>
            <a:ext cx="5283200" cy="0"/>
          </a:xfrm>
          <a:prstGeom prst="line">
            <a:avLst/>
          </a:prstGeom>
          <a:noFill/>
          <a:ln w="6350">
            <a:solidFill>
              <a:srgbClr val="D5D9D4"/>
            </a:solidFill>
            <a:prstDash val="solid"/>
          </a:ln>
        </p:spPr>
        <p:txBody>
          <a:bodyPr/>
          <a:p/>
        </p:txBody>
      </p:sp>
      <p:sp>
        <p:nvSpPr>
          <p:cNvPr id="18" name="Text 16"/>
          <p:cNvSpPr/>
          <p:nvPr/>
        </p:nvSpPr>
        <p:spPr>
          <a:xfrm>
            <a:off x="812800" y="3545840"/>
            <a:ext cx="457200" cy="381000"/>
          </a:xfrm>
          <a:prstGeom prst="rect">
            <a:avLst/>
          </a:prstGeom>
          <a:noFill/>
          <a:ln/>
        </p:spPr>
        <p:txBody>
          <a:bodyPr wrap="square" lIns="0" tIns="0" rIns="0" bIns="0" rtlCol="0" anchor="t"/>
          <a:lstStyle/>
          <a:p>
            <a:pPr algn="l" indent="0" marL="0">
              <a:lnSpc>
                <a:spcPts val="2800"/>
              </a:lnSpc>
              <a:buNone/>
            </a:pPr>
            <a:r>
              <a:rPr lang="en-US" sz="2000" b="1" dirty="0">
                <a:solidFill>
                  <a:srgbClr val="0B6E63"/>
                </a:solidFill>
                <a:latin typeface="Source Serif 4" pitchFamily="18" charset="0"/>
                <a:ea typeface="Source Serif 4" pitchFamily="18" charset="-122"/>
                <a:cs typeface="Source Serif 4" pitchFamily="18" charset="-120"/>
              </a:rPr>
              <a:t>03</a:t>
            </a:r>
            <a:endParaRPr lang="en-US" sz="2000" dirty="0"/>
          </a:p>
        </p:txBody>
      </p:sp>
      <p:sp>
        <p:nvSpPr>
          <p:cNvPr id="19" name="Text 17"/>
          <p:cNvSpPr/>
          <p:nvPr/>
        </p:nvSpPr>
        <p:spPr>
          <a:xfrm>
            <a:off x="1293892" y="3591560"/>
            <a:ext cx="4663440" cy="309880"/>
          </a:xfrm>
          <a:prstGeom prst="rect">
            <a:avLst/>
          </a:prstGeom>
          <a:noFill/>
          <a:ln/>
        </p:spPr>
        <p:txBody>
          <a:bodyPr wrap="square" lIns="0" tIns="0" rIns="0" bIns="0" rtlCol="0" anchor="t"/>
          <a:lstStyle/>
          <a:p>
            <a:pPr algn="l" indent="0" marL="0">
              <a:lnSpc>
                <a:spcPts val="2240"/>
              </a:lnSpc>
              <a:buNone/>
            </a:pPr>
            <a:r>
              <a:rPr lang="en-US" sz="1500" dirty="0">
                <a:solidFill>
                  <a:srgbClr val="16232A"/>
                </a:solidFill>
                <a:latin typeface="IBM Plex Sans" pitchFamily="34" charset="0"/>
                <a:ea typeface="IBM Plex Sans" pitchFamily="34" charset="-122"/>
                <a:cs typeface="IBM Plex Sans" pitchFamily="34" charset="-120"/>
              </a:rPr>
              <a:t>Technical: architecture, challenges, code · 5 min</a:t>
            </a:r>
            <a:endParaRPr lang="en-US" sz="1600" dirty="0"/>
          </a:p>
        </p:txBody>
      </p:sp>
      <p:sp>
        <p:nvSpPr>
          <p:cNvPr id="20" name="Shape 18"/>
          <p:cNvSpPr/>
          <p:nvPr/>
        </p:nvSpPr>
        <p:spPr>
          <a:xfrm>
            <a:off x="6096000" y="3366135"/>
            <a:ext cx="5283200" cy="0"/>
          </a:xfrm>
          <a:prstGeom prst="line">
            <a:avLst/>
          </a:prstGeom>
          <a:noFill/>
          <a:ln w="6350">
            <a:solidFill>
              <a:srgbClr val="D5D9D4"/>
            </a:solidFill>
            <a:prstDash val="solid"/>
          </a:ln>
        </p:spPr>
        <p:txBody>
          <a:bodyPr/>
          <a:p/>
        </p:txBody>
      </p:sp>
      <p:pic>
        <p:nvPicPr>
          <p:cNvPr id="24" name="Image 0" descr="line">    </p:cNvPr>
          <p:cNvPicPr>
            <a:picLocks noChangeAspect="1"/>
          </p:cNvPicPr>
          <p:nvPr/>
        </p:nvPicPr>
        <p:blipFill>
          <a:blip r:embed="rId1"/>
          <a:srcRect l="-12500" r="-12500" t="0" b="0"/>
          <a:stretch/>
        </p:blipFill>
        <p:spPr>
          <a:xfrm>
            <a:off x="812800" y="6096000"/>
            <a:ext cx="10566400" cy="10160"/>
          </a:xfrm>
          <a:prstGeom prst="rect">
            <a:avLst/>
          </a:prstGeom>
        </p:spPr>
      </p:pic>
      <p:sp>
        <p:nvSpPr>
          <p:cNvPr id="25" name="Text 22"/>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26" name="Text 23"/>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01 · INTRODUCTION · THE PROBLEM</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Small daily expenses are easy to lose track of</a:t>
            </a:r>
            <a:endParaRPr lang="en-US" sz="3200" dirty="0"/>
          </a:p>
        </p:txBody>
      </p:sp>
      <p:sp>
        <p:nvSpPr>
          <p:cNvPr id="4" name="Shape 2"/>
          <p:cNvSpPr/>
          <p:nvPr/>
        </p:nvSpPr>
        <p:spPr>
          <a:xfrm>
            <a:off x="812800" y="1930400"/>
            <a:ext cx="3386614" cy="1955800"/>
          </a:xfrm>
          <a:prstGeom prst="rect">
            <a:avLst/>
          </a:prstGeom>
          <a:solidFill>
            <a:srgbClr val="FFFFFF"/>
          </a:solidFill>
          <a:ln/>
        </p:spPr>
      </p:sp>
      <p:sp>
        <p:nvSpPr>
          <p:cNvPr id="5" name="Shape 3"/>
          <p:cNvSpPr/>
          <p:nvPr/>
        </p:nvSpPr>
        <p:spPr>
          <a:xfrm>
            <a:off x="812800" y="1943100"/>
            <a:ext cx="3386614" cy="0"/>
          </a:xfrm>
          <a:prstGeom prst="line">
            <a:avLst/>
          </a:prstGeom>
          <a:noFill/>
          <a:ln w="25400">
            <a:solidFill>
              <a:srgbClr val="0B6E63"/>
            </a:solidFill>
            <a:prstDash val="solid"/>
          </a:ln>
        </p:spPr>
      </p:sp>
      <p:sp>
        <p:nvSpPr>
          <p:cNvPr id="6" name="Text 4"/>
          <p:cNvSpPr/>
          <p:nvPr/>
        </p:nvSpPr>
        <p:spPr>
          <a:xfrm>
            <a:off x="1066800" y="2209800"/>
            <a:ext cx="2964972"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6232A"/>
                </a:solidFill>
                <a:latin typeface="Source Serif 4" pitchFamily="18" charset="0"/>
                <a:ea typeface="Source Serif 4" pitchFamily="18" charset="-122"/>
                <a:cs typeface="Source Serif 4" pitchFamily="18" charset="-120"/>
              </a:rPr>
              <a:t>Low visibility</a:t>
            </a:r>
            <a:endParaRPr lang="en-US" sz="1900" dirty="0"/>
          </a:p>
        </p:txBody>
      </p:sp>
      <p:sp>
        <p:nvSpPr>
          <p:cNvPr id="7" name="Text 5"/>
          <p:cNvSpPr/>
          <p:nvPr/>
        </p:nvSpPr>
        <p:spPr>
          <a:xfrm>
            <a:off x="1066800" y="2600961"/>
            <a:ext cx="2964972"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860"/>
                </a:solidFill>
                <a:latin typeface="IBM Plex Sans" pitchFamily="34" charset="0"/>
                <a:ea typeface="IBM Plex Sans" pitchFamily="34" charset="-122"/>
                <a:cs typeface="IBM Plex Sans" pitchFamily="34" charset="-120"/>
              </a:rPr>
              <a:t>Individually small purchases accumulate into a large share of monthly income without being noticed.</a:t>
            </a:r>
            <a:endParaRPr lang="en-US" sz="1400" dirty="0"/>
          </a:p>
        </p:txBody>
      </p:sp>
      <p:sp>
        <p:nvSpPr>
          <p:cNvPr id="8" name="Shape 6"/>
          <p:cNvSpPr/>
          <p:nvPr/>
        </p:nvSpPr>
        <p:spPr>
          <a:xfrm>
            <a:off x="4402614" y="1930400"/>
            <a:ext cx="3386693" cy="1955800"/>
          </a:xfrm>
          <a:prstGeom prst="rect">
            <a:avLst/>
          </a:prstGeom>
          <a:solidFill>
            <a:srgbClr val="FFFFFF"/>
          </a:solidFill>
          <a:ln/>
        </p:spPr>
      </p:sp>
      <p:sp>
        <p:nvSpPr>
          <p:cNvPr id="9" name="Shape 7"/>
          <p:cNvSpPr/>
          <p:nvPr/>
        </p:nvSpPr>
        <p:spPr>
          <a:xfrm>
            <a:off x="4402614" y="1943100"/>
            <a:ext cx="3386693" cy="0"/>
          </a:xfrm>
          <a:prstGeom prst="line">
            <a:avLst/>
          </a:prstGeom>
          <a:noFill/>
          <a:ln w="25400">
            <a:solidFill>
              <a:srgbClr val="0B6E63"/>
            </a:solidFill>
            <a:prstDash val="solid"/>
          </a:ln>
        </p:spPr>
      </p:sp>
      <p:sp>
        <p:nvSpPr>
          <p:cNvPr id="10" name="Text 8"/>
          <p:cNvSpPr/>
          <p:nvPr/>
        </p:nvSpPr>
        <p:spPr>
          <a:xfrm>
            <a:off x="4656614" y="2209800"/>
            <a:ext cx="2965054"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6232A"/>
                </a:solidFill>
                <a:latin typeface="Source Serif 4" pitchFamily="18" charset="0"/>
                <a:ea typeface="Source Serif 4" pitchFamily="18" charset="-122"/>
                <a:cs typeface="Source Serif 4" pitchFamily="18" charset="-120"/>
              </a:rPr>
              <a:t>High effort</a:t>
            </a:r>
            <a:endParaRPr lang="en-US" sz="1900" dirty="0"/>
          </a:p>
        </p:txBody>
      </p:sp>
      <p:sp>
        <p:nvSpPr>
          <p:cNvPr id="11" name="Text 9"/>
          <p:cNvSpPr/>
          <p:nvPr/>
        </p:nvSpPr>
        <p:spPr>
          <a:xfrm>
            <a:off x="4656614" y="2600961"/>
            <a:ext cx="2965054"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860"/>
                </a:solidFill>
                <a:latin typeface="IBM Plex Sans" pitchFamily="34" charset="0"/>
                <a:ea typeface="IBM Plex Sans" pitchFamily="34" charset="-122"/>
                <a:cs typeface="IBM Plex Sans" pitchFamily="34" charset="-120"/>
              </a:rPr>
              <a:t>Notebooks and spreadsheets are slow to update, so most people stop recording after a short time.</a:t>
            </a:r>
            <a:endParaRPr lang="en-US" sz="1400" dirty="0"/>
          </a:p>
        </p:txBody>
      </p:sp>
      <p:sp>
        <p:nvSpPr>
          <p:cNvPr id="12" name="Shape 10"/>
          <p:cNvSpPr/>
          <p:nvPr/>
        </p:nvSpPr>
        <p:spPr>
          <a:xfrm>
            <a:off x="7992507" y="1930400"/>
            <a:ext cx="3386693" cy="1955800"/>
          </a:xfrm>
          <a:prstGeom prst="rect">
            <a:avLst/>
          </a:prstGeom>
          <a:solidFill>
            <a:srgbClr val="FFFFFF"/>
          </a:solidFill>
          <a:ln/>
        </p:spPr>
      </p:sp>
      <p:sp>
        <p:nvSpPr>
          <p:cNvPr id="13" name="Shape 11"/>
          <p:cNvSpPr/>
          <p:nvPr/>
        </p:nvSpPr>
        <p:spPr>
          <a:xfrm>
            <a:off x="7992507" y="1943100"/>
            <a:ext cx="3386693" cy="0"/>
          </a:xfrm>
          <a:prstGeom prst="line">
            <a:avLst/>
          </a:prstGeom>
          <a:noFill/>
          <a:ln w="25400">
            <a:solidFill>
              <a:srgbClr val="0B6E63"/>
            </a:solidFill>
            <a:prstDash val="solid"/>
          </a:ln>
        </p:spPr>
      </p:sp>
      <p:sp>
        <p:nvSpPr>
          <p:cNvPr id="14" name="Text 12"/>
          <p:cNvSpPr/>
          <p:nvPr/>
        </p:nvSpPr>
        <p:spPr>
          <a:xfrm>
            <a:off x="8246507" y="2209800"/>
            <a:ext cx="2965054"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6232A"/>
                </a:solidFill>
                <a:latin typeface="Source Serif 4" pitchFamily="18" charset="0"/>
                <a:ea typeface="Source Serif 4" pitchFamily="18" charset="-122"/>
                <a:cs typeface="Source Serif 4" pitchFamily="18" charset="-120"/>
              </a:rPr>
              <a:t>Privacy concerns</a:t>
            </a:r>
            <a:endParaRPr lang="en-US" sz="1900" dirty="0"/>
          </a:p>
        </p:txBody>
      </p:sp>
      <p:sp>
        <p:nvSpPr>
          <p:cNvPr id="15" name="Text 13"/>
          <p:cNvSpPr/>
          <p:nvPr/>
        </p:nvSpPr>
        <p:spPr>
          <a:xfrm>
            <a:off x="8246507" y="2600961"/>
            <a:ext cx="2965054"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860"/>
                </a:solidFill>
                <a:latin typeface="IBM Plex Sans" pitchFamily="34" charset="0"/>
                <a:ea typeface="IBM Plex Sans" pitchFamily="34" charset="-122"/>
                <a:cs typeface="IBM Plex Sans" pitchFamily="34" charset="-120"/>
              </a:rPr>
              <a:t>Financial data is personal and must remain secure and accessible only to its owner.</a:t>
            </a:r>
            <a:endParaRPr lang="en-US" sz="1400" dirty="0"/>
          </a:p>
        </p:txBody>
      </p:sp>
      <p:sp>
        <p:nvSpPr>
          <p:cNvPr id="16" name="Text 14"/>
          <p:cNvSpPr/>
          <p:nvPr/>
        </p:nvSpPr>
        <p:spPr>
          <a:xfrm>
            <a:off x="812800" y="4241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32A"/>
                </a:solidFill>
                <a:latin typeface="IBM Plex Sans" pitchFamily="34" charset="0"/>
                <a:ea typeface="IBM Plex Sans" pitchFamily="34" charset="-122"/>
                <a:cs typeface="IBM Plex Sans" pitchFamily="34" charset="-120"/>
              </a:rPr>
              <a:t>Objective:</a:t>
            </a:r>
            <a:r>
              <a:rPr lang="en-US" sz="1500" dirty="0">
                <a:solidFill>
                  <a:srgbClr val="16232A"/>
                </a:solidFill>
                <a:latin typeface="IBM Plex Sans" pitchFamily="34" charset="0"/>
                <a:ea typeface="IBM Plex Sans" pitchFamily="34" charset="-122"/>
                <a:cs typeface="IBM Plex Sans" pitchFamily="34" charset="-120"/>
              </a:rPr>
              <a:t> build a fast, secure and easy-to-use mobile application for recording and analysing personal expenses.</a:t>
            </a:r>
            <a:endParaRPr lang="en-US" sz="1500" dirty="0"/>
          </a:p>
        </p:txBody>
      </p:sp>
      <p:pic>
        <p:nvPicPr>
          <p:cNvPr id="17" name="Image 0" descr="line">    </p:cNvPr>
          <p:cNvPicPr>
            <a:picLocks noChangeAspect="1"/>
          </p:cNvPicPr>
          <p:nvPr/>
        </p:nvPicPr>
        <p:blipFill>
          <a:blip r:embed="rId1"/>
          <a:srcRect l="-12500" r="-12500" t="0" b="0"/>
          <a:stretch/>
        </p:blipFill>
        <p:spPr>
          <a:xfrm>
            <a:off x="812800" y="6096000"/>
            <a:ext cx="10566400" cy="10160"/>
          </a:xfrm>
          <a:prstGeom prst="rect">
            <a:avLst/>
          </a:prstGeom>
        </p:spPr>
      </p:pic>
      <p:sp>
        <p:nvSpPr>
          <p:cNvPr id="18" name="Text 15"/>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19" name="Text 16"/>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01 · INTRODUCTION · THE SOLUTION</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Six core capabilities</a:t>
            </a:r>
            <a:endParaRPr lang="en-US" sz="3200" dirty="0"/>
          </a:p>
        </p:txBody>
      </p:sp>
      <p:pic>
        <p:nvPicPr>
          <p:cNvPr id="4" name="Image 0" descr="Lock">    </p:cNvPr>
          <p:cNvPicPr>
            <a:picLocks noChangeAspect="1"/>
          </p:cNvPicPr>
          <p:nvPr/>
        </p:nvPicPr>
        <p:blipFill>
          <a:blip r:embed="rId1"/>
          <a:srcRect l="0" r="0" t="0" b="0"/>
          <a:stretch/>
        </p:blipFill>
        <p:spPr>
          <a:xfrm>
            <a:off x="812800" y="1930400"/>
            <a:ext cx="304800" cy="304800"/>
          </a:xfrm>
          <a:prstGeom prst="rect">
            <a:avLst/>
          </a:prstGeom>
        </p:spPr>
      </p:pic>
      <p:sp>
        <p:nvSpPr>
          <p:cNvPr id="5" name="Text 2"/>
          <p:cNvSpPr/>
          <p:nvPr/>
        </p:nvSpPr>
        <p:spPr>
          <a:xfrm>
            <a:off x="812800" y="2324100"/>
            <a:ext cx="36277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Source Serif 4" pitchFamily="18" charset="0"/>
                <a:ea typeface="Source Serif 4" pitchFamily="18" charset="-122"/>
                <a:cs typeface="Source Serif 4" pitchFamily="18" charset="-120"/>
              </a:rPr>
              <a:t>Secure accounts</a:t>
            </a:r>
            <a:endParaRPr lang="en-US" sz="1800" dirty="0"/>
          </a:p>
        </p:txBody>
      </p:sp>
      <p:sp>
        <p:nvSpPr>
          <p:cNvPr id="6" name="Text 3"/>
          <p:cNvSpPr/>
          <p:nvPr/>
        </p:nvSpPr>
        <p:spPr>
          <a:xfrm>
            <a:off x="812800" y="2687320"/>
            <a:ext cx="3627770" cy="26479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860"/>
                </a:solidFill>
                <a:latin typeface="IBM Plex Sans" pitchFamily="34" charset="0"/>
                <a:ea typeface="IBM Plex Sans" pitchFamily="34" charset="-122"/>
                <a:cs typeface="IBM Plex Sans" pitchFamily="34" charset="-120"/>
              </a:rPr>
              <a:t>Sign up, log in and password reset by email.</a:t>
            </a:r>
            <a:endParaRPr lang="en-US" sz="1300" dirty="0"/>
          </a:p>
        </p:txBody>
      </p:sp>
      <p:pic>
        <p:nvPicPr>
          <p:cNvPr id="7" name="Image 1" descr="Database">    </p:cNvPr>
          <p:cNvPicPr>
            <a:picLocks noChangeAspect="1"/>
          </p:cNvPicPr>
          <p:nvPr/>
        </p:nvPicPr>
        <p:blipFill>
          <a:blip r:embed="rId2"/>
          <a:srcRect l="0" r="0" t="0" b="0"/>
          <a:stretch/>
        </p:blipFill>
        <p:spPr>
          <a:xfrm>
            <a:off x="4334907" y="1930400"/>
            <a:ext cx="304800" cy="304800"/>
          </a:xfrm>
          <a:prstGeom prst="rect">
            <a:avLst/>
          </a:prstGeom>
        </p:spPr>
      </p:pic>
      <p:sp>
        <p:nvSpPr>
          <p:cNvPr id="8" name="Text 4"/>
          <p:cNvSpPr/>
          <p:nvPr/>
        </p:nvSpPr>
        <p:spPr>
          <a:xfrm>
            <a:off x="4334907" y="2324100"/>
            <a:ext cx="36277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Source Serif 4" pitchFamily="18" charset="0"/>
                <a:ea typeface="Source Serif 4" pitchFamily="18" charset="-122"/>
                <a:cs typeface="Source Serif 4" pitchFamily="18" charset="-120"/>
              </a:rPr>
              <a:t>Expense management</a:t>
            </a:r>
            <a:endParaRPr lang="en-US" sz="1800" dirty="0"/>
          </a:p>
        </p:txBody>
      </p:sp>
      <p:sp>
        <p:nvSpPr>
          <p:cNvPr id="9" name="Text 5"/>
          <p:cNvSpPr/>
          <p:nvPr/>
        </p:nvSpPr>
        <p:spPr>
          <a:xfrm>
            <a:off x="4334907" y="2687320"/>
            <a:ext cx="362777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860"/>
                </a:solidFill>
                <a:latin typeface="IBM Plex Sans" pitchFamily="34" charset="0"/>
                <a:ea typeface="IBM Plex Sans" pitchFamily="34" charset="-122"/>
                <a:cs typeface="IBM Plex Sans" pitchFamily="34" charset="-120"/>
              </a:rPr>
              <a:t>Add, view, edit and delete expenses across six categories.</a:t>
            </a:r>
            <a:endParaRPr lang="en-US" sz="1300" dirty="0"/>
          </a:p>
        </p:txBody>
      </p:sp>
      <p:pic>
        <p:nvPicPr>
          <p:cNvPr id="10" name="Image 2" descr="Chart">    </p:cNvPr>
          <p:cNvPicPr>
            <a:picLocks noChangeAspect="1"/>
          </p:cNvPicPr>
          <p:nvPr/>
        </p:nvPicPr>
        <p:blipFill>
          <a:blip r:embed="rId3"/>
          <a:srcRect l="0" r="0" t="0" b="0"/>
          <a:stretch/>
        </p:blipFill>
        <p:spPr>
          <a:xfrm>
            <a:off x="7857014" y="1930400"/>
            <a:ext cx="304800" cy="304800"/>
          </a:xfrm>
          <a:prstGeom prst="rect">
            <a:avLst/>
          </a:prstGeom>
        </p:spPr>
      </p:pic>
      <p:sp>
        <p:nvSpPr>
          <p:cNvPr id="11" name="Text 6"/>
          <p:cNvSpPr/>
          <p:nvPr/>
        </p:nvSpPr>
        <p:spPr>
          <a:xfrm>
            <a:off x="7857014" y="2324100"/>
            <a:ext cx="36277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Source Serif 4" pitchFamily="18" charset="0"/>
                <a:ea typeface="Source Serif 4" pitchFamily="18" charset="-122"/>
                <a:cs typeface="Source Serif 4" pitchFamily="18" charset="-120"/>
              </a:rPr>
              <a:t>Monthly summary</a:t>
            </a:r>
            <a:endParaRPr lang="en-US" sz="1800" dirty="0"/>
          </a:p>
        </p:txBody>
      </p:sp>
      <p:sp>
        <p:nvSpPr>
          <p:cNvPr id="12" name="Text 7"/>
          <p:cNvSpPr/>
          <p:nvPr/>
        </p:nvSpPr>
        <p:spPr>
          <a:xfrm>
            <a:off x="7857014" y="2687320"/>
            <a:ext cx="362777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860"/>
                </a:solidFill>
                <a:latin typeface="IBM Plex Sans" pitchFamily="34" charset="0"/>
                <a:ea typeface="IBM Plex Sans" pitchFamily="34" charset="-122"/>
                <a:cs typeface="IBM Plex Sans" pitchFamily="34" charset="-120"/>
              </a:rPr>
              <a:t>Current month, all-time total and a breakdown by category.</a:t>
            </a:r>
            <a:endParaRPr lang="en-US" sz="1300" dirty="0"/>
          </a:p>
        </p:txBody>
      </p:sp>
      <p:pic>
        <p:nvPicPr>
          <p:cNvPr id="13" name="Image 3" descr="Search">    </p:cNvPr>
          <p:cNvPicPr>
            <a:picLocks noChangeAspect="1"/>
          </p:cNvPicPr>
          <p:nvPr/>
        </p:nvPicPr>
        <p:blipFill>
          <a:blip r:embed="rId4"/>
          <a:srcRect l="0" r="0" t="0" b="0"/>
          <a:stretch/>
        </p:blipFill>
        <p:spPr>
          <a:xfrm>
            <a:off x="812800" y="3166111"/>
            <a:ext cx="304800" cy="304800"/>
          </a:xfrm>
          <a:prstGeom prst="rect">
            <a:avLst/>
          </a:prstGeom>
        </p:spPr>
      </p:pic>
      <p:sp>
        <p:nvSpPr>
          <p:cNvPr id="14" name="Text 8"/>
          <p:cNvSpPr/>
          <p:nvPr/>
        </p:nvSpPr>
        <p:spPr>
          <a:xfrm>
            <a:off x="812800" y="3559811"/>
            <a:ext cx="36277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Source Serif 4" pitchFamily="18" charset="0"/>
                <a:ea typeface="Source Serif 4" pitchFamily="18" charset="-122"/>
                <a:cs typeface="Source Serif 4" pitchFamily="18" charset="-120"/>
              </a:rPr>
              <a:t>Search and filters</a:t>
            </a:r>
            <a:endParaRPr lang="en-US" sz="1800" dirty="0"/>
          </a:p>
        </p:txBody>
      </p:sp>
      <p:sp>
        <p:nvSpPr>
          <p:cNvPr id="15" name="Text 9"/>
          <p:cNvSpPr/>
          <p:nvPr/>
        </p:nvSpPr>
        <p:spPr>
          <a:xfrm>
            <a:off x="812800" y="3923030"/>
            <a:ext cx="362777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860"/>
                </a:solidFill>
                <a:latin typeface="IBM Plex Sans" pitchFamily="34" charset="0"/>
                <a:ea typeface="IBM Plex Sans" pitchFamily="34" charset="-122"/>
                <a:cs typeface="IBM Plex Sans" pitchFamily="34" charset="-120"/>
              </a:rPr>
              <a:t>Search, filter by period and category, and sort four ways.</a:t>
            </a:r>
            <a:endParaRPr lang="en-US" sz="1300" dirty="0"/>
          </a:p>
        </p:txBody>
      </p:sp>
      <p:pic>
        <p:nvPicPr>
          <p:cNvPr id="16" name="Image 4" descr="Check">    </p:cNvPr>
          <p:cNvPicPr>
            <a:picLocks noChangeAspect="1"/>
          </p:cNvPicPr>
          <p:nvPr/>
        </p:nvPicPr>
        <p:blipFill>
          <a:blip r:embed="rId5"/>
          <a:srcRect l="0" r="0" t="0" b="0"/>
          <a:stretch/>
        </p:blipFill>
        <p:spPr>
          <a:xfrm>
            <a:off x="4334907" y="3166111"/>
            <a:ext cx="304800" cy="304800"/>
          </a:xfrm>
          <a:prstGeom prst="rect">
            <a:avLst/>
          </a:prstGeom>
        </p:spPr>
      </p:pic>
      <p:sp>
        <p:nvSpPr>
          <p:cNvPr id="17" name="Text 10"/>
          <p:cNvSpPr/>
          <p:nvPr/>
        </p:nvSpPr>
        <p:spPr>
          <a:xfrm>
            <a:off x="4334907" y="3559811"/>
            <a:ext cx="36277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Source Serif 4" pitchFamily="18" charset="0"/>
                <a:ea typeface="Source Serif 4" pitchFamily="18" charset="-122"/>
                <a:cs typeface="Source Serif 4" pitchFamily="18" charset="-120"/>
              </a:rPr>
              <a:t>Safe deletion</a:t>
            </a:r>
            <a:endParaRPr lang="en-US" sz="1800" dirty="0"/>
          </a:p>
        </p:txBody>
      </p:sp>
      <p:sp>
        <p:nvSpPr>
          <p:cNvPr id="18" name="Text 11"/>
          <p:cNvSpPr/>
          <p:nvPr/>
        </p:nvSpPr>
        <p:spPr>
          <a:xfrm>
            <a:off x="4334907" y="3923030"/>
            <a:ext cx="362777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860"/>
                </a:solidFill>
                <a:latin typeface="IBM Plex Sans" pitchFamily="34" charset="0"/>
                <a:ea typeface="IBM Plex Sans" pitchFamily="34" charset="-122"/>
                <a:cs typeface="IBM Plex Sans" pitchFamily="34" charset="-120"/>
              </a:rPr>
              <a:t>Swipe to delete with an Undo option and confirmation dialogs.</a:t>
            </a:r>
            <a:endParaRPr lang="en-US" sz="1300" dirty="0"/>
          </a:p>
        </p:txBody>
      </p:sp>
      <p:pic>
        <p:nvPicPr>
          <p:cNvPr id="19" name="Image 5" descr="Settings">    </p:cNvPr>
          <p:cNvPicPr>
            <a:picLocks noChangeAspect="1"/>
          </p:cNvPicPr>
          <p:nvPr/>
        </p:nvPicPr>
        <p:blipFill>
          <a:blip r:embed="rId6"/>
          <a:srcRect l="0" r="0" t="0" b="0"/>
          <a:stretch/>
        </p:blipFill>
        <p:spPr>
          <a:xfrm>
            <a:off x="7857014" y="3166111"/>
            <a:ext cx="304800" cy="304800"/>
          </a:xfrm>
          <a:prstGeom prst="rect">
            <a:avLst/>
          </a:prstGeom>
        </p:spPr>
      </p:pic>
      <p:sp>
        <p:nvSpPr>
          <p:cNvPr id="20" name="Text 12"/>
          <p:cNvSpPr/>
          <p:nvPr/>
        </p:nvSpPr>
        <p:spPr>
          <a:xfrm>
            <a:off x="7857014" y="3559811"/>
            <a:ext cx="36277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Source Serif 4" pitchFamily="18" charset="0"/>
                <a:ea typeface="Source Serif 4" pitchFamily="18" charset="-122"/>
                <a:cs typeface="Source Serif 4" pitchFamily="18" charset="-120"/>
              </a:rPr>
              <a:t>Personalisation</a:t>
            </a:r>
            <a:endParaRPr lang="en-US" sz="1800" dirty="0"/>
          </a:p>
        </p:txBody>
      </p:sp>
      <p:sp>
        <p:nvSpPr>
          <p:cNvPr id="21" name="Text 13"/>
          <p:cNvSpPr/>
          <p:nvPr/>
        </p:nvSpPr>
        <p:spPr>
          <a:xfrm>
            <a:off x="7857014" y="3923030"/>
            <a:ext cx="362777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860"/>
                </a:solidFill>
                <a:latin typeface="IBM Plex Sans" pitchFamily="34" charset="0"/>
                <a:ea typeface="IBM Plex Sans" pitchFamily="34" charset="-122"/>
                <a:cs typeface="IBM Plex Sans" pitchFamily="34" charset="-120"/>
              </a:rPr>
              <a:t>Light, dark and system themes, remembered between sessions.</a:t>
            </a:r>
            <a:endParaRPr lang="en-US" sz="1300" dirty="0"/>
          </a:p>
        </p:txBody>
      </p:sp>
      <p:pic>
        <p:nvPicPr>
          <p:cNvPr id="22" name="Image 6" descr="line">    </p:cNvPr>
          <p:cNvPicPr>
            <a:picLocks noChangeAspect="1"/>
          </p:cNvPicPr>
          <p:nvPr/>
        </p:nvPicPr>
        <p:blipFill>
          <a:blip r:embed="rId7"/>
          <a:srcRect l="-12500" r="-12500" t="0" b="0"/>
          <a:stretch/>
        </p:blipFill>
        <p:spPr>
          <a:xfrm>
            <a:off x="812800" y="6096000"/>
            <a:ext cx="10566400" cy="10160"/>
          </a:xfrm>
          <a:prstGeom prst="rect">
            <a:avLst/>
          </a:prstGeom>
        </p:spPr>
      </p:pic>
      <p:sp>
        <p:nvSpPr>
          <p:cNvPr id="23" name="Text 14"/>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24"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02 · LIVE DEMO · THE SCREENS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From sign-in to daily tracking</a:t>
            </a:r>
            <a:endParaRPr lang="en-US" sz="3200" dirty="0"/>
          </a:p>
        </p:txBody>
      </p:sp>
      <p:pic>
        <p:nvPicPr>
          <p:cNvPr id="4" name="Image 0" descr="Login screen">    </p:cNvPr>
          <p:cNvPicPr>
            <a:picLocks noChangeAspect="1"/>
          </p:cNvPicPr>
          <p:nvPr/>
        </p:nvPicPr>
        <p:blipFill>
          <a:blip r:embed="rId1"/>
          <a:stretch>
            <a:fillRect/>
          </a:stretch>
        </p:blipFill>
        <p:spPr>
          <a:xfrm>
            <a:off x="838200" y="1887383"/>
            <a:ext cx="1485900" cy="3311834"/>
          </a:xfrm>
          <a:custGeom>
            <a:avLst/>
            <a:gdLst/>
            <a:ahLst/>
            <a:cxnLst/>
            <a:rect l="l" t="t" r="r" b="b"/>
            <a:pathLst>
              <a:path w="1485900" h="3311834">
                <a:moveTo>
                  <a:pt x="0" y="68417"/>
                </a:moveTo>
                <a:arcTo wR="101600" hR="101600" stAng="10800000" swAng="2539771"/>
                <a:lnTo>
                  <a:pt x="1459411" y="0"/>
                </a:lnTo>
                <a:arcTo wR="101600" hR="101600" stAng="19060229" swAng="2539771"/>
                <a:lnTo>
                  <a:pt x="1485900" y="3243417"/>
                </a:lnTo>
                <a:arcTo wR="101600" hR="101600" stAng="0" swAng="2539771"/>
                <a:lnTo>
                  <a:pt x="26489" y="3311834"/>
                </a:lnTo>
                <a:arcTo wR="101600" hR="101600" stAng="8260229" swAng="2539771"/>
                <a:close/>
              </a:path>
            </a:pathLst>
          </a:custGeom>
        </p:spPr>
      </p:pic>
      <p:sp>
        <p:nvSpPr>
          <p:cNvPr id="5" name="Shape 2"/>
          <p:cNvSpPr/>
          <p:nvPr/>
        </p:nvSpPr>
        <p:spPr>
          <a:xfrm>
            <a:off x="825500" y="1841500"/>
            <a:ext cx="1511300" cy="3403600"/>
          </a:xfrm>
          <a:prstGeom prst="roundRect">
            <a:avLst>
              <a:gd name="adj" fmla="val 7563"/>
            </a:avLst>
          </a:prstGeom>
          <a:noFill/>
          <a:ln w="25400">
            <a:solidFill>
              <a:srgbClr val="16232A"/>
            </a:solidFill>
            <a:prstDash val="solid"/>
          </a:ln>
        </p:spPr>
      </p:sp>
      <p:sp>
        <p:nvSpPr>
          <p:cNvPr id="6" name="Text 3"/>
          <p:cNvSpPr/>
          <p:nvPr/>
        </p:nvSpPr>
        <p:spPr>
          <a:xfrm>
            <a:off x="1361892" y="5334000"/>
            <a:ext cx="43843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860"/>
                </a:solidFill>
                <a:latin typeface="IBM Plex Sans" pitchFamily="34" charset="0"/>
                <a:ea typeface="IBM Plex Sans" pitchFamily="34" charset="-122"/>
                <a:cs typeface="IBM Plex Sans" pitchFamily="34" charset="-120"/>
              </a:rPr>
              <a:t>Login</a:t>
            </a:r>
            <a:endParaRPr lang="en-US" sz="1200" dirty="0"/>
          </a:p>
        </p:txBody>
      </p:sp>
      <p:pic>
        <p:nvPicPr>
          <p:cNvPr id="7" name="Image 1" descr="Create account screen">    </p:cNvPr>
          <p:cNvPicPr>
            <a:picLocks noChangeAspect="1"/>
          </p:cNvPicPr>
          <p:nvPr/>
        </p:nvPicPr>
        <p:blipFill>
          <a:blip r:embed="rId2"/>
          <a:stretch>
            <a:fillRect/>
          </a:stretch>
        </p:blipFill>
        <p:spPr>
          <a:xfrm>
            <a:off x="2644140" y="1894880"/>
            <a:ext cx="1485900" cy="3296841"/>
          </a:xfrm>
          <a:custGeom>
            <a:avLst/>
            <a:gdLst/>
            <a:ahLst/>
            <a:cxnLst/>
            <a:rect l="l" t="t" r="r" b="b"/>
            <a:pathLst>
              <a:path w="1485900" h="3296841">
                <a:moveTo>
                  <a:pt x="0" y="60920"/>
                </a:moveTo>
                <a:arcTo wR="101600" hR="101600" stAng="10800000" swAng="2210516"/>
                <a:lnTo>
                  <a:pt x="1465610" y="0"/>
                </a:lnTo>
                <a:arcTo wR="101600" hR="101600" stAng="19389484" swAng="2210516"/>
                <a:lnTo>
                  <a:pt x="1485900" y="3235920"/>
                </a:lnTo>
                <a:arcTo wR="101600" hR="101600" stAng="0" swAng="2210516"/>
                <a:lnTo>
                  <a:pt x="20290" y="3296841"/>
                </a:lnTo>
                <a:arcTo wR="101600" hR="101600" stAng="8589484" swAng="2210516"/>
                <a:close/>
              </a:path>
            </a:pathLst>
          </a:custGeom>
        </p:spPr>
      </p:pic>
      <p:sp>
        <p:nvSpPr>
          <p:cNvPr id="8" name="Shape 4"/>
          <p:cNvSpPr/>
          <p:nvPr/>
        </p:nvSpPr>
        <p:spPr>
          <a:xfrm>
            <a:off x="2631440" y="1841500"/>
            <a:ext cx="1511300" cy="3403600"/>
          </a:xfrm>
          <a:prstGeom prst="roundRect">
            <a:avLst>
              <a:gd name="adj" fmla="val 7563"/>
            </a:avLst>
          </a:prstGeom>
          <a:noFill/>
          <a:ln w="25400">
            <a:solidFill>
              <a:srgbClr val="16232A"/>
            </a:solidFill>
            <a:prstDash val="solid"/>
          </a:ln>
        </p:spPr>
      </p:sp>
      <p:sp>
        <p:nvSpPr>
          <p:cNvPr id="9" name="Text 5"/>
          <p:cNvSpPr/>
          <p:nvPr/>
        </p:nvSpPr>
        <p:spPr>
          <a:xfrm>
            <a:off x="2767687" y="5334000"/>
            <a:ext cx="123872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860"/>
                </a:solidFill>
                <a:latin typeface="IBM Plex Sans" pitchFamily="34" charset="0"/>
                <a:ea typeface="IBM Plex Sans" pitchFamily="34" charset="-122"/>
                <a:cs typeface="IBM Plex Sans" pitchFamily="34" charset="-120"/>
              </a:rPr>
              <a:t>Create account</a:t>
            </a:r>
            <a:endParaRPr lang="en-US" sz="1200" dirty="0"/>
          </a:p>
        </p:txBody>
      </p:sp>
      <p:pic>
        <p:nvPicPr>
          <p:cNvPr id="10" name="Image 2" descr="Reset password dialog">    </p:cNvPr>
          <p:cNvPicPr>
            <a:picLocks noChangeAspect="1"/>
          </p:cNvPicPr>
          <p:nvPr/>
        </p:nvPicPr>
        <p:blipFill>
          <a:blip r:embed="rId3"/>
          <a:stretch>
            <a:fillRect/>
          </a:stretch>
        </p:blipFill>
        <p:spPr>
          <a:xfrm>
            <a:off x="4450080" y="1885054"/>
            <a:ext cx="1485900" cy="3316492"/>
          </a:xfrm>
          <a:custGeom>
            <a:avLst/>
            <a:gdLst/>
            <a:ahLst/>
            <a:cxnLst/>
            <a:rect l="l" t="t" r="r" b="b"/>
            <a:pathLst>
              <a:path w="1485900" h="3316492">
                <a:moveTo>
                  <a:pt x="0" y="70746"/>
                </a:moveTo>
                <a:arcTo wR="101600" hR="101600" stAng="10800000" swAng="2647934"/>
                <a:lnTo>
                  <a:pt x="1457222" y="0"/>
                </a:lnTo>
                <a:arcTo wR="101600" hR="101600" stAng="18952066" swAng="2647934"/>
                <a:lnTo>
                  <a:pt x="1485900" y="3245746"/>
                </a:lnTo>
                <a:arcTo wR="101600" hR="101600" stAng="0" swAng="2647934"/>
                <a:lnTo>
                  <a:pt x="28678" y="3316492"/>
                </a:lnTo>
                <a:arcTo wR="101600" hR="101600" stAng="8152066" swAng="2647934"/>
                <a:close/>
              </a:path>
            </a:pathLst>
          </a:custGeom>
        </p:spPr>
      </p:pic>
      <p:sp>
        <p:nvSpPr>
          <p:cNvPr id="11" name="Shape 6"/>
          <p:cNvSpPr/>
          <p:nvPr/>
        </p:nvSpPr>
        <p:spPr>
          <a:xfrm>
            <a:off x="4437380" y="1841500"/>
            <a:ext cx="1511300" cy="3403600"/>
          </a:xfrm>
          <a:prstGeom prst="roundRect">
            <a:avLst>
              <a:gd name="adj" fmla="val 7563"/>
            </a:avLst>
          </a:prstGeom>
          <a:noFill/>
          <a:ln w="25400">
            <a:solidFill>
              <a:srgbClr val="16232A"/>
            </a:solidFill>
            <a:prstDash val="solid"/>
          </a:ln>
        </p:spPr>
      </p:sp>
      <p:sp>
        <p:nvSpPr>
          <p:cNvPr id="12" name="Text 7"/>
          <p:cNvSpPr/>
          <p:nvPr/>
        </p:nvSpPr>
        <p:spPr>
          <a:xfrm>
            <a:off x="4540663" y="5334000"/>
            <a:ext cx="130473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860"/>
                </a:solidFill>
                <a:latin typeface="IBM Plex Sans" pitchFamily="34" charset="0"/>
                <a:ea typeface="IBM Plex Sans" pitchFamily="34" charset="-122"/>
                <a:cs typeface="IBM Plex Sans" pitchFamily="34" charset="-120"/>
              </a:rPr>
              <a:t>Reset password</a:t>
            </a:r>
            <a:endParaRPr lang="en-US" sz="1200" dirty="0"/>
          </a:p>
        </p:txBody>
      </p:sp>
      <p:pic>
        <p:nvPicPr>
          <p:cNvPr id="13" name="Image 3" descr="Home screen with summary and filters">    </p:cNvPr>
          <p:cNvPicPr>
            <a:picLocks noChangeAspect="1"/>
          </p:cNvPicPr>
          <p:nvPr/>
        </p:nvPicPr>
        <p:blipFill>
          <a:blip r:embed="rId4"/>
          <a:stretch>
            <a:fillRect/>
          </a:stretch>
        </p:blipFill>
        <p:spPr>
          <a:xfrm>
            <a:off x="6256020" y="1885950"/>
            <a:ext cx="1485900" cy="3314700"/>
          </a:xfrm>
          <a:custGeom>
            <a:avLst/>
            <a:gdLst/>
            <a:ahLst/>
            <a:cxnLst/>
            <a:rect l="l" t="t" r="r" b="b"/>
            <a:pathLst>
              <a:path w="1485900" h="3314700">
                <a:moveTo>
                  <a:pt x="0" y="69850"/>
                </a:moveTo>
                <a:arcTo wR="101600" hR="101600" stAng="10800000" swAng="2605952"/>
                <a:lnTo>
                  <a:pt x="1458080" y="0"/>
                </a:lnTo>
                <a:arcTo wR="101600" hR="101600" stAng="18994048" swAng="2605952"/>
                <a:lnTo>
                  <a:pt x="1485900" y="3244850"/>
                </a:lnTo>
                <a:arcTo wR="101600" hR="101600" stAng="0" swAng="2605952"/>
                <a:lnTo>
                  <a:pt x="27820" y="3314700"/>
                </a:lnTo>
                <a:arcTo wR="101600" hR="101600" stAng="8194048" swAng="2605952"/>
                <a:close/>
              </a:path>
            </a:pathLst>
          </a:custGeom>
        </p:spPr>
      </p:pic>
      <p:sp>
        <p:nvSpPr>
          <p:cNvPr id="14" name="Shape 8"/>
          <p:cNvSpPr/>
          <p:nvPr/>
        </p:nvSpPr>
        <p:spPr>
          <a:xfrm>
            <a:off x="6243320" y="1841500"/>
            <a:ext cx="1511300" cy="3403600"/>
          </a:xfrm>
          <a:prstGeom prst="roundRect">
            <a:avLst>
              <a:gd name="adj" fmla="val 7563"/>
            </a:avLst>
          </a:prstGeom>
          <a:noFill/>
          <a:ln w="25400">
            <a:solidFill>
              <a:srgbClr val="16232A"/>
            </a:solidFill>
            <a:prstDash val="solid"/>
          </a:ln>
        </p:spPr>
      </p:sp>
      <p:sp>
        <p:nvSpPr>
          <p:cNvPr id="15" name="Text 9"/>
          <p:cNvSpPr/>
          <p:nvPr/>
        </p:nvSpPr>
        <p:spPr>
          <a:xfrm>
            <a:off x="6753043" y="5334000"/>
            <a:ext cx="49177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860"/>
                </a:solidFill>
                <a:latin typeface="IBM Plex Sans" pitchFamily="34" charset="0"/>
                <a:ea typeface="IBM Plex Sans" pitchFamily="34" charset="-122"/>
                <a:cs typeface="IBM Plex Sans" pitchFamily="34" charset="-120"/>
              </a:rPr>
              <a:t>Home</a:t>
            </a:r>
            <a:endParaRPr lang="en-US" sz="1200" dirty="0"/>
          </a:p>
        </p:txBody>
      </p:sp>
      <p:pic>
        <p:nvPicPr>
          <p:cNvPr id="16" name="Image 4" descr="Add expense form">    </p:cNvPr>
          <p:cNvPicPr>
            <a:picLocks noChangeAspect="1"/>
          </p:cNvPicPr>
          <p:nvPr/>
        </p:nvPicPr>
        <p:blipFill>
          <a:blip r:embed="rId5"/>
          <a:stretch>
            <a:fillRect/>
          </a:stretch>
        </p:blipFill>
        <p:spPr>
          <a:xfrm>
            <a:off x="8061960" y="1892055"/>
            <a:ext cx="1485900" cy="3302490"/>
          </a:xfrm>
          <a:custGeom>
            <a:avLst/>
            <a:gdLst/>
            <a:ahLst/>
            <a:cxnLst/>
            <a:rect l="l" t="t" r="r" b="b"/>
            <a:pathLst>
              <a:path w="1485900" h="3302490">
                <a:moveTo>
                  <a:pt x="0" y="63745"/>
                </a:moveTo>
                <a:arcTo wR="101600" hR="101600" stAng="10800000" swAng="2331562"/>
                <a:lnTo>
                  <a:pt x="1463415" y="0"/>
                </a:lnTo>
                <a:arcTo wR="101600" hR="101600" stAng="19268438" swAng="2331562"/>
                <a:lnTo>
                  <a:pt x="1485900" y="3238745"/>
                </a:lnTo>
                <a:arcTo wR="101600" hR="101600" stAng="0" swAng="2331562"/>
                <a:lnTo>
                  <a:pt x="22485" y="3302490"/>
                </a:lnTo>
                <a:arcTo wR="101600" hR="101600" stAng="8468438" swAng="2331562"/>
                <a:close/>
              </a:path>
            </a:pathLst>
          </a:custGeom>
        </p:spPr>
      </p:pic>
      <p:sp>
        <p:nvSpPr>
          <p:cNvPr id="17" name="Shape 10"/>
          <p:cNvSpPr/>
          <p:nvPr/>
        </p:nvSpPr>
        <p:spPr>
          <a:xfrm>
            <a:off x="8049260" y="1841500"/>
            <a:ext cx="1511300" cy="3403600"/>
          </a:xfrm>
          <a:prstGeom prst="roundRect">
            <a:avLst>
              <a:gd name="adj" fmla="val 7563"/>
            </a:avLst>
          </a:prstGeom>
          <a:noFill/>
          <a:ln w="25400">
            <a:solidFill>
              <a:srgbClr val="16232A"/>
            </a:solidFill>
            <a:prstDash val="solid"/>
          </a:ln>
        </p:spPr>
      </p:sp>
      <p:sp>
        <p:nvSpPr>
          <p:cNvPr id="18" name="Text 11"/>
          <p:cNvSpPr/>
          <p:nvPr/>
        </p:nvSpPr>
        <p:spPr>
          <a:xfrm>
            <a:off x="8273233" y="5334000"/>
            <a:ext cx="106327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860"/>
                </a:solidFill>
                <a:latin typeface="IBM Plex Sans" pitchFamily="34" charset="0"/>
                <a:ea typeface="IBM Plex Sans" pitchFamily="34" charset="-122"/>
                <a:cs typeface="IBM Plex Sans" pitchFamily="34" charset="-120"/>
              </a:rPr>
              <a:t>Add expense</a:t>
            </a:r>
            <a:endParaRPr lang="en-US" sz="1200" dirty="0"/>
          </a:p>
        </p:txBody>
      </p:sp>
      <p:pic>
        <p:nvPicPr>
          <p:cNvPr id="19" name="Image 5" descr="Menu with theme options and log out">    </p:cNvPr>
          <p:cNvPicPr>
            <a:picLocks noChangeAspect="1"/>
          </p:cNvPicPr>
          <p:nvPr/>
        </p:nvPicPr>
        <p:blipFill>
          <a:blip r:embed="rId6"/>
          <a:stretch>
            <a:fillRect/>
          </a:stretch>
        </p:blipFill>
        <p:spPr>
          <a:xfrm>
            <a:off x="9867900" y="1885950"/>
            <a:ext cx="1485900" cy="3314700"/>
          </a:xfrm>
          <a:custGeom>
            <a:avLst/>
            <a:gdLst/>
            <a:ahLst/>
            <a:cxnLst/>
            <a:rect l="l" t="t" r="r" b="b"/>
            <a:pathLst>
              <a:path w="1485900" h="3314700">
                <a:moveTo>
                  <a:pt x="0" y="69850"/>
                </a:moveTo>
                <a:arcTo wR="101600" hR="101600" stAng="10800000" swAng="2605952"/>
                <a:lnTo>
                  <a:pt x="1458080" y="0"/>
                </a:lnTo>
                <a:arcTo wR="101600" hR="101600" stAng="18994048" swAng="2605952"/>
                <a:lnTo>
                  <a:pt x="1485900" y="3244850"/>
                </a:lnTo>
                <a:arcTo wR="101600" hR="101600" stAng="0" swAng="2605952"/>
                <a:lnTo>
                  <a:pt x="27820" y="3314700"/>
                </a:lnTo>
                <a:arcTo wR="101600" hR="101600" stAng="8194048" swAng="2605952"/>
                <a:close/>
              </a:path>
            </a:pathLst>
          </a:custGeom>
        </p:spPr>
      </p:pic>
      <p:sp>
        <p:nvSpPr>
          <p:cNvPr id="20" name="Shape 12"/>
          <p:cNvSpPr/>
          <p:nvPr/>
        </p:nvSpPr>
        <p:spPr>
          <a:xfrm>
            <a:off x="9855200" y="1841500"/>
            <a:ext cx="1511300" cy="3403600"/>
          </a:xfrm>
          <a:prstGeom prst="roundRect">
            <a:avLst>
              <a:gd name="adj" fmla="val 7563"/>
            </a:avLst>
          </a:prstGeom>
          <a:noFill/>
          <a:ln w="25400">
            <a:solidFill>
              <a:srgbClr val="16232A"/>
            </a:solidFill>
            <a:prstDash val="solid"/>
          </a:ln>
        </p:spPr>
      </p:sp>
      <p:sp>
        <p:nvSpPr>
          <p:cNvPr id="21" name="Text 13"/>
          <p:cNvSpPr/>
          <p:nvPr/>
        </p:nvSpPr>
        <p:spPr>
          <a:xfrm>
            <a:off x="9870289" y="5334000"/>
            <a:ext cx="148104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860"/>
                </a:solidFill>
                <a:latin typeface="IBM Plex Sans" pitchFamily="34" charset="0"/>
                <a:ea typeface="IBM Plex Sans" pitchFamily="34" charset="-122"/>
                <a:cs typeface="IBM Plex Sans" pitchFamily="34" charset="-120"/>
              </a:rPr>
              <a:t>Theme and logout</a:t>
            </a:r>
            <a:endParaRPr lang="en-US" sz="1200" dirty="0"/>
          </a:p>
        </p:txBody>
      </p:sp>
      <p:pic>
        <p:nvPicPr>
          <p:cNvPr id="22" name="Image 6" descr="line">    </p:cNvPr>
          <p:cNvPicPr>
            <a:picLocks noChangeAspect="1"/>
          </p:cNvPicPr>
          <p:nvPr/>
        </p:nvPicPr>
        <p:blipFill>
          <a:blip r:embed="rId7"/>
          <a:srcRect l="-12500" r="-12500" t="0" b="0"/>
          <a:stretch/>
        </p:blipFill>
        <p:spPr>
          <a:xfrm>
            <a:off x="812800" y="6096000"/>
            <a:ext cx="10566400" cy="10160"/>
          </a:xfrm>
          <a:prstGeom prst="rect">
            <a:avLst/>
          </a:prstGeom>
        </p:spPr>
      </p:pic>
      <p:sp>
        <p:nvSpPr>
          <p:cNvPr id="23" name="Text 14"/>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C73"/>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24"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C73"/>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32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B6E63"/>
          </a:solidFill>
          <a:ln/>
        </p:spPr>
        <p:txBody>
          <a:bodyPr/>
          <a:p/>
        </p:txBody>
      </p:sp>
      <p:sp>
        <p:nvSpPr>
          <p:cNvPr id="3" name="Text 1"/>
          <p:cNvSpPr/>
          <p:nvPr/>
        </p:nvSpPr>
        <p:spPr>
          <a:xfrm>
            <a:off x="812800" y="2366327"/>
            <a:ext cx="504926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C8BC"/>
                </a:solidFill>
                <a:latin typeface="IBM Plex Sans" pitchFamily="34" charset="0"/>
                <a:ea typeface="IBM Plex Sans" pitchFamily="34" charset="-122"/>
                <a:cs typeface="IBM Plex Sans" pitchFamily="34" charset="-120"/>
              </a:rPr>
              <a:t>02 · LIVE DEMONSTRATION</a:t>
            </a:r>
            <a:endParaRPr lang="en-US" sz="1200" dirty="0"/>
          </a:p>
        </p:txBody>
      </p:sp>
      <p:sp>
        <p:nvSpPr>
          <p:cNvPr id="4" name="Text 2"/>
          <p:cNvSpPr/>
          <p:nvPr>
            <p:ph type="title"/>
          </p:nvPr>
        </p:nvSpPr>
        <p:spPr>
          <a:xfrm>
            <a:off x="812800" y="2757488"/>
            <a:ext cx="5049266" cy="13055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Source Serif 4" pitchFamily="18" charset="0"/>
                <a:ea typeface="Source Serif 4" pitchFamily="18" charset="-122"/>
                <a:cs typeface="Source Serif 4" pitchFamily="18" charset="-120"/>
              </a:rPr>
              <a:t>The application in use</a:t>
            </a:r>
            <a:endParaRPr lang="en-US" sz="4800" dirty="0"/>
          </a:p>
        </p:txBody>
      </p:sp>
      <p:sp>
        <p:nvSpPr>
          <p:cNvPr id="5" name="Text 3"/>
          <p:cNvSpPr/>
          <p:nvPr/>
        </p:nvSpPr>
        <p:spPr>
          <a:xfrm>
            <a:off x="812800" y="4215448"/>
            <a:ext cx="5049266"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C3CDD0"/>
                </a:solidFill>
                <a:latin typeface="IBM Plex Sans" pitchFamily="34" charset="0"/>
                <a:ea typeface="IBM Plex Sans" pitchFamily="34" charset="-122"/>
                <a:cs typeface="IBM Plex Sans" pitchFamily="34" charset="-120"/>
              </a:rPr>
              <a:t>Release build on Android · about 10 minutes</a:t>
            </a:r>
            <a:endParaRPr lang="en-US" sz="1500" dirty="0"/>
          </a:p>
        </p:txBody>
      </p:sp>
      <p:sp>
        <p:nvSpPr>
          <p:cNvPr id="6" name="Shape 4"/>
          <p:cNvSpPr/>
          <p:nvPr/>
        </p:nvSpPr>
        <p:spPr>
          <a:xfrm>
            <a:off x="6477000" y="1798957"/>
            <a:ext cx="4902200" cy="0"/>
          </a:xfrm>
          <a:prstGeom prst="line">
            <a:avLst/>
          </a:prstGeom>
          <a:noFill/>
          <a:ln w="6350">
            <a:solidFill>
              <a:srgbClr val="2E3E45"/>
            </a:solidFill>
            <a:prstDash val="solid"/>
          </a:ln>
        </p:spPr>
        <p:txBody>
          <a:bodyPr/>
          <a:p/>
        </p:txBody>
      </p:sp>
      <p:sp>
        <p:nvSpPr>
          <p:cNvPr id="7" name="Text 5"/>
          <p:cNvSpPr/>
          <p:nvPr/>
        </p:nvSpPr>
        <p:spPr>
          <a:xfrm>
            <a:off x="6477000" y="1927861"/>
            <a:ext cx="1620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C8BC"/>
                </a:solidFill>
                <a:latin typeface="Source Serif 4" pitchFamily="18" charset="0"/>
                <a:ea typeface="Source Serif 4" pitchFamily="18" charset="-122"/>
                <a:cs typeface="Source Serif 4" pitchFamily="18" charset="-120"/>
              </a:rPr>
              <a:t>1</a:t>
            </a:r>
            <a:endParaRPr lang="en-US" sz="1600" dirty="0"/>
          </a:p>
        </p:txBody>
      </p:sp>
      <p:sp>
        <p:nvSpPr>
          <p:cNvPr id="8" name="Text 6"/>
          <p:cNvSpPr/>
          <p:nvPr/>
        </p:nvSpPr>
        <p:spPr>
          <a:xfrm>
            <a:off x="6766005" y="1938021"/>
            <a:ext cx="4572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IBM Plex Sans" pitchFamily="34" charset="0"/>
                <a:ea typeface="IBM Plex Sans" pitchFamily="34" charset="-122"/>
                <a:cs typeface="IBM Plex Sans" pitchFamily="34" charset="-120"/>
              </a:rPr>
              <a:t>Sign up, log in and password reset</a:t>
            </a:r>
            <a:endParaRPr lang="en-US" sz="1500" dirty="0"/>
          </a:p>
        </p:txBody>
      </p:sp>
      <p:sp>
        <p:nvSpPr>
          <p:cNvPr id="9" name="Shape 7"/>
          <p:cNvSpPr/>
          <p:nvPr/>
        </p:nvSpPr>
        <p:spPr>
          <a:xfrm>
            <a:off x="6477000" y="2342514"/>
            <a:ext cx="4902200" cy="0"/>
          </a:xfrm>
          <a:prstGeom prst="line">
            <a:avLst/>
          </a:prstGeom>
          <a:noFill/>
          <a:ln w="6350">
            <a:solidFill>
              <a:srgbClr val="2E3E45"/>
            </a:solidFill>
            <a:prstDash val="solid"/>
          </a:ln>
        </p:spPr>
        <p:txBody>
          <a:bodyPr/>
          <a:p/>
        </p:txBody>
      </p:sp>
      <p:sp>
        <p:nvSpPr>
          <p:cNvPr id="10" name="Text 8"/>
          <p:cNvSpPr/>
          <p:nvPr/>
        </p:nvSpPr>
        <p:spPr>
          <a:xfrm>
            <a:off x="6477000" y="2471421"/>
            <a:ext cx="1620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C8BC"/>
                </a:solidFill>
                <a:latin typeface="Source Serif 4" pitchFamily="18" charset="0"/>
                <a:ea typeface="Source Serif 4" pitchFamily="18" charset="-122"/>
                <a:cs typeface="Source Serif 4" pitchFamily="18" charset="-120"/>
              </a:rPr>
              <a:t>2</a:t>
            </a:r>
            <a:endParaRPr lang="en-US" sz="1600" dirty="0"/>
          </a:p>
        </p:txBody>
      </p:sp>
      <p:sp>
        <p:nvSpPr>
          <p:cNvPr id="11" name="Text 9"/>
          <p:cNvSpPr/>
          <p:nvPr/>
        </p:nvSpPr>
        <p:spPr>
          <a:xfrm>
            <a:off x="6766005" y="2481582"/>
            <a:ext cx="4572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IBM Plex Sans" pitchFamily="34" charset="0"/>
                <a:ea typeface="IBM Plex Sans" pitchFamily="34" charset="-122"/>
                <a:cs typeface="IBM Plex Sans" pitchFamily="34" charset="-120"/>
              </a:rPr>
              <a:t>Monthly summary and category breakdown</a:t>
            </a:r>
            <a:endParaRPr lang="en-US" sz="1500" dirty="0"/>
          </a:p>
        </p:txBody>
      </p:sp>
      <p:sp>
        <p:nvSpPr>
          <p:cNvPr id="12" name="Shape 10"/>
          <p:cNvSpPr/>
          <p:nvPr/>
        </p:nvSpPr>
        <p:spPr>
          <a:xfrm>
            <a:off x="6477000" y="2886075"/>
            <a:ext cx="4902200" cy="0"/>
          </a:xfrm>
          <a:prstGeom prst="line">
            <a:avLst/>
          </a:prstGeom>
          <a:noFill/>
          <a:ln w="6350">
            <a:solidFill>
              <a:srgbClr val="2E3E45"/>
            </a:solidFill>
            <a:prstDash val="solid"/>
          </a:ln>
        </p:spPr>
        <p:txBody>
          <a:bodyPr/>
          <a:p/>
        </p:txBody>
      </p:sp>
      <p:sp>
        <p:nvSpPr>
          <p:cNvPr id="13" name="Text 11"/>
          <p:cNvSpPr/>
          <p:nvPr/>
        </p:nvSpPr>
        <p:spPr>
          <a:xfrm>
            <a:off x="6477000" y="3014982"/>
            <a:ext cx="1620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C8BC"/>
                </a:solidFill>
                <a:latin typeface="Source Serif 4" pitchFamily="18" charset="0"/>
                <a:ea typeface="Source Serif 4" pitchFamily="18" charset="-122"/>
                <a:cs typeface="Source Serif 4" pitchFamily="18" charset="-120"/>
              </a:rPr>
              <a:t>3</a:t>
            </a:r>
            <a:endParaRPr lang="en-US" sz="1600" dirty="0"/>
          </a:p>
        </p:txBody>
      </p:sp>
      <p:sp>
        <p:nvSpPr>
          <p:cNvPr id="14" name="Text 12"/>
          <p:cNvSpPr/>
          <p:nvPr/>
        </p:nvSpPr>
        <p:spPr>
          <a:xfrm>
            <a:off x="6766005" y="3025139"/>
            <a:ext cx="4572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IBM Plex Sans" pitchFamily="34" charset="0"/>
                <a:ea typeface="IBM Plex Sans" pitchFamily="34" charset="-122"/>
                <a:cs typeface="IBM Plex Sans" pitchFamily="34" charset="-120"/>
              </a:rPr>
              <a:t>Add, edit and delete with Undo</a:t>
            </a:r>
            <a:endParaRPr lang="en-US" sz="1500" dirty="0"/>
          </a:p>
        </p:txBody>
      </p:sp>
      <p:sp>
        <p:nvSpPr>
          <p:cNvPr id="15" name="Shape 13"/>
          <p:cNvSpPr/>
          <p:nvPr/>
        </p:nvSpPr>
        <p:spPr>
          <a:xfrm>
            <a:off x="6477000" y="3429636"/>
            <a:ext cx="4902200" cy="0"/>
          </a:xfrm>
          <a:prstGeom prst="line">
            <a:avLst/>
          </a:prstGeom>
          <a:noFill/>
          <a:ln w="6350">
            <a:solidFill>
              <a:srgbClr val="2E3E45"/>
            </a:solidFill>
            <a:prstDash val="solid"/>
          </a:ln>
        </p:spPr>
        <p:txBody>
          <a:bodyPr/>
          <a:p/>
        </p:txBody>
      </p:sp>
      <p:sp>
        <p:nvSpPr>
          <p:cNvPr id="16" name="Text 14"/>
          <p:cNvSpPr/>
          <p:nvPr/>
        </p:nvSpPr>
        <p:spPr>
          <a:xfrm>
            <a:off x="6477000" y="3558539"/>
            <a:ext cx="1620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C8BC"/>
                </a:solidFill>
                <a:latin typeface="Source Serif 4" pitchFamily="18" charset="0"/>
                <a:ea typeface="Source Serif 4" pitchFamily="18" charset="-122"/>
                <a:cs typeface="Source Serif 4" pitchFamily="18" charset="-120"/>
              </a:rPr>
              <a:t>4</a:t>
            </a:r>
            <a:endParaRPr lang="en-US" sz="1600" dirty="0"/>
          </a:p>
        </p:txBody>
      </p:sp>
      <p:sp>
        <p:nvSpPr>
          <p:cNvPr id="17" name="Text 15"/>
          <p:cNvSpPr/>
          <p:nvPr/>
        </p:nvSpPr>
        <p:spPr>
          <a:xfrm>
            <a:off x="6766005" y="3568700"/>
            <a:ext cx="4572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IBM Plex Sans" pitchFamily="34" charset="0"/>
                <a:ea typeface="IBM Plex Sans" pitchFamily="34" charset="-122"/>
                <a:cs typeface="IBM Plex Sans" pitchFamily="34" charset="-120"/>
              </a:rPr>
              <a:t>Search, filters and sorting</a:t>
            </a:r>
            <a:endParaRPr lang="en-US" sz="1500" dirty="0"/>
          </a:p>
        </p:txBody>
      </p:sp>
      <p:sp>
        <p:nvSpPr>
          <p:cNvPr id="18" name="Shape 16"/>
          <p:cNvSpPr/>
          <p:nvPr/>
        </p:nvSpPr>
        <p:spPr>
          <a:xfrm>
            <a:off x="6477000" y="3973196"/>
            <a:ext cx="4902200" cy="0"/>
          </a:xfrm>
          <a:prstGeom prst="line">
            <a:avLst/>
          </a:prstGeom>
          <a:noFill/>
          <a:ln w="6350">
            <a:solidFill>
              <a:srgbClr val="2E3E45"/>
            </a:solidFill>
            <a:prstDash val="solid"/>
          </a:ln>
        </p:spPr>
        <p:txBody>
          <a:bodyPr/>
          <a:p/>
        </p:txBody>
      </p:sp>
      <p:sp>
        <p:nvSpPr>
          <p:cNvPr id="19" name="Text 17"/>
          <p:cNvSpPr/>
          <p:nvPr/>
        </p:nvSpPr>
        <p:spPr>
          <a:xfrm>
            <a:off x="6477000" y="4102100"/>
            <a:ext cx="1620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C8BC"/>
                </a:solidFill>
                <a:latin typeface="Source Serif 4" pitchFamily="18" charset="0"/>
                <a:ea typeface="Source Serif 4" pitchFamily="18" charset="-122"/>
                <a:cs typeface="Source Serif 4" pitchFamily="18" charset="-120"/>
              </a:rPr>
              <a:t>5</a:t>
            </a:r>
            <a:endParaRPr lang="en-US" sz="1600" dirty="0"/>
          </a:p>
        </p:txBody>
      </p:sp>
      <p:sp>
        <p:nvSpPr>
          <p:cNvPr id="20" name="Text 18"/>
          <p:cNvSpPr/>
          <p:nvPr/>
        </p:nvSpPr>
        <p:spPr>
          <a:xfrm>
            <a:off x="6766005" y="4112261"/>
            <a:ext cx="4572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IBM Plex Sans" pitchFamily="34" charset="0"/>
                <a:ea typeface="IBM Plex Sans" pitchFamily="34" charset="-122"/>
                <a:cs typeface="IBM Plex Sans" pitchFamily="34" charset="-120"/>
              </a:rPr>
              <a:t>Dark theme and log out</a:t>
            </a:r>
            <a:endParaRPr lang="en-US" sz="1500" dirty="0"/>
          </a:p>
        </p:txBody>
      </p:sp>
      <p:sp>
        <p:nvSpPr>
          <p:cNvPr id="21" name="Shape 19"/>
          <p:cNvSpPr/>
          <p:nvPr/>
        </p:nvSpPr>
        <p:spPr>
          <a:xfrm>
            <a:off x="6477000" y="4516757"/>
            <a:ext cx="4902200" cy="0"/>
          </a:xfrm>
          <a:prstGeom prst="line">
            <a:avLst/>
          </a:prstGeom>
          <a:noFill/>
          <a:ln w="6350">
            <a:solidFill>
              <a:srgbClr val="2E3E45"/>
            </a:solidFill>
            <a:prstDash val="solid"/>
          </a:ln>
        </p:spPr>
        <p:txBody>
          <a:bodyPr/>
          <a:p/>
        </p:txBody>
      </p:sp>
      <p:sp>
        <p:nvSpPr>
          <p:cNvPr id="22" name="Shape 20"/>
          <p:cNvSpPr/>
          <p:nvPr/>
        </p:nvSpPr>
        <p:spPr>
          <a:xfrm>
            <a:off x="6477000" y="5059047"/>
            <a:ext cx="4902200" cy="0"/>
          </a:xfrm>
          <a:prstGeom prst="line">
            <a:avLst/>
          </a:prstGeom>
          <a:noFill/>
          <a:ln w="6350">
            <a:solidFill>
              <a:srgbClr val="2E3E45"/>
            </a:solidFill>
            <a:prstDash val="solid"/>
          </a:ln>
        </p:spPr>
        <p:txBody>
          <a:bodyPr/>
          <a:p/>
        </p:txBody>
      </p:sp>
      <p:sp>
        <p:nvSpPr>
          <p:cNvPr id="23" name="Text 21"/>
          <p:cNvSpPr/>
          <p:nvPr/>
        </p:nvSpPr>
        <p:spPr>
          <a:xfrm>
            <a:off x="6477000" y="4645661"/>
            <a:ext cx="1620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C8BC"/>
                </a:solidFill>
                <a:latin typeface="Source Serif 4" pitchFamily="18" charset="0"/>
                <a:ea typeface="Source Serif 4" pitchFamily="18" charset="-122"/>
                <a:cs typeface="Source Serif 4" pitchFamily="18" charset="-120"/>
              </a:rPr>
              <a:t>6</a:t>
            </a:r>
            <a:endParaRPr lang="en-US" sz="1600" dirty="0"/>
          </a:p>
        </p:txBody>
      </p:sp>
      <p:sp>
        <p:nvSpPr>
          <p:cNvPr id="24" name="Text 22"/>
          <p:cNvSpPr/>
          <p:nvPr/>
        </p:nvSpPr>
        <p:spPr>
          <a:xfrm>
            <a:off x="6766005" y="4655821"/>
            <a:ext cx="4572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IBM Plex Sans" pitchFamily="34" charset="0"/>
                <a:ea typeface="IBM Plex Sans" pitchFamily="34" charset="-122"/>
                <a:cs typeface="IBM Plex Sans" pitchFamily="34" charset="-120"/>
              </a:rPr>
              <a:t>Edge cases: bad input, wrong password, offline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03 · TECHNICAL · ARCHITECTURE</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A layered design with a secure backend</a:t>
            </a:r>
            <a:endParaRPr lang="en-US" sz="3200" dirty="0"/>
          </a:p>
        </p:txBody>
      </p:sp>
      <p:sp>
        <p:nvSpPr>
          <p:cNvPr id="4" name="Shape 2"/>
          <p:cNvSpPr/>
          <p:nvPr/>
        </p:nvSpPr>
        <p:spPr>
          <a:xfrm>
            <a:off x="812800" y="1828800"/>
            <a:ext cx="5486400" cy="3949700"/>
          </a:xfrm>
          <a:prstGeom prst="rect">
            <a:avLst/>
          </a:prstGeom>
          <a:solidFill>
            <a:srgbClr val="FFFFFF"/>
          </a:solidFill>
          <a:ln/>
        </p:spPr>
      </p:sp>
      <p:pic>
        <p:nvPicPr>
          <p:cNvPr id="5" name="Image 0" descr="Architecture diagram: UI layer, state layer with providers, service layer, and Supabase cloud with Auth, PostgREST and Postgres">    </p:cNvPr>
          <p:cNvPicPr>
            <a:picLocks noChangeAspect="1"/>
          </p:cNvPicPr>
          <p:nvPr/>
        </p:nvPicPr>
        <p:blipFill>
          <a:blip r:embed="rId1"/>
          <a:srcRect l="-52" r="-52" t="0" b="0"/>
          <a:stretch/>
        </p:blipFill>
        <p:spPr>
          <a:xfrm>
            <a:off x="819150" y="1835150"/>
            <a:ext cx="5473700" cy="3937000"/>
          </a:xfrm>
          <a:prstGeom prst="rect">
            <a:avLst/>
          </a:prstGeom>
        </p:spPr>
      </p:pic>
      <p:sp>
        <p:nvSpPr>
          <p:cNvPr id="6" name="Shape 3"/>
          <p:cNvSpPr/>
          <p:nvPr/>
        </p:nvSpPr>
        <p:spPr>
          <a:xfrm>
            <a:off x="815975" y="1831975"/>
            <a:ext cx="5480050" cy="3943350"/>
          </a:xfrm>
          <a:prstGeom prst="rect">
            <a:avLst/>
          </a:prstGeom>
          <a:noFill/>
          <a:ln w="6350">
            <a:solidFill>
              <a:srgbClr val="D5D9D4"/>
            </a:solidFill>
            <a:prstDash val="solid"/>
          </a:ln>
        </p:spPr>
      </p:sp>
      <p:sp>
        <p:nvSpPr>
          <p:cNvPr id="7" name="Shape 4"/>
          <p:cNvSpPr/>
          <p:nvPr/>
        </p:nvSpPr>
        <p:spPr>
          <a:xfrm>
            <a:off x="6705600" y="2290446"/>
            <a:ext cx="4673600" cy="0"/>
          </a:xfrm>
          <a:prstGeom prst="line">
            <a:avLst/>
          </a:prstGeom>
          <a:noFill/>
          <a:ln w="6350">
            <a:solidFill>
              <a:srgbClr val="D5D9D4"/>
            </a:solidFill>
            <a:prstDash val="solid"/>
          </a:ln>
        </p:spPr>
      </p:sp>
      <p:sp>
        <p:nvSpPr>
          <p:cNvPr id="8" name="Text 5"/>
          <p:cNvSpPr/>
          <p:nvPr/>
        </p:nvSpPr>
        <p:spPr>
          <a:xfrm>
            <a:off x="6705600" y="2419350"/>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6E63"/>
                </a:solidFill>
                <a:latin typeface="IBM Plex Sans" pitchFamily="34" charset="0"/>
                <a:ea typeface="IBM Plex Sans" pitchFamily="34" charset="-122"/>
                <a:cs typeface="IBM Plex Sans" pitchFamily="34" charset="-120"/>
              </a:rPr>
              <a:t>Presentation layer</a:t>
            </a:r>
            <a:endParaRPr lang="en-US" sz="1500" dirty="0"/>
          </a:p>
        </p:txBody>
      </p:sp>
      <p:sp>
        <p:nvSpPr>
          <p:cNvPr id="9" name="Text 6"/>
          <p:cNvSpPr/>
          <p:nvPr/>
        </p:nvSpPr>
        <p:spPr>
          <a:xfrm>
            <a:off x="6705600" y="2686050"/>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Screens and widgets render the interface only.</a:t>
            </a:r>
            <a:endParaRPr lang="en-US" sz="1300" dirty="0"/>
          </a:p>
        </p:txBody>
      </p:sp>
      <p:sp>
        <p:nvSpPr>
          <p:cNvPr id="10" name="Shape 7"/>
          <p:cNvSpPr/>
          <p:nvPr/>
        </p:nvSpPr>
        <p:spPr>
          <a:xfrm>
            <a:off x="6705600" y="3047364"/>
            <a:ext cx="4673600" cy="0"/>
          </a:xfrm>
          <a:prstGeom prst="line">
            <a:avLst/>
          </a:prstGeom>
          <a:noFill/>
          <a:ln w="6350">
            <a:solidFill>
              <a:srgbClr val="D5D9D4"/>
            </a:solidFill>
            <a:prstDash val="solid"/>
          </a:ln>
        </p:spPr>
      </p:sp>
      <p:sp>
        <p:nvSpPr>
          <p:cNvPr id="11" name="Text 8"/>
          <p:cNvSpPr/>
          <p:nvPr/>
        </p:nvSpPr>
        <p:spPr>
          <a:xfrm>
            <a:off x="6705600" y="3176271"/>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6E63"/>
                </a:solidFill>
                <a:latin typeface="IBM Plex Sans" pitchFamily="34" charset="0"/>
                <a:ea typeface="IBM Plex Sans" pitchFamily="34" charset="-122"/>
                <a:cs typeface="IBM Plex Sans" pitchFamily="34" charset="-120"/>
              </a:rPr>
              <a:t>State layer</a:t>
            </a:r>
            <a:endParaRPr lang="en-US" sz="1500" dirty="0"/>
          </a:p>
        </p:txBody>
      </p:sp>
      <p:sp>
        <p:nvSpPr>
          <p:cNvPr id="12" name="Text 9"/>
          <p:cNvSpPr/>
          <p:nvPr/>
        </p:nvSpPr>
        <p:spPr>
          <a:xfrm>
            <a:off x="6705600" y="3442971"/>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Providers hold application state and business logic.</a:t>
            </a:r>
            <a:endParaRPr lang="en-US" sz="1300" dirty="0"/>
          </a:p>
        </p:txBody>
      </p:sp>
      <p:sp>
        <p:nvSpPr>
          <p:cNvPr id="13" name="Shape 10"/>
          <p:cNvSpPr/>
          <p:nvPr/>
        </p:nvSpPr>
        <p:spPr>
          <a:xfrm>
            <a:off x="6705600" y="3804286"/>
            <a:ext cx="4673600" cy="0"/>
          </a:xfrm>
          <a:prstGeom prst="line">
            <a:avLst/>
          </a:prstGeom>
          <a:noFill/>
          <a:ln w="6350">
            <a:solidFill>
              <a:srgbClr val="D5D9D4"/>
            </a:solidFill>
            <a:prstDash val="solid"/>
          </a:ln>
        </p:spPr>
      </p:sp>
      <p:sp>
        <p:nvSpPr>
          <p:cNvPr id="14" name="Text 11"/>
          <p:cNvSpPr/>
          <p:nvPr/>
        </p:nvSpPr>
        <p:spPr>
          <a:xfrm>
            <a:off x="6705600" y="3933189"/>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6E63"/>
                </a:solidFill>
                <a:latin typeface="IBM Plex Sans" pitchFamily="34" charset="0"/>
                <a:ea typeface="IBM Plex Sans" pitchFamily="34" charset="-122"/>
                <a:cs typeface="IBM Plex Sans" pitchFamily="34" charset="-120"/>
              </a:rPr>
              <a:t>Service layer</a:t>
            </a:r>
            <a:endParaRPr lang="en-US" sz="1500" dirty="0"/>
          </a:p>
        </p:txBody>
      </p:sp>
      <p:sp>
        <p:nvSpPr>
          <p:cNvPr id="15" name="Text 12"/>
          <p:cNvSpPr/>
          <p:nvPr/>
        </p:nvSpPr>
        <p:spPr>
          <a:xfrm>
            <a:off x="6705600" y="4199889"/>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The only code that communicates with Supabase.</a:t>
            </a:r>
            <a:endParaRPr lang="en-US" sz="1300" dirty="0"/>
          </a:p>
        </p:txBody>
      </p:sp>
      <p:sp>
        <p:nvSpPr>
          <p:cNvPr id="16" name="Shape 13"/>
          <p:cNvSpPr/>
          <p:nvPr/>
        </p:nvSpPr>
        <p:spPr>
          <a:xfrm>
            <a:off x="6705600" y="4561207"/>
            <a:ext cx="4673600" cy="0"/>
          </a:xfrm>
          <a:prstGeom prst="line">
            <a:avLst/>
          </a:prstGeom>
          <a:noFill/>
          <a:ln w="6350">
            <a:solidFill>
              <a:srgbClr val="D5D9D4"/>
            </a:solidFill>
            <a:prstDash val="solid"/>
          </a:ln>
        </p:spPr>
      </p:sp>
      <p:sp>
        <p:nvSpPr>
          <p:cNvPr id="17" name="Shape 14"/>
          <p:cNvSpPr/>
          <p:nvPr/>
        </p:nvSpPr>
        <p:spPr>
          <a:xfrm>
            <a:off x="6705600" y="5316857"/>
            <a:ext cx="4673600" cy="0"/>
          </a:xfrm>
          <a:prstGeom prst="line">
            <a:avLst/>
          </a:prstGeom>
          <a:noFill/>
          <a:ln w="6350">
            <a:solidFill>
              <a:srgbClr val="D5D9D4"/>
            </a:solidFill>
            <a:prstDash val="solid"/>
          </a:ln>
        </p:spPr>
      </p:sp>
      <p:sp>
        <p:nvSpPr>
          <p:cNvPr id="18" name="Text 15"/>
          <p:cNvSpPr/>
          <p:nvPr/>
        </p:nvSpPr>
        <p:spPr>
          <a:xfrm>
            <a:off x="6705600" y="4690111"/>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6E63"/>
                </a:solidFill>
                <a:latin typeface="IBM Plex Sans" pitchFamily="34" charset="0"/>
                <a:ea typeface="IBM Plex Sans" pitchFamily="34" charset="-122"/>
                <a:cs typeface="IBM Plex Sans" pitchFamily="34" charset="-120"/>
              </a:rPr>
              <a:t>Row Level Security</a:t>
            </a:r>
            <a:endParaRPr lang="en-US" sz="1500" dirty="0"/>
          </a:p>
        </p:txBody>
      </p:sp>
      <p:sp>
        <p:nvSpPr>
          <p:cNvPr id="19" name="Text 16"/>
          <p:cNvSpPr/>
          <p:nvPr/>
        </p:nvSpPr>
        <p:spPr>
          <a:xfrm>
            <a:off x="6705600" y="4956811"/>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Each user can access only their own records.</a:t>
            </a:r>
            <a:endParaRPr lang="en-US" sz="1300" dirty="0"/>
          </a:p>
        </p:txBody>
      </p:sp>
      <p:pic>
        <p:nvPicPr>
          <p:cNvPr id="20" name="Image 1" descr="line">    </p:cNvPr>
          <p:cNvPicPr>
            <a:picLocks noChangeAspect="1"/>
          </p:cNvPicPr>
          <p:nvPr/>
        </p:nvPicPr>
        <p:blipFill>
          <a:blip r:embed="rId2"/>
          <a:srcRect l="-12500" r="-12500" t="0" b="0"/>
          <a:stretch/>
        </p:blipFill>
        <p:spPr>
          <a:xfrm>
            <a:off x="812800" y="6096000"/>
            <a:ext cx="10566400" cy="10160"/>
          </a:xfrm>
          <a:prstGeom prst="rect">
            <a:avLst/>
          </a:prstGeom>
        </p:spPr>
      </p:pic>
      <p:sp>
        <p:nvSpPr>
          <p:cNvPr id="21" name="Text 17"/>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22" name="Text 18"/>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03 · TECHNICAL · TECHNOLOGY STACK</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Tools and technologies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6240" cy="3413760"/>
        </p:xfrm>
        <a:graphic>
          <a:graphicData uri="http://schemas.openxmlformats.org/drawingml/2006/table">
            <a:tbl>
              <a:tblPr/>
              <a:tblGrid>
                <a:gridCol w="2533498"/>
                <a:gridCol w="3166872"/>
                <a:gridCol w="4855870"/>
              </a:tblGrid>
              <a:tr h="487680">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Area</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16202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2025"/>
                      </a:solidFill>
                      <a:prstDash val="solid"/>
                      <a:round/>
                      <a:headEnd type="none" w="med" len="med"/>
                      <a:tailEnd type="none" w="med" len="med"/>
                    </a:lnB>
                    <a:solidFill>
                      <a:srgbClr val="16232A"/>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Technology</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162025"/>
                      </a:solidFill>
                      <a:prstDash val="solid"/>
                      <a:round/>
                      <a:headEnd type="none" w="med" len="med"/>
                      <a:tailEnd type="none" w="med" len="med"/>
                    </a:lnL>
                    <a:lnR w="12700" cap="flat" cmpd="sng" algn="ctr">
                      <a:solidFill>
                        <a:srgbClr val="16202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2025"/>
                      </a:solidFill>
                      <a:prstDash val="solid"/>
                      <a:round/>
                      <a:headEnd type="none" w="med" len="med"/>
                      <a:tailEnd type="none" w="med" len="med"/>
                    </a:lnB>
                    <a:solidFill>
                      <a:srgbClr val="16232A"/>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Purpose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162025"/>
                      </a:solidFill>
                      <a:prstDash val="solid"/>
                      <a:round/>
                      <a:headEnd type="none" w="med" len="med"/>
                      <a:tailEnd type="none" w="med" len="med"/>
                    </a:lnL>
                    <a:lnR w="12700" cap="flat" cmpd="sng" algn="ctr">
                      <a:solidFill>
                        <a:srgbClr val="16202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2025"/>
                      </a:solidFill>
                      <a:prstDash val="solid"/>
                      <a:round/>
                      <a:headEnd type="none" w="med" len="med"/>
                      <a:tailEnd type="none" w="med" len="med"/>
                    </a:lnB>
                    <a:solidFill>
                      <a:srgbClr val="16232A"/>
                    </a:solidFill>
                  </a:tcPr>
                </a:tc>
              </a:tr>
              <a:tr h="4876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Framework</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202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Flutter · Dart 3.13</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202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One codebase for Android and iOS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202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76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State management</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Provider</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Shares state between screens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4876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Backend</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Supabase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Authentication and REST API</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76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Database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PostgreSQL</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Stores expenses with Row Level Security</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4876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Local storage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SharedPreferences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Remembers the selected theme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76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Quality</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flutter_test · flutter_lints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Automated tests and static analysis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bl>
          </a:graphicData>
        </a:graphic>
      </p:graphicFrame>
      <p:pic>
        <p:nvPicPr>
          <p:cNvPr id="5" name="Image 0" descr="line">    </p:cNvPr>
          <p:cNvPicPr>
            <a:picLocks noChangeAspect="1"/>
          </p:cNvPicPr>
          <p:nvPr/>
        </p:nvPicPr>
        <p:blipFill>
          <a:blip r:embed="rId1"/>
          <a:srcRect l="-12500" r="-12500" t="0" b="0"/>
          <a:stretch/>
        </p:blipFill>
        <p:spPr>
          <a:xfrm>
            <a:off x="812800" y="6096000"/>
            <a:ext cx="10566400" cy="10160"/>
          </a:xfrm>
          <a:prstGeom prst="rect">
            <a:avLst/>
          </a:prstGeom>
        </p:spPr>
      </p:pic>
      <p:sp>
        <p:nvSpPr>
          <p:cNvPr id="6" name="Text 2"/>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7" name="Text 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03 · TECHNICAL · QUALITY ASSURANCE</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Verified through testing and analysis</a:t>
            </a:r>
            <a:endParaRPr lang="en-US" sz="3200" dirty="0"/>
          </a:p>
        </p:txBody>
      </p:sp>
      <p:sp>
        <p:nvSpPr>
          <p:cNvPr id="4" name="Text 2"/>
          <p:cNvSpPr/>
          <p:nvPr/>
        </p:nvSpPr>
        <p:spPr>
          <a:xfrm>
            <a:off x="812800" y="1930400"/>
            <a:ext cx="232449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B6E63"/>
                </a:solidFill>
                <a:latin typeface="Source Serif 4" pitchFamily="18" charset="0"/>
                <a:ea typeface="Source Serif 4" pitchFamily="18" charset="-122"/>
                <a:cs typeface="Source Serif 4" pitchFamily="18" charset="-120"/>
              </a:rPr>
              <a:t>40</a:t>
            </a:r>
            <a:endParaRPr lang="en-US" sz="6000" dirty="0"/>
          </a:p>
        </p:txBody>
      </p:sp>
      <p:sp>
        <p:nvSpPr>
          <p:cNvPr id="5" name="Text 3"/>
          <p:cNvSpPr/>
          <p:nvPr/>
        </p:nvSpPr>
        <p:spPr>
          <a:xfrm>
            <a:off x="812800" y="2768600"/>
            <a:ext cx="23244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Automated tests passed</a:t>
            </a:r>
            <a:endParaRPr lang="en-US" sz="1400" dirty="0"/>
          </a:p>
        </p:txBody>
      </p:sp>
      <p:sp>
        <p:nvSpPr>
          <p:cNvPr id="6" name="Text 4"/>
          <p:cNvSpPr/>
          <p:nvPr/>
        </p:nvSpPr>
        <p:spPr>
          <a:xfrm>
            <a:off x="812800" y="3093721"/>
            <a:ext cx="232449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Unit and widget tests for validators, providers and screens.</a:t>
            </a:r>
            <a:endParaRPr lang="en-US" sz="1300" dirty="0"/>
          </a:p>
        </p:txBody>
      </p:sp>
      <p:sp>
        <p:nvSpPr>
          <p:cNvPr id="7" name="Shape 5"/>
          <p:cNvSpPr/>
          <p:nvPr/>
        </p:nvSpPr>
        <p:spPr>
          <a:xfrm>
            <a:off x="3326765" y="1930400"/>
            <a:ext cx="0" cy="1856740"/>
          </a:xfrm>
          <a:prstGeom prst="line">
            <a:avLst/>
          </a:prstGeom>
          <a:noFill/>
          <a:ln w="6350">
            <a:solidFill>
              <a:srgbClr val="D5D9D4"/>
            </a:solidFill>
            <a:prstDash val="solid"/>
          </a:ln>
        </p:spPr>
      </p:sp>
      <p:sp>
        <p:nvSpPr>
          <p:cNvPr id="8" name="Text 6"/>
          <p:cNvSpPr/>
          <p:nvPr/>
        </p:nvSpPr>
        <p:spPr>
          <a:xfrm>
            <a:off x="3582670" y="1930400"/>
            <a:ext cx="232449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B6E63"/>
                </a:solidFill>
                <a:latin typeface="Source Serif 4" pitchFamily="18" charset="0"/>
                <a:ea typeface="Source Serif 4" pitchFamily="18" charset="-122"/>
                <a:cs typeface="Source Serif 4" pitchFamily="18" charset="-120"/>
              </a:rPr>
              <a:t>0</a:t>
            </a:r>
            <a:endParaRPr lang="en-US" sz="6000" dirty="0"/>
          </a:p>
        </p:txBody>
      </p:sp>
      <p:sp>
        <p:nvSpPr>
          <p:cNvPr id="9" name="Text 7"/>
          <p:cNvSpPr/>
          <p:nvPr/>
        </p:nvSpPr>
        <p:spPr>
          <a:xfrm>
            <a:off x="3582670" y="2768600"/>
            <a:ext cx="23244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Static analysis issues</a:t>
            </a:r>
            <a:endParaRPr lang="en-US" sz="1400" dirty="0"/>
          </a:p>
        </p:txBody>
      </p:sp>
      <p:sp>
        <p:nvSpPr>
          <p:cNvPr id="10" name="Text 8"/>
          <p:cNvSpPr/>
          <p:nvPr/>
        </p:nvSpPr>
        <p:spPr>
          <a:xfrm>
            <a:off x="3582670" y="3093721"/>
            <a:ext cx="23244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Strict lint rules, including no debug prints.</a:t>
            </a:r>
            <a:endParaRPr lang="en-US" sz="1300" dirty="0"/>
          </a:p>
        </p:txBody>
      </p:sp>
      <p:sp>
        <p:nvSpPr>
          <p:cNvPr id="11" name="Shape 9"/>
          <p:cNvSpPr/>
          <p:nvPr/>
        </p:nvSpPr>
        <p:spPr>
          <a:xfrm>
            <a:off x="6096635" y="1930400"/>
            <a:ext cx="0" cy="1856740"/>
          </a:xfrm>
          <a:prstGeom prst="line">
            <a:avLst/>
          </a:prstGeom>
          <a:noFill/>
          <a:ln w="6350">
            <a:solidFill>
              <a:srgbClr val="D5D9D4"/>
            </a:solidFill>
            <a:prstDash val="solid"/>
          </a:ln>
        </p:spPr>
      </p:sp>
      <p:sp>
        <p:nvSpPr>
          <p:cNvPr id="12" name="Text 10"/>
          <p:cNvSpPr/>
          <p:nvPr/>
        </p:nvSpPr>
        <p:spPr>
          <a:xfrm>
            <a:off x="6352540" y="1930400"/>
            <a:ext cx="232449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B6E63"/>
                </a:solidFill>
                <a:latin typeface="Source Serif 4" pitchFamily="18" charset="0"/>
                <a:ea typeface="Source Serif 4" pitchFamily="18" charset="-122"/>
                <a:cs typeface="Source Serif 4" pitchFamily="18" charset="-120"/>
              </a:rPr>
              <a:t>20 s</a:t>
            </a:r>
            <a:endParaRPr lang="en-US" sz="6000" dirty="0"/>
          </a:p>
        </p:txBody>
      </p:sp>
      <p:sp>
        <p:nvSpPr>
          <p:cNvPr id="13" name="Text 11"/>
          <p:cNvSpPr/>
          <p:nvPr/>
        </p:nvSpPr>
        <p:spPr>
          <a:xfrm>
            <a:off x="6352540" y="2768600"/>
            <a:ext cx="23244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Request timeout</a:t>
            </a:r>
            <a:endParaRPr lang="en-US" sz="1400" dirty="0"/>
          </a:p>
        </p:txBody>
      </p:sp>
      <p:sp>
        <p:nvSpPr>
          <p:cNvPr id="14" name="Text 12"/>
          <p:cNvSpPr/>
          <p:nvPr/>
        </p:nvSpPr>
        <p:spPr>
          <a:xfrm>
            <a:off x="6352540" y="3093721"/>
            <a:ext cx="23244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Network errors become clear, friendly messages.</a:t>
            </a:r>
            <a:endParaRPr lang="en-US" sz="1300" dirty="0"/>
          </a:p>
        </p:txBody>
      </p:sp>
      <p:sp>
        <p:nvSpPr>
          <p:cNvPr id="15" name="Shape 13"/>
          <p:cNvSpPr/>
          <p:nvPr/>
        </p:nvSpPr>
        <p:spPr>
          <a:xfrm>
            <a:off x="8866505" y="1930400"/>
            <a:ext cx="0" cy="1856740"/>
          </a:xfrm>
          <a:prstGeom prst="line">
            <a:avLst/>
          </a:prstGeom>
          <a:noFill/>
          <a:ln w="6350">
            <a:solidFill>
              <a:srgbClr val="D5D9D4"/>
            </a:solidFill>
            <a:prstDash val="solid"/>
          </a:ln>
        </p:spPr>
      </p:sp>
      <p:sp>
        <p:nvSpPr>
          <p:cNvPr id="16" name="Text 14"/>
          <p:cNvSpPr/>
          <p:nvPr/>
        </p:nvSpPr>
        <p:spPr>
          <a:xfrm>
            <a:off x="9122410" y="1930400"/>
            <a:ext cx="232449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B6E63"/>
                </a:solidFill>
                <a:latin typeface="Source Serif 4" pitchFamily="18" charset="0"/>
                <a:ea typeface="Source Serif 4" pitchFamily="18" charset="-122"/>
                <a:cs typeface="Source Serif 4" pitchFamily="18" charset="-120"/>
              </a:rPr>
              <a:t>13</a:t>
            </a:r>
            <a:endParaRPr lang="en-US" sz="6000" dirty="0"/>
          </a:p>
        </p:txBody>
      </p:sp>
      <p:sp>
        <p:nvSpPr>
          <p:cNvPr id="17" name="Text 15"/>
          <p:cNvSpPr/>
          <p:nvPr/>
        </p:nvSpPr>
        <p:spPr>
          <a:xfrm>
            <a:off x="9122410" y="2768600"/>
            <a:ext cx="23244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Bugs fixed</a:t>
            </a:r>
            <a:endParaRPr lang="en-US" sz="1400" dirty="0"/>
          </a:p>
        </p:txBody>
      </p:sp>
      <p:sp>
        <p:nvSpPr>
          <p:cNvPr id="18" name="Text 16"/>
          <p:cNvSpPr/>
          <p:nvPr/>
        </p:nvSpPr>
        <p:spPr>
          <a:xfrm>
            <a:off x="9122410" y="3093721"/>
            <a:ext cx="23244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Found and resolved during feature completion.</a:t>
            </a:r>
            <a:endParaRPr lang="en-US" sz="1300" dirty="0"/>
          </a:p>
        </p:txBody>
      </p:sp>
      <p:sp>
        <p:nvSpPr>
          <p:cNvPr id="19" name="Text 17"/>
          <p:cNvSpPr/>
          <p:nvPr/>
        </p:nvSpPr>
        <p:spPr>
          <a:xfrm>
            <a:off x="812800" y="4142742"/>
            <a:ext cx="1088339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860"/>
                </a:solidFill>
                <a:latin typeface="IBM Plex Sans" pitchFamily="34" charset="0"/>
                <a:ea typeface="IBM Plex Sans" pitchFamily="34" charset="-122"/>
                <a:cs typeface="IBM Plex Sans" pitchFamily="34" charset="-120"/>
              </a:rPr>
              <a:t>Input validation covers edge cases such as NaN, 1e5, negative values and decimal commas.</a:t>
            </a:r>
            <a:endParaRPr lang="en-US" sz="1400" dirty="0"/>
          </a:p>
        </p:txBody>
      </p:sp>
      <p:pic>
        <p:nvPicPr>
          <p:cNvPr id="20" name="Image 0" descr="line">    </p:cNvPr>
          <p:cNvPicPr>
            <a:picLocks noChangeAspect="1"/>
          </p:cNvPicPr>
          <p:nvPr/>
        </p:nvPicPr>
        <p:blipFill>
          <a:blip r:embed="rId1"/>
          <a:srcRect l="-12500" r="-12500" t="0" b="0"/>
          <a:stretch/>
        </p:blipFill>
        <p:spPr>
          <a:xfrm>
            <a:off x="812800" y="6096000"/>
            <a:ext cx="10566400" cy="10160"/>
          </a:xfrm>
          <a:prstGeom prst="rect">
            <a:avLst/>
          </a:prstGeom>
        </p:spPr>
      </p:pic>
      <p:sp>
        <p:nvSpPr>
          <p:cNvPr id="21" name="Text 18"/>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22" name="Text 1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04 · COLLABORATION · LEARNINGS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What I learned and what comes next</a:t>
            </a:r>
            <a:endParaRPr lang="en-US" sz="3200" dirty="0"/>
          </a:p>
        </p:txBody>
      </p:sp>
      <p:sp>
        <p:nvSpPr>
          <p:cNvPr id="4" name="Shape 2"/>
          <p:cNvSpPr/>
          <p:nvPr/>
        </p:nvSpPr>
        <p:spPr>
          <a:xfrm>
            <a:off x="812800" y="2340610"/>
            <a:ext cx="5080000" cy="0"/>
          </a:xfrm>
          <a:prstGeom prst="line">
            <a:avLst/>
          </a:prstGeom>
          <a:noFill/>
          <a:ln w="12700">
            <a:solidFill>
              <a:srgbClr val="0B6E63"/>
            </a:solidFill>
            <a:prstDash val="solid"/>
          </a:ln>
        </p:spPr>
        <p:txBody>
          <a:bodyPr/>
          <a:p/>
        </p:txBody>
      </p:sp>
      <p:sp>
        <p:nvSpPr>
          <p:cNvPr id="5" name="Text 3"/>
          <p:cNvSpPr/>
          <p:nvPr/>
        </p:nvSpPr>
        <p:spPr>
          <a:xfrm>
            <a:off x="812800" y="1930400"/>
            <a:ext cx="52324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32A"/>
                </a:solidFill>
                <a:latin typeface="Source Serif 4" pitchFamily="18" charset="0"/>
                <a:ea typeface="Source Serif 4" pitchFamily="18" charset="-122"/>
                <a:cs typeface="Source Serif 4" pitchFamily="18" charset="-120"/>
              </a:rPr>
              <a:t>Key lessons</a:t>
            </a:r>
            <a:endParaRPr lang="en-US" sz="2000" dirty="0"/>
          </a:p>
        </p:txBody>
      </p:sp>
      <p:sp>
        <p:nvSpPr>
          <p:cNvPr id="6" name="Text 4"/>
          <p:cNvSpPr/>
          <p:nvPr/>
        </p:nvSpPr>
        <p:spPr>
          <a:xfrm>
            <a:off x="891032" y="2499364"/>
            <a:ext cx="5146548" cy="1828800"/>
          </a:xfrm>
          <a:prstGeom prst="rect">
            <a:avLst/>
          </a:prstGeom>
          <a:noFill/>
          <a:ln/>
        </p:spPr>
        <p:txBody>
          <a:bodyPr wrap="square" lIns="0" tIns="0" rIns="0" bIns="0" rtlCol="0" anchor="t">
            <a:normAutofit/>
          </a:bodyPr>
          <a:lstStyle/>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Separate an application into clear layers</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Enforce data security at the database level</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Handle edge cases and errors before release</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Always test the release build on a device</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Plan in milestones and commit small, clear changes</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Write documentation as part of the work, not after it</a:t>
            </a:r>
            <a:endParaRPr lang="en-US" sz="1400" dirty="0"/>
          </a:p>
        </p:txBody>
      </p:sp>
      <p:sp>
        <p:nvSpPr>
          <p:cNvPr id="7" name="Shape 5"/>
          <p:cNvSpPr/>
          <p:nvPr/>
        </p:nvSpPr>
        <p:spPr>
          <a:xfrm>
            <a:off x="6299200" y="2340610"/>
            <a:ext cx="5080000" cy="0"/>
          </a:xfrm>
          <a:prstGeom prst="line">
            <a:avLst/>
          </a:prstGeom>
          <a:noFill/>
          <a:ln w="12700">
            <a:solidFill>
              <a:srgbClr val="0B6E63"/>
            </a:solidFill>
            <a:prstDash val="solid"/>
          </a:ln>
        </p:spPr>
      </p:sp>
      <p:sp>
        <p:nvSpPr>
          <p:cNvPr id="8" name="Text 6"/>
          <p:cNvSpPr/>
          <p:nvPr/>
        </p:nvSpPr>
        <p:spPr>
          <a:xfrm>
            <a:off x="6299200" y="1930400"/>
            <a:ext cx="52324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32A"/>
                </a:solidFill>
                <a:latin typeface="Source Serif 4" pitchFamily="18" charset="0"/>
                <a:ea typeface="Source Serif 4" pitchFamily="18" charset="-122"/>
                <a:cs typeface="Source Serif 4" pitchFamily="18" charset="-120"/>
              </a:rPr>
              <a:t>Future work</a:t>
            </a:r>
            <a:endParaRPr lang="en-US" sz="2000" dirty="0"/>
          </a:p>
        </p:txBody>
      </p:sp>
      <p:sp>
        <p:nvSpPr>
          <p:cNvPr id="9" name="Text 7"/>
          <p:cNvSpPr/>
          <p:nvPr/>
        </p:nvSpPr>
        <p:spPr>
          <a:xfrm>
            <a:off x="6377432" y="2499364"/>
            <a:ext cx="5146548" cy="1163320"/>
          </a:xfrm>
          <a:prstGeom prst="rect">
            <a:avLst/>
          </a:prstGeom>
          <a:noFill/>
          <a:ln/>
        </p:spPr>
        <p:txBody>
          <a:bodyPr wrap="square" lIns="0" tIns="0" rIns="0" bIns="0" rtlCol="0" anchor="t">
            <a:normAutofit/>
          </a:bodyPr>
          <a:lstStyle/>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Monthly budgets with alerts</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Spending charts over time</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Receipt photo attachments</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Excel export and offline synchronisation</a:t>
            </a:r>
            <a:endParaRPr lang="en-US" sz="1400" dirty="0"/>
          </a:p>
        </p:txBody>
      </p:sp>
      <p:pic>
        <p:nvPicPr>
          <p:cNvPr id="10" name="Image 0" descr="line">    </p:cNvPr>
          <p:cNvPicPr>
            <a:picLocks noChangeAspect="1"/>
          </p:cNvPicPr>
          <p:nvPr/>
        </p:nvPicPr>
        <p:blipFill>
          <a:blip r:embed="rId1"/>
          <a:srcRect l="-12500" r="-12500" t="0" b="0"/>
          <a:stretch/>
        </p:blipFill>
        <p:spPr>
          <a:xfrm>
            <a:off x="812800" y="6096000"/>
            <a:ext cx="10566400" cy="10160"/>
          </a:xfrm>
          <a:prstGeom prst="rect">
            <a:avLst/>
          </a:prstGeom>
        </p:spPr>
      </p:pic>
      <p:sp>
        <p:nvSpPr>
          <p:cNvPr id="11" name="Text 8"/>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12"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32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B6E63"/>
          </a:solidFill>
          <a:ln/>
        </p:spPr>
        <p:txBody>
          <a:bodyPr/>
          <a:p/>
        </p:txBody>
      </p:sp>
      <p:sp>
        <p:nvSpPr>
          <p:cNvPr id="3" name="Text 1"/>
          <p:cNvSpPr/>
          <p:nvPr/>
        </p:nvSpPr>
        <p:spPr>
          <a:xfrm>
            <a:off x="812800" y="19177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7FC8BC"/>
                </a:solidFill>
                <a:latin typeface="IBM Plex Sans" pitchFamily="34" charset="0"/>
                <a:ea typeface="IBM Plex Sans" pitchFamily="34" charset="-122"/>
                <a:cs typeface="IBM Plex Sans" pitchFamily="34" charset="-120"/>
              </a:rPr>
              <a:t>05 · QUESTIONS AND ANSWERS</a:t>
            </a:r>
            <a:endParaRPr lang="en-US" sz="1300" dirty="0"/>
          </a:p>
        </p:txBody>
      </p:sp>
      <p:sp>
        <p:nvSpPr>
          <p:cNvPr id="4" name="Text 2"/>
          <p:cNvSpPr/>
          <p:nvPr>
            <p:ph type="title"/>
          </p:nvPr>
        </p:nvSpPr>
        <p:spPr>
          <a:xfrm>
            <a:off x="812800" y="2352042"/>
            <a:ext cx="10883392" cy="932180"/>
          </a:xfrm>
          <a:prstGeom prst="rect">
            <a:avLst/>
          </a:prstGeom>
          <a:noFill/>
          <a:ln/>
        </p:spPr>
        <p:txBody>
          <a:bodyPr wrap="square" lIns="0" tIns="0" rIns="0" bIns="0" rtlCol="0" anchor="t">
            <a:normAutofit/>
          </a:bodyPr>
          <a:lstStyle/>
          <a:p>
            <a:pPr algn="l" indent="0" marL="0">
              <a:lnSpc>
                <a:spcPts val="7140"/>
              </a:lnSpc>
              <a:buNone/>
            </a:pPr>
            <a:r>
              <a:rPr lang="en-US" sz="7000" b="1" i="0" dirty="0">
                <a:solidFill>
                  <a:srgbClr val="F7F6F2"/>
                </a:solidFill>
                <a:latin typeface="Source Serif 4" pitchFamily="18" charset="0"/>
                <a:ea typeface="Source Serif 4" pitchFamily="18" charset="-122"/>
                <a:cs typeface="Source Serif 4" pitchFamily="18" charset="-120"/>
              </a:rPr>
              <a:t>Thank you</a:t>
            </a:r>
            <a:endParaRPr lang="en-US" sz="7000" dirty="0"/>
          </a:p>
        </p:txBody>
      </p:sp>
      <p:sp>
        <p:nvSpPr>
          <p:cNvPr id="5" name="Text 3"/>
          <p:cNvSpPr/>
          <p:nvPr/>
        </p:nvSpPr>
        <p:spPr>
          <a:xfrm>
            <a:off x="812800" y="3462021"/>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3CDD0"/>
                </a:solidFill>
                <a:latin typeface="IBM Plex Sans" pitchFamily="34" charset="0"/>
                <a:ea typeface="IBM Plex Sans" pitchFamily="34" charset="-122"/>
                <a:cs typeface="IBM Plex Sans" pitchFamily="34" charset="-120"/>
              </a:rPr>
              <a:t>I would be happy to answer your questions.</a:t>
            </a:r>
            <a:endParaRPr lang="en-US" sz="2200" dirty="0"/>
          </a:p>
        </p:txBody>
      </p:sp>
      <p:sp>
        <p:nvSpPr>
          <p:cNvPr id="6" name="Shape 4"/>
          <p:cNvSpPr/>
          <p:nvPr/>
        </p:nvSpPr>
        <p:spPr>
          <a:xfrm>
            <a:off x="812800" y="4028442"/>
            <a:ext cx="762000" cy="25400"/>
          </a:xfrm>
          <a:prstGeom prst="rect">
            <a:avLst/>
          </a:prstGeom>
          <a:solidFill>
            <a:srgbClr val="0B6E63"/>
          </a:solidFill>
          <a:ln/>
        </p:spPr>
      </p:sp>
      <p:sp>
        <p:nvSpPr>
          <p:cNvPr id="7" name="Text 5"/>
          <p:cNvSpPr/>
          <p:nvPr/>
        </p:nvSpPr>
        <p:spPr>
          <a:xfrm>
            <a:off x="812800" y="42570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Maram Sharaf</a:t>
            </a:r>
            <a:endParaRPr lang="en-US" sz="1400" dirty="0"/>
          </a:p>
        </p:txBody>
      </p:sp>
      <p:sp>
        <p:nvSpPr>
          <p:cNvPr id="8" name="Text 6"/>
          <p:cNvSpPr/>
          <p:nvPr/>
        </p:nvSpPr>
        <p:spPr>
          <a:xfrm>
            <a:off x="812800" y="4709164"/>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AB0"/>
                </a:solidFill>
                <a:latin typeface="IBM Plex Sans" pitchFamily="34" charset="0"/>
                <a:ea typeface="IBM Plex Sans" pitchFamily="34" charset="-122"/>
                <a:cs typeface="IBM Plex Sans" pitchFamily="34" charset="-120"/>
              </a:rPr>
              <a:t>Flutter Internship Program · October 2026</a:t>
            </a:r>
            <a:endParaRPr lang="en-US" sz="13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813816" y="1124712"/>
            <a:ext cx="10881360" cy="548640"/>
          </a:xfrm>
        </p:spPr>
        <p:txBody>
          <a:bodyPr lIns="0" rIns="0" tIns="0" bIns="0"/>
          <a:lstStyle/>
          <a:p>
            <a:pPr algn="l"/>
            <a:r>
              <a:rPr sz="3200" b="1">
                <a:solidFill>
                  <a:srgbClr val="16232A"/>
                </a:solidFill>
                <a:latin typeface="Source Serif 4"/>
              </a:rPr>
              <a:t>One complete user journey, end to end</a:t>
            </a:r>
          </a:p>
        </p:txBody>
      </p:sp>
      <p:sp>
        <p:nvSpPr>
          <p:cNvPr id="3" name="TextBox 2"/>
          <p:cNvSpPr txBox="1"/>
          <p:nvPr/>
        </p:nvSpPr>
        <p:spPr>
          <a:xfrm>
            <a:off x="813816" y="813816"/>
            <a:ext cx="10881360" cy="237744"/>
          </a:xfrm>
          <a:prstGeom prst="rect">
            <a:avLst/>
          </a:prstGeom>
          <a:noFill/>
        </p:spPr>
        <p:txBody>
          <a:bodyPr wrap="square" lIns="0" rIns="0" tIns="0" bIns="0" anchor="t">
            <a:spAutoFit/>
          </a:bodyPr>
          <a:lstStyle/>
          <a:p>
            <a:pPr algn="l"/>
            <a:r>
              <a:rPr sz="1200" b="1">
                <a:solidFill>
                  <a:srgbClr val="0B6E63"/>
                </a:solidFill>
                <a:latin typeface="IBM Plex Sans"/>
              </a:rPr>
              <a:t>02 · LIVE DEMO · USER FLOW</a:t>
            </a:r>
          </a:p>
        </p:txBody>
      </p:sp>
      <p:cxnSp>
        <p:nvCxnSpPr>
          <p:cNvPr id="4" name="Connector 3"/>
          <p:cNvCxnSpPr/>
          <p:nvPr/>
        </p:nvCxnSpPr>
        <p:spPr>
          <a:xfrm>
            <a:off x="813816" y="6099048"/>
            <a:ext cx="10570464"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6236208"/>
            <a:ext cx="5888736" cy="237744"/>
          </a:xfrm>
          <a:prstGeom prst="rect">
            <a:avLst/>
          </a:prstGeom>
          <a:noFill/>
        </p:spPr>
        <p:txBody>
          <a:bodyPr wrap="square" lIns="0" rIns="0" tIns="0" bIns="0" anchor="t">
            <a:spAutoFit/>
          </a:bodyPr>
          <a:lstStyle/>
          <a:p>
            <a:pPr algn="l"/>
            <a:r>
              <a:rPr sz="1200" b="0">
                <a:solidFill>
                  <a:srgbClr val="6B7880"/>
                </a:solidFill>
                <a:latin typeface="IBM Plex Sans"/>
              </a:rPr>
              <a:t>Expense Tracker · Final Project Presentation</a:t>
            </a:r>
          </a:p>
        </p:txBody>
      </p:sp>
      <p:sp>
        <p:nvSpPr>
          <p:cNvPr id="6" name="PageNum"/>
          <p:cNvSpPr txBox="1"/>
          <p:nvPr/>
        </p:nvSpPr>
        <p:spPr>
          <a:xfrm>
            <a:off x="10058400" y="6236208"/>
            <a:ext cx="1316736" cy="237744"/>
          </a:xfrm>
          <a:prstGeom prst="rect">
            <a:avLst/>
          </a:prstGeom>
          <a:noFill/>
        </p:spPr>
        <p:txBody>
          <a:bodyPr wrap="square" lIns="0" rIns="0" tIns="0" bIns="0" anchor="t">
            <a:spAutoFit/>
          </a:bodyPr>
          <a:lstStyle/>
          <a:p>
            <a:pPr algn="r"/>
            <a:r>
              <a:rPr sz="1200" b="0">
                <a:solidFill>
                  <a:srgbClr val="6B7880"/>
                </a:solidFill>
                <a:latin typeface="IBM Plex Sans"/>
              </a:rPr>
              <a:t>07</a:t>
            </a:r>
          </a:p>
        </p:txBody>
      </p:sp>
      <p:sp>
        <p:nvSpPr>
          <p:cNvPr id="7" name="Rounded Rectangle 6"/>
          <p:cNvSpPr/>
          <p:nvPr/>
        </p:nvSpPr>
        <p:spPr>
          <a:xfrm>
            <a:off x="813816" y="1965960"/>
            <a:ext cx="2395728" cy="1325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42416" y="2194560"/>
            <a:ext cx="384048" cy="384048"/>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1</a:t>
            </a:r>
          </a:p>
        </p:txBody>
      </p:sp>
      <p:sp>
        <p:nvSpPr>
          <p:cNvPr id="9" name="TextBox 8"/>
          <p:cNvSpPr txBox="1"/>
          <p:nvPr/>
        </p:nvSpPr>
        <p:spPr>
          <a:xfrm>
            <a:off x="1042416" y="2697480"/>
            <a:ext cx="2029968" cy="274320"/>
          </a:xfrm>
          <a:prstGeom prst="rect">
            <a:avLst/>
          </a:prstGeom>
          <a:noFill/>
        </p:spPr>
        <p:txBody>
          <a:bodyPr wrap="square" lIns="0" rIns="0" tIns="0" bIns="0" anchor="t">
            <a:spAutoFit/>
          </a:bodyPr>
          <a:lstStyle/>
          <a:p>
            <a:pPr algn="l"/>
            <a:r>
              <a:rPr sz="1600" b="1">
                <a:solidFill>
                  <a:srgbClr val="16232A"/>
                </a:solidFill>
                <a:latin typeface="Source Serif 4"/>
              </a:rPr>
              <a:t>Sign up</a:t>
            </a:r>
          </a:p>
        </p:txBody>
      </p:sp>
      <p:sp>
        <p:nvSpPr>
          <p:cNvPr id="10" name="TextBox 9"/>
          <p:cNvSpPr txBox="1"/>
          <p:nvPr/>
        </p:nvSpPr>
        <p:spPr>
          <a:xfrm>
            <a:off x="1042416" y="2971800"/>
            <a:ext cx="2029968" cy="256032"/>
          </a:xfrm>
          <a:prstGeom prst="rect">
            <a:avLst/>
          </a:prstGeom>
          <a:noFill/>
        </p:spPr>
        <p:txBody>
          <a:bodyPr wrap="square" lIns="0" rIns="0" tIns="0" bIns="0" anchor="t">
            <a:spAutoFit/>
          </a:bodyPr>
          <a:lstStyle/>
          <a:p>
            <a:pPr algn="l"/>
            <a:r>
              <a:rPr sz="1200" b="0">
                <a:solidFill>
                  <a:srgbClr val="4A5860"/>
                </a:solidFill>
                <a:latin typeface="IBM Plex Sans"/>
              </a:rPr>
              <a:t>Create an account</a:t>
            </a:r>
          </a:p>
        </p:txBody>
      </p:sp>
      <p:cxnSp>
        <p:nvCxnSpPr>
          <p:cNvPr id="11" name="Connector 10"/>
          <p:cNvCxnSpPr/>
          <p:nvPr/>
        </p:nvCxnSpPr>
        <p:spPr>
          <a:xfrm>
            <a:off x="3264408" y="2628900"/>
            <a:ext cx="219456" cy="0"/>
          </a:xfrm>
          <a:prstGeom prst="line">
            <a:avLst/>
          </a:prstGeom>
          <a:ln w="19050">
            <a:solidFill>
              <a:srgbClr val="0B6E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38728" y="1965960"/>
            <a:ext cx="2395728" cy="1325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767328" y="2194560"/>
            <a:ext cx="384048" cy="384048"/>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2</a:t>
            </a:r>
          </a:p>
        </p:txBody>
      </p:sp>
      <p:sp>
        <p:nvSpPr>
          <p:cNvPr id="14" name="TextBox 13"/>
          <p:cNvSpPr txBox="1"/>
          <p:nvPr/>
        </p:nvSpPr>
        <p:spPr>
          <a:xfrm>
            <a:off x="3767328" y="2697480"/>
            <a:ext cx="2029968" cy="274320"/>
          </a:xfrm>
          <a:prstGeom prst="rect">
            <a:avLst/>
          </a:prstGeom>
          <a:noFill/>
        </p:spPr>
        <p:txBody>
          <a:bodyPr wrap="square" lIns="0" rIns="0" tIns="0" bIns="0" anchor="t">
            <a:spAutoFit/>
          </a:bodyPr>
          <a:lstStyle/>
          <a:p>
            <a:pPr algn="l"/>
            <a:r>
              <a:rPr sz="1600" b="1">
                <a:solidFill>
                  <a:srgbClr val="16232A"/>
                </a:solidFill>
                <a:latin typeface="Source Serif 4"/>
              </a:rPr>
              <a:t>Log in</a:t>
            </a:r>
          </a:p>
        </p:txBody>
      </p:sp>
      <p:sp>
        <p:nvSpPr>
          <p:cNvPr id="15" name="TextBox 14"/>
          <p:cNvSpPr txBox="1"/>
          <p:nvPr/>
        </p:nvSpPr>
        <p:spPr>
          <a:xfrm>
            <a:off x="3767328" y="2971800"/>
            <a:ext cx="2029968" cy="256032"/>
          </a:xfrm>
          <a:prstGeom prst="rect">
            <a:avLst/>
          </a:prstGeom>
          <a:noFill/>
        </p:spPr>
        <p:txBody>
          <a:bodyPr wrap="square" lIns="0" rIns="0" tIns="0" bIns="0" anchor="t">
            <a:spAutoFit/>
          </a:bodyPr>
          <a:lstStyle/>
          <a:p>
            <a:pPr algn="l"/>
            <a:r>
              <a:rPr sz="1200" b="0">
                <a:solidFill>
                  <a:srgbClr val="4A5860"/>
                </a:solidFill>
                <a:latin typeface="IBM Plex Sans"/>
              </a:rPr>
              <a:t>Session is remembered</a:t>
            </a:r>
          </a:p>
        </p:txBody>
      </p:sp>
      <p:cxnSp>
        <p:nvCxnSpPr>
          <p:cNvPr id="16" name="Connector 15"/>
          <p:cNvCxnSpPr/>
          <p:nvPr/>
        </p:nvCxnSpPr>
        <p:spPr>
          <a:xfrm>
            <a:off x="5989320" y="2628900"/>
            <a:ext cx="219456" cy="0"/>
          </a:xfrm>
          <a:prstGeom prst="line">
            <a:avLst/>
          </a:prstGeom>
          <a:ln w="19050">
            <a:solidFill>
              <a:srgbClr val="0B6E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63640" y="1965960"/>
            <a:ext cx="2395728" cy="1325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92240" y="2194560"/>
            <a:ext cx="384048" cy="384048"/>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3</a:t>
            </a:r>
          </a:p>
        </p:txBody>
      </p:sp>
      <p:sp>
        <p:nvSpPr>
          <p:cNvPr id="19" name="TextBox 18"/>
          <p:cNvSpPr txBox="1"/>
          <p:nvPr/>
        </p:nvSpPr>
        <p:spPr>
          <a:xfrm>
            <a:off x="6492240" y="2697480"/>
            <a:ext cx="2029968" cy="274320"/>
          </a:xfrm>
          <a:prstGeom prst="rect">
            <a:avLst/>
          </a:prstGeom>
          <a:noFill/>
        </p:spPr>
        <p:txBody>
          <a:bodyPr wrap="square" lIns="0" rIns="0" tIns="0" bIns="0" anchor="t">
            <a:spAutoFit/>
          </a:bodyPr>
          <a:lstStyle/>
          <a:p>
            <a:pPr algn="l"/>
            <a:r>
              <a:rPr sz="1600" b="1">
                <a:solidFill>
                  <a:srgbClr val="16232A"/>
                </a:solidFill>
                <a:latin typeface="Source Serif 4"/>
              </a:rPr>
              <a:t>Add expense</a:t>
            </a:r>
          </a:p>
        </p:txBody>
      </p:sp>
      <p:sp>
        <p:nvSpPr>
          <p:cNvPr id="20" name="TextBox 19"/>
          <p:cNvSpPr txBox="1"/>
          <p:nvPr/>
        </p:nvSpPr>
        <p:spPr>
          <a:xfrm>
            <a:off x="6492240" y="2971800"/>
            <a:ext cx="2029968" cy="256032"/>
          </a:xfrm>
          <a:prstGeom prst="rect">
            <a:avLst/>
          </a:prstGeom>
          <a:noFill/>
        </p:spPr>
        <p:txBody>
          <a:bodyPr wrap="square" lIns="0" rIns="0" tIns="0" bIns="0" anchor="t">
            <a:spAutoFit/>
          </a:bodyPr>
          <a:lstStyle/>
          <a:p>
            <a:pPr algn="l"/>
            <a:r>
              <a:rPr sz="1200" b="0">
                <a:solidFill>
                  <a:srgbClr val="4A5860"/>
                </a:solidFill>
                <a:latin typeface="IBM Plex Sans"/>
              </a:rPr>
              <a:t>Validated form</a:t>
            </a:r>
          </a:p>
        </p:txBody>
      </p:sp>
      <p:cxnSp>
        <p:nvCxnSpPr>
          <p:cNvPr id="21" name="Connector 20"/>
          <p:cNvCxnSpPr/>
          <p:nvPr/>
        </p:nvCxnSpPr>
        <p:spPr>
          <a:xfrm>
            <a:off x="8714232" y="2628900"/>
            <a:ext cx="219455" cy="0"/>
          </a:xfrm>
          <a:prstGeom prst="line">
            <a:avLst/>
          </a:prstGeom>
          <a:ln w="19050">
            <a:solidFill>
              <a:srgbClr val="0B6E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88552" y="1965960"/>
            <a:ext cx="2395728" cy="1325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7152" y="2194560"/>
            <a:ext cx="384048" cy="384048"/>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4</a:t>
            </a:r>
          </a:p>
        </p:txBody>
      </p:sp>
      <p:sp>
        <p:nvSpPr>
          <p:cNvPr id="24" name="TextBox 23"/>
          <p:cNvSpPr txBox="1"/>
          <p:nvPr/>
        </p:nvSpPr>
        <p:spPr>
          <a:xfrm>
            <a:off x="9217152" y="2697480"/>
            <a:ext cx="2029968" cy="274320"/>
          </a:xfrm>
          <a:prstGeom prst="rect">
            <a:avLst/>
          </a:prstGeom>
          <a:noFill/>
        </p:spPr>
        <p:txBody>
          <a:bodyPr wrap="square" lIns="0" rIns="0" tIns="0" bIns="0" anchor="t">
            <a:spAutoFit/>
          </a:bodyPr>
          <a:lstStyle/>
          <a:p>
            <a:pPr algn="l"/>
            <a:r>
              <a:rPr sz="1600" b="1">
                <a:solidFill>
                  <a:srgbClr val="16232A"/>
                </a:solidFill>
                <a:latin typeface="Source Serif 4"/>
              </a:rPr>
              <a:t>Review summary</a:t>
            </a:r>
          </a:p>
        </p:txBody>
      </p:sp>
      <p:sp>
        <p:nvSpPr>
          <p:cNvPr id="25" name="TextBox 24"/>
          <p:cNvSpPr txBox="1"/>
          <p:nvPr/>
        </p:nvSpPr>
        <p:spPr>
          <a:xfrm>
            <a:off x="9217152" y="2971800"/>
            <a:ext cx="2029968" cy="256032"/>
          </a:xfrm>
          <a:prstGeom prst="rect">
            <a:avLst/>
          </a:prstGeom>
          <a:noFill/>
        </p:spPr>
        <p:txBody>
          <a:bodyPr wrap="square" lIns="0" rIns="0" tIns="0" bIns="0" anchor="t">
            <a:spAutoFit/>
          </a:bodyPr>
          <a:lstStyle/>
          <a:p>
            <a:pPr algn="l"/>
            <a:r>
              <a:rPr sz="1200" b="0">
                <a:solidFill>
                  <a:srgbClr val="4A5860"/>
                </a:solidFill>
                <a:latin typeface="IBM Plex Sans"/>
              </a:rPr>
              <a:t>Month total, category bar</a:t>
            </a:r>
          </a:p>
        </p:txBody>
      </p:sp>
      <p:sp>
        <p:nvSpPr>
          <p:cNvPr id="26" name="Rounded Rectangle 25"/>
          <p:cNvSpPr/>
          <p:nvPr/>
        </p:nvSpPr>
        <p:spPr>
          <a:xfrm>
            <a:off x="813816" y="3794760"/>
            <a:ext cx="2395728" cy="1325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042416" y="4023360"/>
            <a:ext cx="384048" cy="384048"/>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5</a:t>
            </a:r>
          </a:p>
        </p:txBody>
      </p:sp>
      <p:sp>
        <p:nvSpPr>
          <p:cNvPr id="28" name="TextBox 27"/>
          <p:cNvSpPr txBox="1"/>
          <p:nvPr/>
        </p:nvSpPr>
        <p:spPr>
          <a:xfrm>
            <a:off x="1042416" y="4526280"/>
            <a:ext cx="2029968" cy="274320"/>
          </a:xfrm>
          <a:prstGeom prst="rect">
            <a:avLst/>
          </a:prstGeom>
          <a:noFill/>
        </p:spPr>
        <p:txBody>
          <a:bodyPr wrap="square" lIns="0" rIns="0" tIns="0" bIns="0" anchor="t">
            <a:spAutoFit/>
          </a:bodyPr>
          <a:lstStyle/>
          <a:p>
            <a:pPr algn="l"/>
            <a:r>
              <a:rPr sz="1600" b="1">
                <a:solidFill>
                  <a:srgbClr val="16232A"/>
                </a:solidFill>
                <a:latin typeface="Source Serif 4"/>
              </a:rPr>
              <a:t>Search &amp; filter</a:t>
            </a:r>
          </a:p>
        </p:txBody>
      </p:sp>
      <p:sp>
        <p:nvSpPr>
          <p:cNvPr id="29" name="TextBox 28"/>
          <p:cNvSpPr txBox="1"/>
          <p:nvPr/>
        </p:nvSpPr>
        <p:spPr>
          <a:xfrm>
            <a:off x="1042416" y="4800600"/>
            <a:ext cx="2029968" cy="256032"/>
          </a:xfrm>
          <a:prstGeom prst="rect">
            <a:avLst/>
          </a:prstGeom>
          <a:noFill/>
        </p:spPr>
        <p:txBody>
          <a:bodyPr wrap="square" lIns="0" rIns="0" tIns="0" bIns="0" anchor="t">
            <a:spAutoFit/>
          </a:bodyPr>
          <a:lstStyle/>
          <a:p>
            <a:pPr algn="l"/>
            <a:r>
              <a:rPr sz="1200" b="0">
                <a:solidFill>
                  <a:srgbClr val="4A5860"/>
                </a:solidFill>
                <a:latin typeface="IBM Plex Sans"/>
              </a:rPr>
              <a:t>Period, category, text</a:t>
            </a:r>
          </a:p>
        </p:txBody>
      </p:sp>
      <p:cxnSp>
        <p:nvCxnSpPr>
          <p:cNvPr id="30" name="Connector 29"/>
          <p:cNvCxnSpPr/>
          <p:nvPr/>
        </p:nvCxnSpPr>
        <p:spPr>
          <a:xfrm>
            <a:off x="3264408" y="4457700"/>
            <a:ext cx="219456" cy="0"/>
          </a:xfrm>
          <a:prstGeom prst="line">
            <a:avLst/>
          </a:prstGeom>
          <a:ln w="19050">
            <a:solidFill>
              <a:srgbClr val="0B6E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3538728" y="3794760"/>
            <a:ext cx="2395728" cy="1325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3767328" y="4023360"/>
            <a:ext cx="384048" cy="384048"/>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6</a:t>
            </a:r>
          </a:p>
        </p:txBody>
      </p:sp>
      <p:sp>
        <p:nvSpPr>
          <p:cNvPr id="33" name="TextBox 32"/>
          <p:cNvSpPr txBox="1"/>
          <p:nvPr/>
        </p:nvSpPr>
        <p:spPr>
          <a:xfrm>
            <a:off x="3767328" y="4526280"/>
            <a:ext cx="2029968" cy="274320"/>
          </a:xfrm>
          <a:prstGeom prst="rect">
            <a:avLst/>
          </a:prstGeom>
          <a:noFill/>
        </p:spPr>
        <p:txBody>
          <a:bodyPr wrap="square" lIns="0" rIns="0" tIns="0" bIns="0" anchor="t">
            <a:spAutoFit/>
          </a:bodyPr>
          <a:lstStyle/>
          <a:p>
            <a:pPr algn="l"/>
            <a:r>
              <a:rPr sz="1600" b="1">
                <a:solidFill>
                  <a:srgbClr val="16232A"/>
                </a:solidFill>
                <a:latin typeface="Source Serif 4"/>
              </a:rPr>
              <a:t>Sort &amp; edit</a:t>
            </a:r>
          </a:p>
        </p:txBody>
      </p:sp>
      <p:sp>
        <p:nvSpPr>
          <p:cNvPr id="34" name="TextBox 33"/>
          <p:cNvSpPr txBox="1"/>
          <p:nvPr/>
        </p:nvSpPr>
        <p:spPr>
          <a:xfrm>
            <a:off x="3767328" y="4800600"/>
            <a:ext cx="2029968" cy="256032"/>
          </a:xfrm>
          <a:prstGeom prst="rect">
            <a:avLst/>
          </a:prstGeom>
          <a:noFill/>
        </p:spPr>
        <p:txBody>
          <a:bodyPr wrap="square" lIns="0" rIns="0" tIns="0" bIns="0" anchor="t">
            <a:spAutoFit/>
          </a:bodyPr>
          <a:lstStyle/>
          <a:p>
            <a:pPr algn="l"/>
            <a:r>
              <a:rPr sz="1200" b="0">
                <a:solidFill>
                  <a:srgbClr val="4A5860"/>
                </a:solidFill>
                <a:latin typeface="IBM Plex Sans"/>
              </a:rPr>
              <a:t>Highest first, then edit</a:t>
            </a:r>
          </a:p>
        </p:txBody>
      </p:sp>
      <p:cxnSp>
        <p:nvCxnSpPr>
          <p:cNvPr id="35" name="Connector 34"/>
          <p:cNvCxnSpPr/>
          <p:nvPr/>
        </p:nvCxnSpPr>
        <p:spPr>
          <a:xfrm>
            <a:off x="5989320" y="4457700"/>
            <a:ext cx="219456" cy="0"/>
          </a:xfrm>
          <a:prstGeom prst="line">
            <a:avLst/>
          </a:prstGeom>
          <a:ln w="19050">
            <a:solidFill>
              <a:srgbClr val="0B6E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263640" y="3794760"/>
            <a:ext cx="2395728" cy="1325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492240" y="4023360"/>
            <a:ext cx="384048" cy="384048"/>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7</a:t>
            </a:r>
          </a:p>
        </p:txBody>
      </p:sp>
      <p:sp>
        <p:nvSpPr>
          <p:cNvPr id="38" name="TextBox 37"/>
          <p:cNvSpPr txBox="1"/>
          <p:nvPr/>
        </p:nvSpPr>
        <p:spPr>
          <a:xfrm>
            <a:off x="6492240" y="4526280"/>
            <a:ext cx="2029968" cy="274320"/>
          </a:xfrm>
          <a:prstGeom prst="rect">
            <a:avLst/>
          </a:prstGeom>
          <a:noFill/>
        </p:spPr>
        <p:txBody>
          <a:bodyPr wrap="square" lIns="0" rIns="0" tIns="0" bIns="0" anchor="t">
            <a:spAutoFit/>
          </a:bodyPr>
          <a:lstStyle/>
          <a:p>
            <a:pPr algn="l"/>
            <a:r>
              <a:rPr sz="1600" b="1">
                <a:solidFill>
                  <a:srgbClr val="16232A"/>
                </a:solidFill>
                <a:latin typeface="Source Serif 4"/>
              </a:rPr>
              <a:t>Delete &amp; Undo</a:t>
            </a:r>
          </a:p>
        </p:txBody>
      </p:sp>
      <p:sp>
        <p:nvSpPr>
          <p:cNvPr id="39" name="TextBox 38"/>
          <p:cNvSpPr txBox="1"/>
          <p:nvPr/>
        </p:nvSpPr>
        <p:spPr>
          <a:xfrm>
            <a:off x="6492240" y="4800600"/>
            <a:ext cx="2029968" cy="256032"/>
          </a:xfrm>
          <a:prstGeom prst="rect">
            <a:avLst/>
          </a:prstGeom>
          <a:noFill/>
        </p:spPr>
        <p:txBody>
          <a:bodyPr wrap="square" lIns="0" rIns="0" tIns="0" bIns="0" anchor="t">
            <a:spAutoFit/>
          </a:bodyPr>
          <a:lstStyle/>
          <a:p>
            <a:pPr algn="l"/>
            <a:r>
              <a:rPr sz="1200" b="0">
                <a:solidFill>
                  <a:srgbClr val="4A5860"/>
                </a:solidFill>
                <a:latin typeface="IBM Plex Sans"/>
              </a:rPr>
              <a:t>Swipe left, tap Undo</a:t>
            </a:r>
          </a:p>
        </p:txBody>
      </p:sp>
      <p:cxnSp>
        <p:nvCxnSpPr>
          <p:cNvPr id="40" name="Connector 39"/>
          <p:cNvCxnSpPr/>
          <p:nvPr/>
        </p:nvCxnSpPr>
        <p:spPr>
          <a:xfrm>
            <a:off x="8714232" y="4457700"/>
            <a:ext cx="219455" cy="0"/>
          </a:xfrm>
          <a:prstGeom prst="line">
            <a:avLst/>
          </a:prstGeom>
          <a:ln w="19050">
            <a:solidFill>
              <a:srgbClr val="0B6E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988552" y="3794760"/>
            <a:ext cx="2395728" cy="13258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9217152" y="4023360"/>
            <a:ext cx="384048" cy="384048"/>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8</a:t>
            </a:r>
          </a:p>
        </p:txBody>
      </p:sp>
      <p:sp>
        <p:nvSpPr>
          <p:cNvPr id="43" name="TextBox 42"/>
          <p:cNvSpPr txBox="1"/>
          <p:nvPr/>
        </p:nvSpPr>
        <p:spPr>
          <a:xfrm>
            <a:off x="9217152" y="4526280"/>
            <a:ext cx="2029968" cy="274320"/>
          </a:xfrm>
          <a:prstGeom prst="rect">
            <a:avLst/>
          </a:prstGeom>
          <a:noFill/>
        </p:spPr>
        <p:txBody>
          <a:bodyPr wrap="square" lIns="0" rIns="0" tIns="0" bIns="0" anchor="t">
            <a:spAutoFit/>
          </a:bodyPr>
          <a:lstStyle/>
          <a:p>
            <a:pPr algn="l"/>
            <a:r>
              <a:rPr sz="1600" b="1">
                <a:solidFill>
                  <a:srgbClr val="16232A"/>
                </a:solidFill>
                <a:latin typeface="Source Serif 4"/>
              </a:rPr>
              <a:t>Theme &amp; log out</a:t>
            </a:r>
          </a:p>
        </p:txBody>
      </p:sp>
      <p:sp>
        <p:nvSpPr>
          <p:cNvPr id="44" name="TextBox 43"/>
          <p:cNvSpPr txBox="1"/>
          <p:nvPr/>
        </p:nvSpPr>
        <p:spPr>
          <a:xfrm>
            <a:off x="9217152" y="4800600"/>
            <a:ext cx="2029968" cy="256032"/>
          </a:xfrm>
          <a:prstGeom prst="rect">
            <a:avLst/>
          </a:prstGeom>
          <a:noFill/>
        </p:spPr>
        <p:txBody>
          <a:bodyPr wrap="square" lIns="0" rIns="0" tIns="0" bIns="0" anchor="t">
            <a:spAutoFit/>
          </a:bodyPr>
          <a:lstStyle/>
          <a:p>
            <a:pPr algn="l"/>
            <a:r>
              <a:rPr sz="1200" b="0">
                <a:solidFill>
                  <a:srgbClr val="4A5860"/>
                </a:solidFill>
                <a:latin typeface="IBM Plex Sans"/>
              </a:rPr>
              <a:t>Dark mode, safe sign-out</a:t>
            </a:r>
          </a:p>
        </p:txBody>
      </p:sp>
      <p:sp>
        <p:nvSpPr>
          <p:cNvPr id="45" name="Rounded Rectangle 44"/>
          <p:cNvSpPr/>
          <p:nvPr/>
        </p:nvSpPr>
        <p:spPr>
          <a:xfrm>
            <a:off x="813816" y="5440680"/>
            <a:ext cx="10570464" cy="457200"/>
          </a:xfrm>
          <a:prstGeom prst="roundRect">
            <a:avLst>
              <a:gd name="adj" fmla="val 8000"/>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51560" y="5440680"/>
            <a:ext cx="10149840" cy="457200"/>
          </a:xfrm>
          <a:prstGeom prst="rect">
            <a:avLst/>
          </a:prstGeom>
          <a:noFill/>
        </p:spPr>
        <p:txBody>
          <a:bodyPr wrap="square" lIns="0" rIns="0" tIns="0" bIns="0" anchor="ctr">
            <a:spAutoFit/>
          </a:bodyPr>
          <a:lstStyle/>
          <a:p>
            <a:pPr algn="l"/>
            <a:r>
              <a:rPr sz="1400" b="1">
                <a:solidFill>
                  <a:srgbClr val="0B6E63"/>
                </a:solidFill>
                <a:latin typeface="IBM Plex Sans"/>
              </a:rPr>
              <a:t>Demo account: </a:t>
            </a:r>
            <a:r>
              <a:rPr sz="1400" b="0">
                <a:solidFill>
                  <a:srgbClr val="16232A"/>
                </a:solidFill>
                <a:latin typeface="IBM Plex Sans"/>
              </a:rPr>
              <a:t>7 seeded expenses in 5 categories over two months, so filters show real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813816" y="1124712"/>
            <a:ext cx="10881360" cy="548640"/>
          </a:xfrm>
        </p:spPr>
        <p:txBody>
          <a:bodyPr lIns="0" rIns="0" tIns="0" bIns="0"/>
          <a:lstStyle/>
          <a:p>
            <a:pPr algn="l"/>
            <a:r>
              <a:rPr sz="3200" b="1">
                <a:solidFill>
                  <a:srgbClr val="16232A"/>
                </a:solidFill>
                <a:latin typeface="Source Serif 4"/>
              </a:rPr>
              <a:t>How the app handles the unexpected</a:t>
            </a:r>
          </a:p>
        </p:txBody>
      </p:sp>
      <p:sp>
        <p:nvSpPr>
          <p:cNvPr id="3" name="TextBox 2"/>
          <p:cNvSpPr txBox="1"/>
          <p:nvPr/>
        </p:nvSpPr>
        <p:spPr>
          <a:xfrm>
            <a:off x="813816" y="813816"/>
            <a:ext cx="10881360" cy="237744"/>
          </a:xfrm>
          <a:prstGeom prst="rect">
            <a:avLst/>
          </a:prstGeom>
          <a:noFill/>
        </p:spPr>
        <p:txBody>
          <a:bodyPr wrap="square" lIns="0" rIns="0" tIns="0" bIns="0" anchor="t">
            <a:spAutoFit/>
          </a:bodyPr>
          <a:lstStyle/>
          <a:p>
            <a:pPr algn="l"/>
            <a:r>
              <a:rPr sz="1200" b="1">
                <a:solidFill>
                  <a:srgbClr val="0B6E63"/>
                </a:solidFill>
                <a:latin typeface="IBM Plex Sans"/>
              </a:rPr>
              <a:t>02 · LIVE DEMO · EDGE CASES</a:t>
            </a:r>
          </a:p>
        </p:txBody>
      </p:sp>
      <p:cxnSp>
        <p:nvCxnSpPr>
          <p:cNvPr id="4" name="Connector 3"/>
          <p:cNvCxnSpPr/>
          <p:nvPr/>
        </p:nvCxnSpPr>
        <p:spPr>
          <a:xfrm>
            <a:off x="813816" y="6099048"/>
            <a:ext cx="10570464"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6236208"/>
            <a:ext cx="5888736" cy="237744"/>
          </a:xfrm>
          <a:prstGeom prst="rect">
            <a:avLst/>
          </a:prstGeom>
          <a:noFill/>
        </p:spPr>
        <p:txBody>
          <a:bodyPr wrap="square" lIns="0" rIns="0" tIns="0" bIns="0" anchor="t">
            <a:spAutoFit/>
          </a:bodyPr>
          <a:lstStyle/>
          <a:p>
            <a:pPr algn="l"/>
            <a:r>
              <a:rPr sz="1200" b="0">
                <a:solidFill>
                  <a:srgbClr val="6B7880"/>
                </a:solidFill>
                <a:latin typeface="IBM Plex Sans"/>
              </a:rPr>
              <a:t>Expense Tracker · Final Project Presentation</a:t>
            </a:r>
          </a:p>
        </p:txBody>
      </p:sp>
      <p:sp>
        <p:nvSpPr>
          <p:cNvPr id="6" name="PageNum"/>
          <p:cNvSpPr txBox="1"/>
          <p:nvPr/>
        </p:nvSpPr>
        <p:spPr>
          <a:xfrm>
            <a:off x="10058400" y="6236208"/>
            <a:ext cx="1316736" cy="237744"/>
          </a:xfrm>
          <a:prstGeom prst="rect">
            <a:avLst/>
          </a:prstGeom>
          <a:noFill/>
        </p:spPr>
        <p:txBody>
          <a:bodyPr wrap="square" lIns="0" rIns="0" tIns="0" bIns="0" anchor="t">
            <a:spAutoFit/>
          </a:bodyPr>
          <a:lstStyle/>
          <a:p>
            <a:pPr algn="r"/>
            <a:r>
              <a:rPr sz="1200" b="0">
                <a:solidFill>
                  <a:srgbClr val="6B7880"/>
                </a:solidFill>
                <a:latin typeface="IBM Plex Sans"/>
              </a:rPr>
              <a:t>08</a:t>
            </a:r>
          </a:p>
        </p:txBody>
      </p:sp>
      <p:sp>
        <p:nvSpPr>
          <p:cNvPr id="7" name="TextBox 6"/>
          <p:cNvSpPr txBox="1"/>
          <p:nvPr/>
        </p:nvSpPr>
        <p:spPr>
          <a:xfrm>
            <a:off x="813816" y="1901952"/>
            <a:ext cx="5102352" cy="329184"/>
          </a:xfrm>
          <a:prstGeom prst="rect">
            <a:avLst/>
          </a:prstGeom>
          <a:noFill/>
        </p:spPr>
        <p:txBody>
          <a:bodyPr wrap="square" lIns="0" rIns="0" tIns="0" bIns="0" anchor="t">
            <a:spAutoFit/>
          </a:bodyPr>
          <a:lstStyle/>
          <a:p>
            <a:pPr algn="l"/>
            <a:r>
              <a:rPr sz="2000" b="1">
                <a:solidFill>
                  <a:srgbClr val="16232A"/>
                </a:solidFill>
                <a:latin typeface="Source Serif 4"/>
              </a:rPr>
              <a:t>Accounts and forms</a:t>
            </a:r>
          </a:p>
        </p:txBody>
      </p:sp>
      <p:cxnSp>
        <p:nvCxnSpPr>
          <p:cNvPr id="8" name="Connector 7"/>
          <p:cNvCxnSpPr/>
          <p:nvPr/>
        </p:nvCxnSpPr>
        <p:spPr>
          <a:xfrm>
            <a:off x="813816" y="2331720"/>
            <a:ext cx="5102352" cy="0"/>
          </a:xfrm>
          <a:prstGeom prst="line">
            <a:avLst/>
          </a:prstGeom>
          <a:ln w="6350">
            <a:solidFill>
              <a:srgbClr val="0B6E63"/>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3816" y="2542032"/>
            <a:ext cx="310896" cy="310896"/>
          </a:xfrm>
          <a:prstGeom prst="ellipse">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6E63"/>
                </a:solidFill>
                <a:latin typeface="IBM Plex Sans"/>
              </a:rPr>
              <a:t>!</a:t>
            </a:r>
          </a:p>
        </p:txBody>
      </p:sp>
      <p:sp>
        <p:nvSpPr>
          <p:cNvPr id="10" name="TextBox 9"/>
          <p:cNvSpPr txBox="1"/>
          <p:nvPr/>
        </p:nvSpPr>
        <p:spPr>
          <a:xfrm>
            <a:off x="1271016" y="2468880"/>
            <a:ext cx="4617720" cy="274320"/>
          </a:xfrm>
          <a:prstGeom prst="rect">
            <a:avLst/>
          </a:prstGeom>
          <a:noFill/>
        </p:spPr>
        <p:txBody>
          <a:bodyPr wrap="square" lIns="0" rIns="0" tIns="0" bIns="0" anchor="t">
            <a:spAutoFit/>
          </a:bodyPr>
          <a:lstStyle/>
          <a:p>
            <a:pPr algn="l"/>
            <a:r>
              <a:rPr sz="1500" b="1">
                <a:solidFill>
                  <a:srgbClr val="16232A"/>
                </a:solidFill>
                <a:latin typeface="IBM Plex Sans"/>
              </a:rPr>
              <a:t>Wrong password</a:t>
            </a:r>
          </a:p>
        </p:txBody>
      </p:sp>
      <p:sp>
        <p:nvSpPr>
          <p:cNvPr id="11" name="TextBox 10"/>
          <p:cNvSpPr txBox="1"/>
          <p:nvPr/>
        </p:nvSpPr>
        <p:spPr>
          <a:xfrm>
            <a:off x="1271016" y="2770632"/>
            <a:ext cx="4617720" cy="274320"/>
          </a:xfrm>
          <a:prstGeom prst="rect">
            <a:avLst/>
          </a:prstGeom>
          <a:noFill/>
        </p:spPr>
        <p:txBody>
          <a:bodyPr wrap="square" lIns="0" rIns="0" tIns="0" bIns="0" anchor="t">
            <a:spAutoFit/>
          </a:bodyPr>
          <a:lstStyle/>
          <a:p>
            <a:pPr algn="l"/>
            <a:r>
              <a:rPr sz="1300" b="0">
                <a:solidFill>
                  <a:srgbClr val="4A5860"/>
                </a:solidFill>
                <a:latin typeface="IBM Plex Sans"/>
              </a:rPr>
              <a:t>A clear message, never a technical error</a:t>
            </a:r>
          </a:p>
        </p:txBody>
      </p:sp>
      <p:cxnSp>
        <p:nvCxnSpPr>
          <p:cNvPr id="12" name="Connector 11"/>
          <p:cNvCxnSpPr/>
          <p:nvPr/>
        </p:nvCxnSpPr>
        <p:spPr>
          <a:xfrm>
            <a:off x="1271016" y="3182112"/>
            <a:ext cx="4645152"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3816" y="3346704"/>
            <a:ext cx="310896" cy="310896"/>
          </a:xfrm>
          <a:prstGeom prst="ellipse">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6E63"/>
                </a:solidFill>
                <a:latin typeface="IBM Plex Sans"/>
              </a:rPr>
              <a:t>!</a:t>
            </a:r>
          </a:p>
        </p:txBody>
      </p:sp>
      <p:sp>
        <p:nvSpPr>
          <p:cNvPr id="14" name="TextBox 13"/>
          <p:cNvSpPr txBox="1"/>
          <p:nvPr/>
        </p:nvSpPr>
        <p:spPr>
          <a:xfrm>
            <a:off x="1271016" y="3273552"/>
            <a:ext cx="4617720" cy="274320"/>
          </a:xfrm>
          <a:prstGeom prst="rect">
            <a:avLst/>
          </a:prstGeom>
          <a:noFill/>
        </p:spPr>
        <p:txBody>
          <a:bodyPr wrap="square" lIns="0" rIns="0" tIns="0" bIns="0" anchor="t">
            <a:spAutoFit/>
          </a:bodyPr>
          <a:lstStyle/>
          <a:p>
            <a:pPr algn="l"/>
            <a:r>
              <a:rPr sz="1500" b="1">
                <a:solidFill>
                  <a:srgbClr val="16232A"/>
                </a:solidFill>
                <a:latin typeface="IBM Plex Sans"/>
              </a:rPr>
              <a:t>Email already registered</a:t>
            </a:r>
          </a:p>
        </p:txBody>
      </p:sp>
      <p:sp>
        <p:nvSpPr>
          <p:cNvPr id="15" name="TextBox 14"/>
          <p:cNvSpPr txBox="1"/>
          <p:nvPr/>
        </p:nvSpPr>
        <p:spPr>
          <a:xfrm>
            <a:off x="1271016" y="3575304"/>
            <a:ext cx="4617720" cy="274320"/>
          </a:xfrm>
          <a:prstGeom prst="rect">
            <a:avLst/>
          </a:prstGeom>
          <a:noFill/>
        </p:spPr>
        <p:txBody>
          <a:bodyPr wrap="square" lIns="0" rIns="0" tIns="0" bIns="0" anchor="t">
            <a:spAutoFit/>
          </a:bodyPr>
          <a:lstStyle/>
          <a:p>
            <a:pPr algn="l"/>
            <a:r>
              <a:rPr sz="1300" b="0">
                <a:solidFill>
                  <a:srgbClr val="4A5860"/>
                </a:solidFill>
                <a:latin typeface="IBM Plex Sans"/>
              </a:rPr>
              <a:t>Duplicate sign-up is detected and explained</a:t>
            </a:r>
          </a:p>
        </p:txBody>
      </p:sp>
      <p:cxnSp>
        <p:nvCxnSpPr>
          <p:cNvPr id="16" name="Connector 15"/>
          <p:cNvCxnSpPr/>
          <p:nvPr/>
        </p:nvCxnSpPr>
        <p:spPr>
          <a:xfrm>
            <a:off x="1271016" y="3986784"/>
            <a:ext cx="4645152"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3816" y="4151376"/>
            <a:ext cx="310896" cy="310896"/>
          </a:xfrm>
          <a:prstGeom prst="ellipse">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6E63"/>
                </a:solidFill>
                <a:latin typeface="IBM Plex Sans"/>
              </a:rPr>
              <a:t>!</a:t>
            </a:r>
          </a:p>
        </p:txBody>
      </p:sp>
      <p:sp>
        <p:nvSpPr>
          <p:cNvPr id="18" name="TextBox 17"/>
          <p:cNvSpPr txBox="1"/>
          <p:nvPr/>
        </p:nvSpPr>
        <p:spPr>
          <a:xfrm>
            <a:off x="1271016" y="4078224"/>
            <a:ext cx="4617720" cy="274320"/>
          </a:xfrm>
          <a:prstGeom prst="rect">
            <a:avLst/>
          </a:prstGeom>
          <a:noFill/>
        </p:spPr>
        <p:txBody>
          <a:bodyPr wrap="square" lIns="0" rIns="0" tIns="0" bIns="0" anchor="t">
            <a:spAutoFit/>
          </a:bodyPr>
          <a:lstStyle/>
          <a:p>
            <a:pPr algn="l"/>
            <a:r>
              <a:rPr sz="1500" b="1">
                <a:solidFill>
                  <a:srgbClr val="16232A"/>
                </a:solidFill>
                <a:latin typeface="IBM Plex Sans"/>
              </a:rPr>
              <a:t>Short or mismatched password</a:t>
            </a:r>
          </a:p>
        </p:txBody>
      </p:sp>
      <p:sp>
        <p:nvSpPr>
          <p:cNvPr id="19" name="TextBox 18"/>
          <p:cNvSpPr txBox="1"/>
          <p:nvPr/>
        </p:nvSpPr>
        <p:spPr>
          <a:xfrm>
            <a:off x="1271016" y="4379976"/>
            <a:ext cx="4617720" cy="274320"/>
          </a:xfrm>
          <a:prstGeom prst="rect">
            <a:avLst/>
          </a:prstGeom>
          <a:noFill/>
        </p:spPr>
        <p:txBody>
          <a:bodyPr wrap="square" lIns="0" rIns="0" tIns="0" bIns="0" anchor="t">
            <a:spAutoFit/>
          </a:bodyPr>
          <a:lstStyle/>
          <a:p>
            <a:pPr algn="l"/>
            <a:r>
              <a:rPr sz="1300" b="0">
                <a:solidFill>
                  <a:srgbClr val="4A5860"/>
                </a:solidFill>
                <a:latin typeface="IBM Plex Sans"/>
              </a:rPr>
              <a:t>Inline error under the field</a:t>
            </a:r>
          </a:p>
        </p:txBody>
      </p:sp>
      <p:cxnSp>
        <p:nvCxnSpPr>
          <p:cNvPr id="20" name="Connector 19"/>
          <p:cNvCxnSpPr/>
          <p:nvPr/>
        </p:nvCxnSpPr>
        <p:spPr>
          <a:xfrm>
            <a:off x="1271016" y="4791456"/>
            <a:ext cx="4645152"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813816" y="4956048"/>
            <a:ext cx="310896" cy="310896"/>
          </a:xfrm>
          <a:prstGeom prst="ellipse">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6E63"/>
                </a:solidFill>
                <a:latin typeface="IBM Plex Sans"/>
              </a:rPr>
              <a:t>!</a:t>
            </a:r>
          </a:p>
        </p:txBody>
      </p:sp>
      <p:sp>
        <p:nvSpPr>
          <p:cNvPr id="22" name="TextBox 21"/>
          <p:cNvSpPr txBox="1"/>
          <p:nvPr/>
        </p:nvSpPr>
        <p:spPr>
          <a:xfrm>
            <a:off x="1271016" y="4882896"/>
            <a:ext cx="4617720" cy="274320"/>
          </a:xfrm>
          <a:prstGeom prst="rect">
            <a:avLst/>
          </a:prstGeom>
          <a:noFill/>
        </p:spPr>
        <p:txBody>
          <a:bodyPr wrap="square" lIns="0" rIns="0" tIns="0" bIns="0" anchor="t">
            <a:spAutoFit/>
          </a:bodyPr>
          <a:lstStyle/>
          <a:p>
            <a:pPr algn="l"/>
            <a:r>
              <a:rPr sz="1500" b="1">
                <a:solidFill>
                  <a:srgbClr val="16232A"/>
                </a:solidFill>
                <a:latin typeface="IBM Plex Sans"/>
              </a:rPr>
              <a:t>Empty form submitted</a:t>
            </a:r>
          </a:p>
        </p:txBody>
      </p:sp>
      <p:sp>
        <p:nvSpPr>
          <p:cNvPr id="23" name="TextBox 22"/>
          <p:cNvSpPr txBox="1"/>
          <p:nvPr/>
        </p:nvSpPr>
        <p:spPr>
          <a:xfrm>
            <a:off x="1271016" y="5184648"/>
            <a:ext cx="4617720" cy="274320"/>
          </a:xfrm>
          <a:prstGeom prst="rect">
            <a:avLst/>
          </a:prstGeom>
          <a:noFill/>
        </p:spPr>
        <p:txBody>
          <a:bodyPr wrap="square" lIns="0" rIns="0" tIns="0" bIns="0" anchor="t">
            <a:spAutoFit/>
          </a:bodyPr>
          <a:lstStyle/>
          <a:p>
            <a:pPr algn="l"/>
            <a:r>
              <a:rPr sz="1300" b="0">
                <a:solidFill>
                  <a:srgbClr val="4A5860"/>
                </a:solidFill>
                <a:latin typeface="IBM Plex Sans"/>
              </a:rPr>
              <a:t>Each field says what is required</a:t>
            </a:r>
          </a:p>
        </p:txBody>
      </p:sp>
      <p:sp>
        <p:nvSpPr>
          <p:cNvPr id="24" name="TextBox 23"/>
          <p:cNvSpPr txBox="1"/>
          <p:nvPr/>
        </p:nvSpPr>
        <p:spPr>
          <a:xfrm>
            <a:off x="6281928" y="1901952"/>
            <a:ext cx="5102352" cy="329184"/>
          </a:xfrm>
          <a:prstGeom prst="rect">
            <a:avLst/>
          </a:prstGeom>
          <a:noFill/>
        </p:spPr>
        <p:txBody>
          <a:bodyPr wrap="square" lIns="0" rIns="0" tIns="0" bIns="0" anchor="t">
            <a:spAutoFit/>
          </a:bodyPr>
          <a:lstStyle/>
          <a:p>
            <a:pPr algn="l"/>
            <a:r>
              <a:rPr sz="2000" b="1">
                <a:solidFill>
                  <a:srgbClr val="16232A"/>
                </a:solidFill>
                <a:latin typeface="Source Serif 4"/>
              </a:rPr>
              <a:t>Data and network</a:t>
            </a:r>
          </a:p>
        </p:txBody>
      </p:sp>
      <p:cxnSp>
        <p:nvCxnSpPr>
          <p:cNvPr id="25" name="Connector 24"/>
          <p:cNvCxnSpPr/>
          <p:nvPr/>
        </p:nvCxnSpPr>
        <p:spPr>
          <a:xfrm>
            <a:off x="6281928" y="2331720"/>
            <a:ext cx="5102352" cy="0"/>
          </a:xfrm>
          <a:prstGeom prst="line">
            <a:avLst/>
          </a:prstGeom>
          <a:ln w="6350">
            <a:solidFill>
              <a:srgbClr val="0B6E63"/>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6281928" y="2542032"/>
            <a:ext cx="310896" cy="310896"/>
          </a:xfrm>
          <a:prstGeom prst="ellipse">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6E63"/>
                </a:solidFill>
                <a:latin typeface="IBM Plex Sans"/>
              </a:rPr>
              <a:t>!</a:t>
            </a:r>
          </a:p>
        </p:txBody>
      </p:sp>
      <p:sp>
        <p:nvSpPr>
          <p:cNvPr id="27" name="TextBox 26"/>
          <p:cNvSpPr txBox="1"/>
          <p:nvPr/>
        </p:nvSpPr>
        <p:spPr>
          <a:xfrm>
            <a:off x="6739128" y="2468880"/>
            <a:ext cx="4617720" cy="274320"/>
          </a:xfrm>
          <a:prstGeom prst="rect">
            <a:avLst/>
          </a:prstGeom>
          <a:noFill/>
        </p:spPr>
        <p:txBody>
          <a:bodyPr wrap="square" lIns="0" rIns="0" tIns="0" bIns="0" anchor="t">
            <a:spAutoFit/>
          </a:bodyPr>
          <a:lstStyle/>
          <a:p>
            <a:pPr algn="l"/>
            <a:r>
              <a:rPr sz="1500" b="1">
                <a:solidFill>
                  <a:srgbClr val="16232A"/>
                </a:solidFill>
                <a:latin typeface="IBM Plex Sans"/>
              </a:rPr>
              <a:t>Amount: abc, -5, 1e5, NaN, 12.345</a:t>
            </a:r>
          </a:p>
        </p:txBody>
      </p:sp>
      <p:sp>
        <p:nvSpPr>
          <p:cNvPr id="28" name="TextBox 27"/>
          <p:cNvSpPr txBox="1"/>
          <p:nvPr/>
        </p:nvSpPr>
        <p:spPr>
          <a:xfrm>
            <a:off x="6739128" y="2770632"/>
            <a:ext cx="4617720" cy="274320"/>
          </a:xfrm>
          <a:prstGeom prst="rect">
            <a:avLst/>
          </a:prstGeom>
          <a:noFill/>
        </p:spPr>
        <p:txBody>
          <a:bodyPr wrap="square" lIns="0" rIns="0" tIns="0" bIns="0" anchor="t">
            <a:spAutoFit/>
          </a:bodyPr>
          <a:lstStyle/>
          <a:p>
            <a:pPr algn="l"/>
            <a:r>
              <a:rPr sz="1300" b="0">
                <a:solidFill>
                  <a:srgbClr val="4A5860"/>
                </a:solidFill>
                <a:latin typeface="IBM Plex Sans"/>
              </a:rPr>
              <a:t>Rejected; 12,50 and 1,250.00 accepted</a:t>
            </a:r>
          </a:p>
        </p:txBody>
      </p:sp>
      <p:cxnSp>
        <p:nvCxnSpPr>
          <p:cNvPr id="29" name="Connector 28"/>
          <p:cNvCxnSpPr/>
          <p:nvPr/>
        </p:nvCxnSpPr>
        <p:spPr>
          <a:xfrm>
            <a:off x="6739128" y="3182112"/>
            <a:ext cx="4645152"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6281928" y="3346704"/>
            <a:ext cx="310896" cy="310896"/>
          </a:xfrm>
          <a:prstGeom prst="ellipse">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6E63"/>
                </a:solidFill>
                <a:latin typeface="IBM Plex Sans"/>
              </a:rPr>
              <a:t>!</a:t>
            </a:r>
          </a:p>
        </p:txBody>
      </p:sp>
      <p:sp>
        <p:nvSpPr>
          <p:cNvPr id="31" name="TextBox 30"/>
          <p:cNvSpPr txBox="1"/>
          <p:nvPr/>
        </p:nvSpPr>
        <p:spPr>
          <a:xfrm>
            <a:off x="6739128" y="3273552"/>
            <a:ext cx="4617720" cy="274320"/>
          </a:xfrm>
          <a:prstGeom prst="rect">
            <a:avLst/>
          </a:prstGeom>
          <a:noFill/>
        </p:spPr>
        <p:txBody>
          <a:bodyPr wrap="square" lIns="0" rIns="0" tIns="0" bIns="0" anchor="t">
            <a:spAutoFit/>
          </a:bodyPr>
          <a:lstStyle/>
          <a:p>
            <a:pPr algn="l"/>
            <a:r>
              <a:rPr sz="1500" b="1">
                <a:solidFill>
                  <a:srgbClr val="16232A"/>
                </a:solidFill>
                <a:latin typeface="IBM Plex Sans"/>
              </a:rPr>
              <a:t>No internet or slow server</a:t>
            </a:r>
          </a:p>
        </p:txBody>
      </p:sp>
      <p:sp>
        <p:nvSpPr>
          <p:cNvPr id="32" name="TextBox 31"/>
          <p:cNvSpPr txBox="1"/>
          <p:nvPr/>
        </p:nvSpPr>
        <p:spPr>
          <a:xfrm>
            <a:off x="6739128" y="3575304"/>
            <a:ext cx="4617720" cy="274320"/>
          </a:xfrm>
          <a:prstGeom prst="rect">
            <a:avLst/>
          </a:prstGeom>
          <a:noFill/>
        </p:spPr>
        <p:txBody>
          <a:bodyPr wrap="square" lIns="0" rIns="0" tIns="0" bIns="0" anchor="t">
            <a:spAutoFit/>
          </a:bodyPr>
          <a:lstStyle/>
          <a:p>
            <a:pPr algn="l"/>
            <a:r>
              <a:rPr sz="1300" b="0">
                <a:solidFill>
                  <a:srgbClr val="4A5860"/>
                </a:solidFill>
                <a:latin typeface="IBM Plex Sans"/>
              </a:rPr>
              <a:t>20 s timeout, friendly message, list kept</a:t>
            </a:r>
          </a:p>
        </p:txBody>
      </p:sp>
      <p:cxnSp>
        <p:nvCxnSpPr>
          <p:cNvPr id="33" name="Connector 32"/>
          <p:cNvCxnSpPr/>
          <p:nvPr/>
        </p:nvCxnSpPr>
        <p:spPr>
          <a:xfrm>
            <a:off x="6739128" y="3986784"/>
            <a:ext cx="4645152"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6281928" y="4151376"/>
            <a:ext cx="310896" cy="310896"/>
          </a:xfrm>
          <a:prstGeom prst="ellipse">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6E63"/>
                </a:solidFill>
                <a:latin typeface="IBM Plex Sans"/>
              </a:rPr>
              <a:t>!</a:t>
            </a:r>
          </a:p>
        </p:txBody>
      </p:sp>
      <p:sp>
        <p:nvSpPr>
          <p:cNvPr id="35" name="TextBox 34"/>
          <p:cNvSpPr txBox="1"/>
          <p:nvPr/>
        </p:nvSpPr>
        <p:spPr>
          <a:xfrm>
            <a:off x="6739128" y="4078224"/>
            <a:ext cx="4617720" cy="274320"/>
          </a:xfrm>
          <a:prstGeom prst="rect">
            <a:avLst/>
          </a:prstGeom>
          <a:noFill/>
        </p:spPr>
        <p:txBody>
          <a:bodyPr wrap="square" lIns="0" rIns="0" tIns="0" bIns="0" anchor="t">
            <a:spAutoFit/>
          </a:bodyPr>
          <a:lstStyle/>
          <a:p>
            <a:pPr algn="l"/>
            <a:r>
              <a:rPr sz="1500" b="1">
                <a:solidFill>
                  <a:srgbClr val="16232A"/>
                </a:solidFill>
                <a:latin typeface="IBM Plex Sans"/>
              </a:rPr>
              <a:t>Leaving a form with changes</a:t>
            </a:r>
          </a:p>
        </p:txBody>
      </p:sp>
      <p:sp>
        <p:nvSpPr>
          <p:cNvPr id="36" name="TextBox 35"/>
          <p:cNvSpPr txBox="1"/>
          <p:nvPr/>
        </p:nvSpPr>
        <p:spPr>
          <a:xfrm>
            <a:off x="6739128" y="4379976"/>
            <a:ext cx="4617720" cy="274320"/>
          </a:xfrm>
          <a:prstGeom prst="rect">
            <a:avLst/>
          </a:prstGeom>
          <a:noFill/>
        </p:spPr>
        <p:txBody>
          <a:bodyPr wrap="square" lIns="0" rIns="0" tIns="0" bIns="0" anchor="t">
            <a:spAutoFit/>
          </a:bodyPr>
          <a:lstStyle/>
          <a:p>
            <a:pPr algn="l"/>
            <a:r>
              <a:rPr sz="1300" b="0">
                <a:solidFill>
                  <a:srgbClr val="4A5860"/>
                </a:solidFill>
                <a:latin typeface="IBM Plex Sans"/>
              </a:rPr>
              <a:t>“Unsaved changes” warning</a:t>
            </a:r>
          </a:p>
        </p:txBody>
      </p:sp>
      <p:cxnSp>
        <p:nvCxnSpPr>
          <p:cNvPr id="37" name="Connector 36"/>
          <p:cNvCxnSpPr/>
          <p:nvPr/>
        </p:nvCxnSpPr>
        <p:spPr>
          <a:xfrm>
            <a:off x="6739128" y="4791456"/>
            <a:ext cx="4645152"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6281928" y="4956048"/>
            <a:ext cx="310896" cy="310896"/>
          </a:xfrm>
          <a:prstGeom prst="ellipse">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6E63"/>
                </a:solidFill>
                <a:latin typeface="IBM Plex Sans"/>
              </a:rPr>
              <a:t>!</a:t>
            </a:r>
          </a:p>
        </p:txBody>
      </p:sp>
      <p:sp>
        <p:nvSpPr>
          <p:cNvPr id="39" name="TextBox 38"/>
          <p:cNvSpPr txBox="1"/>
          <p:nvPr/>
        </p:nvSpPr>
        <p:spPr>
          <a:xfrm>
            <a:off x="6739128" y="4882896"/>
            <a:ext cx="4617720" cy="274320"/>
          </a:xfrm>
          <a:prstGeom prst="rect">
            <a:avLst/>
          </a:prstGeom>
          <a:noFill/>
        </p:spPr>
        <p:txBody>
          <a:bodyPr wrap="square" lIns="0" rIns="0" tIns="0" bIns="0" anchor="t">
            <a:spAutoFit/>
          </a:bodyPr>
          <a:lstStyle/>
          <a:p>
            <a:pPr algn="l"/>
            <a:r>
              <a:rPr sz="1500" b="1">
                <a:solidFill>
                  <a:srgbClr val="16232A"/>
                </a:solidFill>
                <a:latin typeface="IBM Plex Sans"/>
              </a:rPr>
              <a:t>Accidental delete</a:t>
            </a:r>
          </a:p>
        </p:txBody>
      </p:sp>
      <p:sp>
        <p:nvSpPr>
          <p:cNvPr id="40" name="TextBox 39"/>
          <p:cNvSpPr txBox="1"/>
          <p:nvPr/>
        </p:nvSpPr>
        <p:spPr>
          <a:xfrm>
            <a:off x="6739128" y="5184648"/>
            <a:ext cx="4617720" cy="274320"/>
          </a:xfrm>
          <a:prstGeom prst="rect">
            <a:avLst/>
          </a:prstGeom>
          <a:noFill/>
        </p:spPr>
        <p:txBody>
          <a:bodyPr wrap="square" lIns="0" rIns="0" tIns="0" bIns="0" anchor="t">
            <a:spAutoFit/>
          </a:bodyPr>
          <a:lstStyle/>
          <a:p>
            <a:pPr algn="l"/>
            <a:r>
              <a:rPr sz="1300" b="0">
                <a:solidFill>
                  <a:srgbClr val="4A5860"/>
                </a:solidFill>
                <a:latin typeface="IBM Plex Sans"/>
              </a:rPr>
              <a:t>Undo restores it; a failed delete puts it back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813816" y="1124712"/>
            <a:ext cx="10881360" cy="548640"/>
          </a:xfrm>
        </p:spPr>
        <p:txBody>
          <a:bodyPr lIns="0" rIns="0" tIns="0" bIns="0"/>
          <a:lstStyle/>
          <a:p>
            <a:pPr algn="l"/>
            <a:r>
              <a:rPr sz="3200" b="1">
                <a:solidFill>
                  <a:srgbClr val="16232A"/>
                </a:solidFill>
                <a:latin typeface="Source Serif 4"/>
              </a:rPr>
              <a:t>Three problems I had to solve</a:t>
            </a:r>
          </a:p>
        </p:txBody>
      </p:sp>
      <p:sp>
        <p:nvSpPr>
          <p:cNvPr id="3" name="TextBox 2"/>
          <p:cNvSpPr txBox="1"/>
          <p:nvPr/>
        </p:nvSpPr>
        <p:spPr>
          <a:xfrm>
            <a:off x="813816" y="813816"/>
            <a:ext cx="10881360" cy="237744"/>
          </a:xfrm>
          <a:prstGeom prst="rect">
            <a:avLst/>
          </a:prstGeom>
          <a:noFill/>
        </p:spPr>
        <p:txBody>
          <a:bodyPr wrap="square" lIns="0" rIns="0" tIns="0" bIns="0" anchor="t">
            <a:spAutoFit/>
          </a:bodyPr>
          <a:lstStyle/>
          <a:p>
            <a:pPr algn="l"/>
            <a:r>
              <a:rPr sz="1200" b="1">
                <a:solidFill>
                  <a:srgbClr val="0B6E63"/>
                </a:solidFill>
                <a:latin typeface="IBM Plex Sans"/>
              </a:rPr>
              <a:t>03 · TECHNICAL · CHALLENGES SOLVED</a:t>
            </a:r>
          </a:p>
        </p:txBody>
      </p:sp>
      <p:cxnSp>
        <p:nvCxnSpPr>
          <p:cNvPr id="4" name="Connector 3"/>
          <p:cNvCxnSpPr/>
          <p:nvPr/>
        </p:nvCxnSpPr>
        <p:spPr>
          <a:xfrm>
            <a:off x="813816" y="6099048"/>
            <a:ext cx="10570464"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6236208"/>
            <a:ext cx="5888736" cy="237744"/>
          </a:xfrm>
          <a:prstGeom prst="rect">
            <a:avLst/>
          </a:prstGeom>
          <a:noFill/>
        </p:spPr>
        <p:txBody>
          <a:bodyPr wrap="square" lIns="0" rIns="0" tIns="0" bIns="0" anchor="t">
            <a:spAutoFit/>
          </a:bodyPr>
          <a:lstStyle/>
          <a:p>
            <a:pPr algn="l"/>
            <a:r>
              <a:rPr sz="1200" b="0">
                <a:solidFill>
                  <a:srgbClr val="6B7880"/>
                </a:solidFill>
                <a:latin typeface="IBM Plex Sans"/>
              </a:rPr>
              <a:t>Expense Tracker · Final Project Presentation</a:t>
            </a:r>
          </a:p>
        </p:txBody>
      </p:sp>
      <p:sp>
        <p:nvSpPr>
          <p:cNvPr id="6" name="PageNum"/>
          <p:cNvSpPr txBox="1"/>
          <p:nvPr/>
        </p:nvSpPr>
        <p:spPr>
          <a:xfrm>
            <a:off x="10058400" y="6236208"/>
            <a:ext cx="1316736" cy="237744"/>
          </a:xfrm>
          <a:prstGeom prst="rect">
            <a:avLst/>
          </a:prstGeom>
          <a:noFill/>
        </p:spPr>
        <p:txBody>
          <a:bodyPr wrap="square" lIns="0" rIns="0" tIns="0" bIns="0" anchor="t">
            <a:spAutoFit/>
          </a:bodyPr>
          <a:lstStyle/>
          <a:p>
            <a:pPr algn="r"/>
            <a:r>
              <a:rPr sz="1200" b="0">
                <a:solidFill>
                  <a:srgbClr val="6B7880"/>
                </a:solidFill>
                <a:latin typeface="IBM Plex Sans"/>
              </a:rPr>
              <a:t>11</a:t>
            </a:r>
          </a:p>
        </p:txBody>
      </p:sp>
      <p:sp>
        <p:nvSpPr>
          <p:cNvPr id="7" name="Rounded Rectangle 6"/>
          <p:cNvSpPr/>
          <p:nvPr/>
        </p:nvSpPr>
        <p:spPr>
          <a:xfrm>
            <a:off x="813816" y="1901952"/>
            <a:ext cx="3383280" cy="3886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88136" y="2130552"/>
            <a:ext cx="420624" cy="420624"/>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1</a:t>
            </a:r>
          </a:p>
        </p:txBody>
      </p:sp>
      <p:sp>
        <p:nvSpPr>
          <p:cNvPr id="9" name="TextBox 8"/>
          <p:cNvSpPr txBox="1"/>
          <p:nvPr/>
        </p:nvSpPr>
        <p:spPr>
          <a:xfrm>
            <a:off x="1636776" y="2176272"/>
            <a:ext cx="2377440" cy="347472"/>
          </a:xfrm>
          <a:prstGeom prst="rect">
            <a:avLst/>
          </a:prstGeom>
          <a:noFill/>
        </p:spPr>
        <p:txBody>
          <a:bodyPr wrap="square" lIns="0" rIns="0" tIns="0" bIns="0" anchor="ctr">
            <a:spAutoFit/>
          </a:bodyPr>
          <a:lstStyle/>
          <a:p>
            <a:pPr algn="l"/>
            <a:r>
              <a:rPr sz="1800" b="1">
                <a:solidFill>
                  <a:srgbClr val="16232A"/>
                </a:solidFill>
                <a:latin typeface="Source Serif 4"/>
              </a:rPr>
              <a:t>Parsing the amount</a:t>
            </a:r>
          </a:p>
        </p:txBody>
      </p:sp>
      <p:sp>
        <p:nvSpPr>
          <p:cNvPr id="10" name="TextBox 9"/>
          <p:cNvSpPr txBox="1"/>
          <p:nvPr/>
        </p:nvSpPr>
        <p:spPr>
          <a:xfrm>
            <a:off x="1088136" y="2743200"/>
            <a:ext cx="2834640" cy="228600"/>
          </a:xfrm>
          <a:prstGeom prst="rect">
            <a:avLst/>
          </a:prstGeom>
          <a:noFill/>
        </p:spPr>
        <p:txBody>
          <a:bodyPr wrap="square" lIns="0" rIns="0" tIns="0" bIns="0" anchor="t">
            <a:spAutoFit/>
          </a:bodyPr>
          <a:lstStyle/>
          <a:p>
            <a:pPr algn="l"/>
            <a:r>
              <a:rPr sz="1100" b="1">
                <a:solidFill>
                  <a:srgbClr val="6B7880"/>
                </a:solidFill>
                <a:latin typeface="IBM Plex Sans"/>
              </a:rPr>
              <a:t>PROBLEM</a:t>
            </a:r>
          </a:p>
        </p:txBody>
      </p:sp>
      <p:sp>
        <p:nvSpPr>
          <p:cNvPr id="11" name="TextBox 10"/>
          <p:cNvSpPr txBox="1"/>
          <p:nvPr/>
        </p:nvSpPr>
        <p:spPr>
          <a:xfrm>
            <a:off x="1088136" y="2999232"/>
            <a:ext cx="2834640" cy="1097280"/>
          </a:xfrm>
          <a:prstGeom prst="rect">
            <a:avLst/>
          </a:prstGeom>
          <a:noFill/>
        </p:spPr>
        <p:txBody>
          <a:bodyPr wrap="square" lIns="0" rIns="0" tIns="0" bIns="0" anchor="t">
            <a:spAutoFit/>
          </a:bodyPr>
          <a:lstStyle/>
          <a:p>
            <a:pPr algn="l"/>
            <a:r>
              <a:rPr sz="1300" b="0">
                <a:solidFill>
                  <a:srgbClr val="4A5860"/>
                </a:solidFill>
                <a:latin typeface="IBM Plex Sans"/>
              </a:rPr>
              <a:t>Users type 12,50 or 1,250.00, while Dart’s double.tryParse also accepts NaN, Infinity and 1e5.</a:t>
            </a:r>
          </a:p>
        </p:txBody>
      </p:sp>
      <p:sp>
        <p:nvSpPr>
          <p:cNvPr id="12" name="TextBox 11"/>
          <p:cNvSpPr txBox="1"/>
          <p:nvPr/>
        </p:nvSpPr>
        <p:spPr>
          <a:xfrm>
            <a:off x="1088136" y="4160520"/>
            <a:ext cx="2834640" cy="228600"/>
          </a:xfrm>
          <a:prstGeom prst="rect">
            <a:avLst/>
          </a:prstGeom>
          <a:noFill/>
        </p:spPr>
        <p:txBody>
          <a:bodyPr wrap="square" lIns="0" rIns="0" tIns="0" bIns="0" anchor="t">
            <a:spAutoFit/>
          </a:bodyPr>
          <a:lstStyle/>
          <a:p>
            <a:pPr algn="l"/>
            <a:r>
              <a:rPr sz="1100" b="1">
                <a:solidFill>
                  <a:srgbClr val="0B6E63"/>
                </a:solidFill>
                <a:latin typeface="IBM Plex Sans"/>
              </a:rPr>
              <a:t>SOLUTION</a:t>
            </a:r>
          </a:p>
        </p:txBody>
      </p:sp>
      <p:sp>
        <p:nvSpPr>
          <p:cNvPr id="13" name="TextBox 12"/>
          <p:cNvSpPr txBox="1"/>
          <p:nvPr/>
        </p:nvSpPr>
        <p:spPr>
          <a:xfrm>
            <a:off x="1088136" y="4416552"/>
            <a:ext cx="2834640" cy="1280160"/>
          </a:xfrm>
          <a:prstGeom prst="rect">
            <a:avLst/>
          </a:prstGeom>
          <a:noFill/>
        </p:spPr>
        <p:txBody>
          <a:bodyPr wrap="square" lIns="0" rIns="0" tIns="0" bIns="0" anchor="t">
            <a:spAutoFit/>
          </a:bodyPr>
          <a:lstStyle/>
          <a:p>
            <a:pPr algn="l"/>
            <a:r>
              <a:rPr sz="1300" b="0">
                <a:solidFill>
                  <a:srgbClr val="16232A"/>
                </a:solidFill>
                <a:latin typeface="IBM Plex Sans"/>
              </a:rPr>
              <a:t>A custom validator normalises separators and allows only positive numbers with up to two decimals, max 1,000,000. Covered by unit tests.</a:t>
            </a:r>
          </a:p>
        </p:txBody>
      </p:sp>
      <p:sp>
        <p:nvSpPr>
          <p:cNvPr id="14" name="Rounded Rectangle 13"/>
          <p:cNvSpPr/>
          <p:nvPr/>
        </p:nvSpPr>
        <p:spPr>
          <a:xfrm>
            <a:off x="4407408" y="1901952"/>
            <a:ext cx="3383280" cy="3886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681728" y="2130552"/>
            <a:ext cx="420624" cy="420624"/>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2</a:t>
            </a:r>
          </a:p>
        </p:txBody>
      </p:sp>
      <p:sp>
        <p:nvSpPr>
          <p:cNvPr id="16" name="TextBox 15"/>
          <p:cNvSpPr txBox="1"/>
          <p:nvPr/>
        </p:nvSpPr>
        <p:spPr>
          <a:xfrm>
            <a:off x="5230368" y="2176272"/>
            <a:ext cx="2377440" cy="347472"/>
          </a:xfrm>
          <a:prstGeom prst="rect">
            <a:avLst/>
          </a:prstGeom>
          <a:noFill/>
        </p:spPr>
        <p:txBody>
          <a:bodyPr wrap="square" lIns="0" rIns="0" tIns="0" bIns="0" anchor="ctr">
            <a:spAutoFit/>
          </a:bodyPr>
          <a:lstStyle/>
          <a:p>
            <a:pPr algn="l"/>
            <a:r>
              <a:rPr sz="1800" b="1">
                <a:solidFill>
                  <a:srgbClr val="16232A"/>
                </a:solidFill>
                <a:latin typeface="Source Serif 4"/>
              </a:rPr>
              <a:t>Hidden duplicate sign-ups</a:t>
            </a:r>
          </a:p>
        </p:txBody>
      </p:sp>
      <p:sp>
        <p:nvSpPr>
          <p:cNvPr id="17" name="TextBox 16"/>
          <p:cNvSpPr txBox="1"/>
          <p:nvPr/>
        </p:nvSpPr>
        <p:spPr>
          <a:xfrm>
            <a:off x="4681728" y="2743200"/>
            <a:ext cx="2834640" cy="228600"/>
          </a:xfrm>
          <a:prstGeom prst="rect">
            <a:avLst/>
          </a:prstGeom>
          <a:noFill/>
        </p:spPr>
        <p:txBody>
          <a:bodyPr wrap="square" lIns="0" rIns="0" tIns="0" bIns="0" anchor="t">
            <a:spAutoFit/>
          </a:bodyPr>
          <a:lstStyle/>
          <a:p>
            <a:pPr algn="l"/>
            <a:r>
              <a:rPr sz="1100" b="1">
                <a:solidFill>
                  <a:srgbClr val="6B7880"/>
                </a:solidFill>
                <a:latin typeface="IBM Plex Sans"/>
              </a:rPr>
              <a:t>PROBLEM</a:t>
            </a:r>
          </a:p>
        </p:txBody>
      </p:sp>
      <p:sp>
        <p:nvSpPr>
          <p:cNvPr id="18" name="TextBox 17"/>
          <p:cNvSpPr txBox="1"/>
          <p:nvPr/>
        </p:nvSpPr>
        <p:spPr>
          <a:xfrm>
            <a:off x="4681728" y="2999232"/>
            <a:ext cx="2834640" cy="1097280"/>
          </a:xfrm>
          <a:prstGeom prst="rect">
            <a:avLst/>
          </a:prstGeom>
          <a:noFill/>
        </p:spPr>
        <p:txBody>
          <a:bodyPr wrap="square" lIns="0" rIns="0" tIns="0" bIns="0" anchor="t">
            <a:spAutoFit/>
          </a:bodyPr>
          <a:lstStyle/>
          <a:p>
            <a:pPr algn="l"/>
            <a:r>
              <a:rPr sz="1300" b="0">
                <a:solidFill>
                  <a:srgbClr val="4A5860"/>
                </a:solidFill>
                <a:latin typeface="IBM Plex Sans"/>
              </a:rPr>
              <a:t>For privacy, Supabase does not return an error when an email is already registered, so the user thought sign-up had worked.</a:t>
            </a:r>
          </a:p>
        </p:txBody>
      </p:sp>
      <p:sp>
        <p:nvSpPr>
          <p:cNvPr id="19" name="TextBox 18"/>
          <p:cNvSpPr txBox="1"/>
          <p:nvPr/>
        </p:nvSpPr>
        <p:spPr>
          <a:xfrm>
            <a:off x="4681728" y="4160520"/>
            <a:ext cx="2834640" cy="228600"/>
          </a:xfrm>
          <a:prstGeom prst="rect">
            <a:avLst/>
          </a:prstGeom>
          <a:noFill/>
        </p:spPr>
        <p:txBody>
          <a:bodyPr wrap="square" lIns="0" rIns="0" tIns="0" bIns="0" anchor="t">
            <a:spAutoFit/>
          </a:bodyPr>
          <a:lstStyle/>
          <a:p>
            <a:pPr algn="l"/>
            <a:r>
              <a:rPr sz="1100" b="1">
                <a:solidFill>
                  <a:srgbClr val="0B6E63"/>
                </a:solidFill>
                <a:latin typeface="IBM Plex Sans"/>
              </a:rPr>
              <a:t>SOLUTION</a:t>
            </a:r>
          </a:p>
        </p:txBody>
      </p:sp>
      <p:sp>
        <p:nvSpPr>
          <p:cNvPr id="20" name="TextBox 19"/>
          <p:cNvSpPr txBox="1"/>
          <p:nvPr/>
        </p:nvSpPr>
        <p:spPr>
          <a:xfrm>
            <a:off x="4681728" y="4416552"/>
            <a:ext cx="2834640" cy="1280160"/>
          </a:xfrm>
          <a:prstGeom prst="rect">
            <a:avLst/>
          </a:prstGeom>
          <a:noFill/>
        </p:spPr>
        <p:txBody>
          <a:bodyPr wrap="square" lIns="0" rIns="0" tIns="0" bIns="0" anchor="t">
            <a:spAutoFit/>
          </a:bodyPr>
          <a:lstStyle/>
          <a:p>
            <a:pPr algn="l"/>
            <a:r>
              <a:rPr sz="1300" b="0">
                <a:solidFill>
                  <a:srgbClr val="16232A"/>
                </a:solidFill>
                <a:latin typeface="IBM Plex Sans"/>
              </a:rPr>
              <a:t>Supabase returns a user with no identities instead of an error, so the app checks for that and shows “An account with this email already exists.”</a:t>
            </a:r>
          </a:p>
        </p:txBody>
      </p:sp>
      <p:sp>
        <p:nvSpPr>
          <p:cNvPr id="21" name="Rounded Rectangle 20"/>
          <p:cNvSpPr/>
          <p:nvPr/>
        </p:nvSpPr>
        <p:spPr>
          <a:xfrm>
            <a:off x="8001000" y="1901952"/>
            <a:ext cx="3383280" cy="3886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275320" y="2130552"/>
            <a:ext cx="420624" cy="420624"/>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3</a:t>
            </a:r>
          </a:p>
        </p:txBody>
      </p:sp>
      <p:sp>
        <p:nvSpPr>
          <p:cNvPr id="23" name="TextBox 22"/>
          <p:cNvSpPr txBox="1"/>
          <p:nvPr/>
        </p:nvSpPr>
        <p:spPr>
          <a:xfrm>
            <a:off x="8823960" y="2176272"/>
            <a:ext cx="2377440" cy="347472"/>
          </a:xfrm>
          <a:prstGeom prst="rect">
            <a:avLst/>
          </a:prstGeom>
          <a:noFill/>
        </p:spPr>
        <p:txBody>
          <a:bodyPr wrap="square" lIns="0" rIns="0" tIns="0" bIns="0" anchor="ctr">
            <a:spAutoFit/>
          </a:bodyPr>
          <a:lstStyle/>
          <a:p>
            <a:pPr algn="l"/>
            <a:r>
              <a:rPr sz="1800" b="1">
                <a:solidFill>
                  <a:srgbClr val="16232A"/>
                </a:solidFill>
                <a:latin typeface="Source Serif 4"/>
              </a:rPr>
              <a:t>Release-only network bug</a:t>
            </a:r>
          </a:p>
        </p:txBody>
      </p:sp>
      <p:sp>
        <p:nvSpPr>
          <p:cNvPr id="24" name="TextBox 23"/>
          <p:cNvSpPr txBox="1"/>
          <p:nvPr/>
        </p:nvSpPr>
        <p:spPr>
          <a:xfrm>
            <a:off x="8275320" y="2743200"/>
            <a:ext cx="2834640" cy="228600"/>
          </a:xfrm>
          <a:prstGeom prst="rect">
            <a:avLst/>
          </a:prstGeom>
          <a:noFill/>
        </p:spPr>
        <p:txBody>
          <a:bodyPr wrap="square" lIns="0" rIns="0" tIns="0" bIns="0" anchor="t">
            <a:spAutoFit/>
          </a:bodyPr>
          <a:lstStyle/>
          <a:p>
            <a:pPr algn="l"/>
            <a:r>
              <a:rPr sz="1100" b="1">
                <a:solidFill>
                  <a:srgbClr val="6B7880"/>
                </a:solidFill>
                <a:latin typeface="IBM Plex Sans"/>
              </a:rPr>
              <a:t>PROBLEM</a:t>
            </a:r>
          </a:p>
        </p:txBody>
      </p:sp>
      <p:sp>
        <p:nvSpPr>
          <p:cNvPr id="25" name="TextBox 24"/>
          <p:cNvSpPr txBox="1"/>
          <p:nvPr/>
        </p:nvSpPr>
        <p:spPr>
          <a:xfrm>
            <a:off x="8275320" y="2999232"/>
            <a:ext cx="2834640" cy="1097280"/>
          </a:xfrm>
          <a:prstGeom prst="rect">
            <a:avLst/>
          </a:prstGeom>
          <a:noFill/>
        </p:spPr>
        <p:txBody>
          <a:bodyPr wrap="square" lIns="0" rIns="0" tIns="0" bIns="0" anchor="t">
            <a:spAutoFit/>
          </a:bodyPr>
          <a:lstStyle/>
          <a:p>
            <a:pPr algn="l"/>
            <a:r>
              <a:rPr sz="1300" b="0">
                <a:solidFill>
                  <a:srgbClr val="4A5860"/>
                </a:solidFill>
                <a:latin typeface="IBM Plex Sans"/>
              </a:rPr>
              <a:t>The app worked in debug, but the release APK showed “No internet connection”.</a:t>
            </a:r>
          </a:p>
        </p:txBody>
      </p:sp>
      <p:sp>
        <p:nvSpPr>
          <p:cNvPr id="26" name="TextBox 25"/>
          <p:cNvSpPr txBox="1"/>
          <p:nvPr/>
        </p:nvSpPr>
        <p:spPr>
          <a:xfrm>
            <a:off x="8275320" y="4160520"/>
            <a:ext cx="2834640" cy="228600"/>
          </a:xfrm>
          <a:prstGeom prst="rect">
            <a:avLst/>
          </a:prstGeom>
          <a:noFill/>
        </p:spPr>
        <p:txBody>
          <a:bodyPr wrap="square" lIns="0" rIns="0" tIns="0" bIns="0" anchor="t">
            <a:spAutoFit/>
          </a:bodyPr>
          <a:lstStyle/>
          <a:p>
            <a:pPr algn="l"/>
            <a:r>
              <a:rPr sz="1100" b="1">
                <a:solidFill>
                  <a:srgbClr val="0B6E63"/>
                </a:solidFill>
                <a:latin typeface="IBM Plex Sans"/>
              </a:rPr>
              <a:t>SOLUTION</a:t>
            </a:r>
          </a:p>
        </p:txBody>
      </p:sp>
      <p:sp>
        <p:nvSpPr>
          <p:cNvPr id="27" name="TextBox 26"/>
          <p:cNvSpPr txBox="1"/>
          <p:nvPr/>
        </p:nvSpPr>
        <p:spPr>
          <a:xfrm>
            <a:off x="8275320" y="4416552"/>
            <a:ext cx="2834640" cy="1280160"/>
          </a:xfrm>
          <a:prstGeom prst="rect">
            <a:avLst/>
          </a:prstGeom>
          <a:noFill/>
        </p:spPr>
        <p:txBody>
          <a:bodyPr wrap="square" lIns="0" rIns="0" tIns="0" bIns="0" anchor="t">
            <a:spAutoFit/>
          </a:bodyPr>
          <a:lstStyle/>
          <a:p>
            <a:pPr algn="l"/>
            <a:r>
              <a:rPr sz="1300" b="0">
                <a:solidFill>
                  <a:srgbClr val="16232A"/>
                </a:solidFill>
                <a:latin typeface="IBM Plex Sans"/>
              </a:rPr>
              <a:t>The INTERNET permission was only in the debug manifest. I added it to the main manifest and re-tested the 51.3 MB APK on a Pixel 7a.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813816" y="1124712"/>
            <a:ext cx="10881360" cy="548640"/>
          </a:xfrm>
        </p:spPr>
        <p:txBody>
          <a:bodyPr lIns="0" rIns="0" tIns="0" bIns="0"/>
          <a:lstStyle/>
          <a:p>
            <a:pPr algn="l"/>
            <a:r>
              <a:rPr sz="3200" b="1">
                <a:solidFill>
                  <a:srgbClr val="16232A"/>
                </a:solidFill>
                <a:latin typeface="Source Serif 4"/>
              </a:rPr>
              <a:t>Validating money input</a:t>
            </a:r>
          </a:p>
        </p:txBody>
      </p:sp>
      <p:sp>
        <p:nvSpPr>
          <p:cNvPr id="3" name="TextBox 2"/>
          <p:cNvSpPr txBox="1"/>
          <p:nvPr/>
        </p:nvSpPr>
        <p:spPr>
          <a:xfrm>
            <a:off x="813816" y="813816"/>
            <a:ext cx="10881360" cy="237744"/>
          </a:xfrm>
          <a:prstGeom prst="rect">
            <a:avLst/>
          </a:prstGeom>
          <a:noFill/>
        </p:spPr>
        <p:txBody>
          <a:bodyPr wrap="square" lIns="0" rIns="0" tIns="0" bIns="0" anchor="t">
            <a:spAutoFit/>
          </a:bodyPr>
          <a:lstStyle/>
          <a:p>
            <a:pPr algn="l"/>
            <a:r>
              <a:rPr sz="1200" b="1">
                <a:solidFill>
                  <a:srgbClr val="0B6E63"/>
                </a:solidFill>
                <a:latin typeface="IBM Plex Sans"/>
              </a:rPr>
              <a:t>03 · TECHNICAL · CODE WALKTHROUGH 1/2</a:t>
            </a:r>
          </a:p>
        </p:txBody>
      </p:sp>
      <p:cxnSp>
        <p:nvCxnSpPr>
          <p:cNvPr id="4" name="Connector 3"/>
          <p:cNvCxnSpPr/>
          <p:nvPr/>
        </p:nvCxnSpPr>
        <p:spPr>
          <a:xfrm>
            <a:off x="813816" y="6099048"/>
            <a:ext cx="10570464"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6236208"/>
            <a:ext cx="5888736" cy="237744"/>
          </a:xfrm>
          <a:prstGeom prst="rect">
            <a:avLst/>
          </a:prstGeom>
          <a:noFill/>
        </p:spPr>
        <p:txBody>
          <a:bodyPr wrap="square" lIns="0" rIns="0" tIns="0" bIns="0" anchor="t">
            <a:spAutoFit/>
          </a:bodyPr>
          <a:lstStyle/>
          <a:p>
            <a:pPr algn="l"/>
            <a:r>
              <a:rPr sz="1200" b="0">
                <a:solidFill>
                  <a:srgbClr val="6B7880"/>
                </a:solidFill>
                <a:latin typeface="IBM Plex Sans"/>
              </a:rPr>
              <a:t>Expense Tracker · Final Project Presentation</a:t>
            </a:r>
          </a:p>
        </p:txBody>
      </p:sp>
      <p:sp>
        <p:nvSpPr>
          <p:cNvPr id="6" name="PageNum"/>
          <p:cNvSpPr txBox="1"/>
          <p:nvPr/>
        </p:nvSpPr>
        <p:spPr>
          <a:xfrm>
            <a:off x="10058400" y="6236208"/>
            <a:ext cx="1316736" cy="237744"/>
          </a:xfrm>
          <a:prstGeom prst="rect">
            <a:avLst/>
          </a:prstGeom>
          <a:noFill/>
        </p:spPr>
        <p:txBody>
          <a:bodyPr wrap="square" lIns="0" rIns="0" tIns="0" bIns="0" anchor="t">
            <a:spAutoFit/>
          </a:bodyPr>
          <a:lstStyle/>
          <a:p>
            <a:pPr algn="r"/>
            <a:r>
              <a:rPr sz="1200" b="0">
                <a:solidFill>
                  <a:srgbClr val="6B7880"/>
                </a:solidFill>
                <a:latin typeface="IBM Plex Sans"/>
              </a:rPr>
              <a:t>12</a:t>
            </a:r>
          </a:p>
        </p:txBody>
      </p:sp>
      <p:sp>
        <p:nvSpPr>
          <p:cNvPr id="7" name="Rounded Rectangle 6"/>
          <p:cNvSpPr/>
          <p:nvPr/>
        </p:nvSpPr>
        <p:spPr>
          <a:xfrm>
            <a:off x="813816" y="1810512"/>
            <a:ext cx="6812280" cy="4160520"/>
          </a:xfrm>
          <a:prstGeom prst="roundRect">
            <a:avLst>
              <a:gd name="adj" fmla="val 8000"/>
            </a:avLst>
          </a:prstGeom>
          <a:solidFill>
            <a:srgbClr val="162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88136" y="1993392"/>
            <a:ext cx="6263640" cy="228600"/>
          </a:xfrm>
          <a:prstGeom prst="rect">
            <a:avLst/>
          </a:prstGeom>
          <a:noFill/>
        </p:spPr>
        <p:txBody>
          <a:bodyPr wrap="square" lIns="0" rIns="0" tIns="0" bIns="0" anchor="t">
            <a:spAutoFit/>
          </a:bodyPr>
          <a:lstStyle/>
          <a:p>
            <a:pPr algn="l"/>
            <a:r>
              <a:rPr sz="1100" b="1">
                <a:solidFill>
                  <a:srgbClr val="7FC8BC"/>
                </a:solidFill>
                <a:latin typeface="IBM Plex Sans"/>
              </a:rPr>
              <a:t>lib/utils/validators.dart · excerpt</a:t>
            </a:r>
          </a:p>
        </p:txBody>
      </p:sp>
      <p:sp>
        <p:nvSpPr>
          <p:cNvPr id="9" name="TextBox 8"/>
          <p:cNvSpPr txBox="1"/>
          <p:nvPr/>
        </p:nvSpPr>
        <p:spPr>
          <a:xfrm>
            <a:off x="1088136" y="2267712"/>
            <a:ext cx="6263640" cy="3611879"/>
          </a:xfrm>
          <a:prstGeom prst="rect">
            <a:avLst/>
          </a:prstGeom>
          <a:noFill/>
        </p:spPr>
        <p:txBody>
          <a:bodyPr wrap="square" lIns="0" rIns="0" tIns="0" bIns="0" anchor="t">
            <a:spAutoFit/>
          </a:bodyPr>
          <a:lstStyle/>
          <a:p>
            <a:pPr algn="l">
              <a:lnSpc>
                <a:spcPts val="1159"/>
              </a:lnSpc>
            </a:pPr>
            <a:r>
              <a:rPr sz="950" b="0">
                <a:solidFill>
                  <a:srgbClr val="E6ECEA"/>
                </a:solidFill>
                <a:latin typeface="Consolas"/>
              </a:rPr>
              <a:t>static final RegExp _amountRegex =</a:t>
            </a:r>
          </a:p>
          <a:p>
            <a:pPr algn="l">
              <a:lnSpc>
                <a:spcPts val="1159"/>
              </a:lnSpc>
            </a:pPr>
            <a:r>
              <a:rPr sz="950" b="0">
                <a:solidFill>
                  <a:srgbClr val="E6ECEA"/>
                </a:solidFill>
                <a:latin typeface="Consolas"/>
              </a:rPr>
              <a:t>    RegExp(r'^(\d+(\.\d{0,2})?|\.\d{1,2})$');</a:t>
            </a:r>
          </a:p>
          <a:p>
            <a:pPr algn="l">
              <a:lnSpc>
                <a:spcPts val="1159"/>
              </a:lnSpc>
            </a:pPr>
            <a:r>
              <a:rPr sz="950" b="0">
                <a:solidFill>
                  <a:srgbClr val="8FA3A8"/>
                </a:solidFill>
                <a:latin typeface="Consolas"/>
              </a:rPr>
              <a:t>/// Returns null for NaN, Infinity, 1e5 and -3,</a:t>
            </a:r>
          </a:p>
          <a:p>
            <a:pPr algn="l">
              <a:lnSpc>
                <a:spcPts val="1159"/>
              </a:lnSpc>
            </a:pPr>
            <a:r>
              <a:rPr sz="950" b="0">
                <a:solidFill>
                  <a:srgbClr val="8FA3A8"/>
                </a:solidFill>
                <a:latin typeface="Consolas"/>
              </a:rPr>
              <a:t>/// which double.tryParse would accept.</a:t>
            </a:r>
          </a:p>
          <a:p>
            <a:pPr algn="l">
              <a:lnSpc>
                <a:spcPts val="1159"/>
              </a:lnSpc>
            </a:pPr>
            <a:r>
              <a:rPr sz="950" b="0">
                <a:solidFill>
                  <a:srgbClr val="E6ECEA"/>
                </a:solidFill>
                <a:latin typeface="Consolas"/>
              </a:rPr>
              <a:t>static double? parseAmount(String? value) {</a:t>
            </a:r>
          </a:p>
          <a:p>
            <a:pPr algn="l">
              <a:lnSpc>
                <a:spcPts val="1159"/>
              </a:lnSpc>
            </a:pPr>
            <a:r>
              <a:rPr sz="950" b="0">
                <a:solidFill>
                  <a:srgbClr val="E6ECEA"/>
                </a:solidFill>
                <a:latin typeface="Consolas"/>
              </a:rPr>
              <a:t>  var v = _normalizeAmount(value);</a:t>
            </a:r>
          </a:p>
          <a:p>
            <a:pPr algn="l">
              <a:lnSpc>
                <a:spcPts val="1159"/>
              </a:lnSpc>
            </a:pPr>
            <a:r>
              <a:rPr sz="950" b="0">
                <a:solidFill>
                  <a:srgbClr val="E6ECEA"/>
                </a:solidFill>
                <a:latin typeface="Consolas"/>
              </a:rPr>
              <a:t>  if (!_amountRegex.hasMatch(v)) return null;</a:t>
            </a:r>
          </a:p>
          <a:p>
            <a:pPr algn="l">
              <a:lnSpc>
                <a:spcPts val="1159"/>
              </a:lnSpc>
            </a:pPr>
            <a:r>
              <a:rPr sz="950" b="0">
                <a:solidFill>
                  <a:srgbClr val="E6ECEA"/>
                </a:solidFill>
                <a:latin typeface="Consolas"/>
              </a:rPr>
              <a:t>  if (v.startsWith('.')) v = '0$v';</a:t>
            </a:r>
          </a:p>
          <a:p>
            <a:pPr algn="l">
              <a:lnSpc>
                <a:spcPts val="1159"/>
              </a:lnSpc>
            </a:pPr>
            <a:r>
              <a:rPr sz="950" b="0">
                <a:solidFill>
                  <a:srgbClr val="E6ECEA"/>
                </a:solidFill>
                <a:latin typeface="Consolas"/>
              </a:rPr>
              <a:t>  if (v.endsWith('.')) v = '${v}0';</a:t>
            </a:r>
          </a:p>
          <a:p>
            <a:pPr algn="l">
              <a:lnSpc>
                <a:spcPts val="1159"/>
              </a:lnSpc>
            </a:pPr>
            <a:r>
              <a:rPr sz="950" b="0">
                <a:solidFill>
                  <a:srgbClr val="E6ECEA"/>
                </a:solidFill>
                <a:latin typeface="Consolas"/>
              </a:rPr>
              <a:t>  return double.tryParse(v);</a:t>
            </a:r>
          </a:p>
          <a:p>
            <a:pPr algn="l">
              <a:lnSpc>
                <a:spcPts val="1159"/>
              </a:lnSpc>
            </a:pPr>
            <a:r>
              <a:rPr sz="950" b="0">
                <a:solidFill>
                  <a:srgbClr val="E6ECEA"/>
                </a:solidFill>
                <a:latin typeface="Consolas"/>
              </a:rPr>
              <a:t>}</a:t>
            </a:r>
          </a:p>
          <a:p>
            <a:pPr algn="l">
              <a:lnSpc>
                <a:spcPts val="1159"/>
              </a:lnSpc>
            </a:pPr>
            <a:r>
              <a:rPr sz="950" b="0">
                <a:solidFill>
                  <a:srgbClr val="8FA3A8"/>
                </a:solidFill>
                <a:latin typeface="Consolas"/>
              </a:rPr>
              <a:t>/// One comma + 1-2 digits = decimal comma (12,50).</a:t>
            </a:r>
          </a:p>
          <a:p>
            <a:pPr algn="l">
              <a:lnSpc>
                <a:spcPts val="1159"/>
              </a:lnSpc>
            </a:pPr>
            <a:r>
              <a:rPr sz="950" b="0">
                <a:solidFill>
                  <a:srgbClr val="8FA3A8"/>
                </a:solidFill>
                <a:latin typeface="Consolas"/>
              </a:rPr>
              <a:t>/// Any other comma = thousands separator (1,250.00).</a:t>
            </a:r>
          </a:p>
          <a:p>
            <a:pPr algn="l">
              <a:lnSpc>
                <a:spcPts val="1159"/>
              </a:lnSpc>
            </a:pPr>
            <a:r>
              <a:rPr sz="950" b="0">
                <a:solidFill>
                  <a:srgbClr val="E6ECEA"/>
                </a:solidFill>
                <a:latin typeface="Consolas"/>
              </a:rPr>
              <a:t>static String _normalizeAmount(String? value) {</a:t>
            </a:r>
          </a:p>
          <a:p>
            <a:pPr algn="l">
              <a:lnSpc>
                <a:spcPts val="1159"/>
              </a:lnSpc>
            </a:pPr>
            <a:r>
              <a:rPr sz="950" b="0">
                <a:solidFill>
                  <a:srgbClr val="E6ECEA"/>
                </a:solidFill>
                <a:latin typeface="Consolas"/>
              </a:rPr>
              <a:t>  final v = (value ?? '').trim().replaceAll(' ', '');</a:t>
            </a:r>
          </a:p>
          <a:p>
            <a:pPr algn="l">
              <a:lnSpc>
                <a:spcPts val="1159"/>
              </a:lnSpc>
            </a:pPr>
            <a:r>
              <a:rPr sz="950" b="0">
                <a:solidFill>
                  <a:srgbClr val="E6ECEA"/>
                </a:solidFill>
                <a:latin typeface="Consolas"/>
              </a:rPr>
              <a:t>  final commaParts = v.split(',');</a:t>
            </a:r>
          </a:p>
          <a:p>
            <a:pPr algn="l">
              <a:lnSpc>
                <a:spcPts val="1159"/>
              </a:lnSpc>
            </a:pPr>
            <a:r>
              <a:rPr sz="950" b="0">
                <a:solidFill>
                  <a:srgbClr val="E6ECEA"/>
                </a:solidFill>
                <a:latin typeface="Consolas"/>
              </a:rPr>
              <a:t>  final isDecimalComma = !v.contains('.') &amp;&amp;</a:t>
            </a:r>
          </a:p>
          <a:p>
            <a:pPr algn="l">
              <a:lnSpc>
                <a:spcPts val="1159"/>
              </a:lnSpc>
            </a:pPr>
            <a:r>
              <a:rPr sz="950" b="0">
                <a:solidFill>
                  <a:srgbClr val="E6ECEA"/>
                </a:solidFill>
                <a:latin typeface="Consolas"/>
              </a:rPr>
              <a:t>      commaParts.length == 2 &amp;&amp;</a:t>
            </a:r>
          </a:p>
          <a:p>
            <a:pPr algn="l">
              <a:lnSpc>
                <a:spcPts val="1159"/>
              </a:lnSpc>
            </a:pPr>
            <a:r>
              <a:rPr sz="950" b="0">
                <a:solidFill>
                  <a:srgbClr val="E6ECEA"/>
                </a:solidFill>
                <a:latin typeface="Consolas"/>
              </a:rPr>
              <a:t>      commaParts[1].isNotEmpty &amp;&amp;</a:t>
            </a:r>
          </a:p>
          <a:p>
            <a:pPr algn="l">
              <a:lnSpc>
                <a:spcPts val="1159"/>
              </a:lnSpc>
            </a:pPr>
            <a:r>
              <a:rPr sz="950" b="0">
                <a:solidFill>
                  <a:srgbClr val="E6ECEA"/>
                </a:solidFill>
                <a:latin typeface="Consolas"/>
              </a:rPr>
              <a:t>      commaParts[1].length &lt;= 2;</a:t>
            </a:r>
          </a:p>
          <a:p>
            <a:pPr algn="l">
              <a:lnSpc>
                <a:spcPts val="1159"/>
              </a:lnSpc>
            </a:pPr>
            <a:r>
              <a:rPr sz="950" b="0">
                <a:solidFill>
                  <a:srgbClr val="E6ECEA"/>
                </a:solidFill>
                <a:latin typeface="Consolas"/>
              </a:rPr>
              <a:t>  return isDecimalComma ? v.replaceAll(',', '.')</a:t>
            </a:r>
          </a:p>
          <a:p>
            <a:pPr algn="l">
              <a:lnSpc>
                <a:spcPts val="1159"/>
              </a:lnSpc>
            </a:pPr>
            <a:r>
              <a:rPr sz="950" b="0">
                <a:solidFill>
                  <a:srgbClr val="E6ECEA"/>
                </a:solidFill>
                <a:latin typeface="Consolas"/>
              </a:rPr>
              <a:t>                        : v.replaceAll(',', '');</a:t>
            </a:r>
          </a:p>
          <a:p>
            <a:pPr algn="l">
              <a:lnSpc>
                <a:spcPts val="1159"/>
              </a:lnSpc>
            </a:pPr>
            <a:r>
              <a:rPr sz="950" b="0">
                <a:solidFill>
                  <a:srgbClr val="E6ECEA"/>
                </a:solidFill>
                <a:latin typeface="Consolas"/>
              </a:rPr>
              <a:t>}</a:t>
            </a:r>
          </a:p>
        </p:txBody>
      </p:sp>
      <p:sp>
        <p:nvSpPr>
          <p:cNvPr id="10" name="Oval 9"/>
          <p:cNvSpPr/>
          <p:nvPr/>
        </p:nvSpPr>
        <p:spPr>
          <a:xfrm>
            <a:off x="7909560" y="1874519"/>
            <a:ext cx="384048" cy="384048"/>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1</a:t>
            </a:r>
          </a:p>
        </p:txBody>
      </p:sp>
      <p:sp>
        <p:nvSpPr>
          <p:cNvPr id="11" name="TextBox 10"/>
          <p:cNvSpPr txBox="1"/>
          <p:nvPr/>
        </p:nvSpPr>
        <p:spPr>
          <a:xfrm>
            <a:off x="8458200" y="1901951"/>
            <a:ext cx="2926080" cy="292608"/>
          </a:xfrm>
          <a:prstGeom prst="rect">
            <a:avLst/>
          </a:prstGeom>
          <a:noFill/>
        </p:spPr>
        <p:txBody>
          <a:bodyPr wrap="square" lIns="0" rIns="0" tIns="0" bIns="0" anchor="t">
            <a:spAutoFit/>
          </a:bodyPr>
          <a:lstStyle/>
          <a:p>
            <a:pPr algn="l"/>
            <a:r>
              <a:rPr sz="1600" b="1">
                <a:solidFill>
                  <a:srgbClr val="16232A"/>
                </a:solidFill>
                <a:latin typeface="Source Serif 4"/>
              </a:rPr>
              <a:t>Normalise the separator</a:t>
            </a:r>
          </a:p>
        </p:txBody>
      </p:sp>
      <p:sp>
        <p:nvSpPr>
          <p:cNvPr id="12" name="TextBox 11"/>
          <p:cNvSpPr txBox="1"/>
          <p:nvPr/>
        </p:nvSpPr>
        <p:spPr>
          <a:xfrm>
            <a:off x="8458200" y="2258568"/>
            <a:ext cx="2926080" cy="868680"/>
          </a:xfrm>
          <a:prstGeom prst="rect">
            <a:avLst/>
          </a:prstGeom>
          <a:noFill/>
        </p:spPr>
        <p:txBody>
          <a:bodyPr wrap="square" lIns="0" rIns="0" tIns="0" bIns="0" anchor="t">
            <a:spAutoFit/>
          </a:bodyPr>
          <a:lstStyle/>
          <a:p>
            <a:pPr algn="l"/>
            <a:r>
              <a:rPr sz="1300" b="0">
                <a:solidFill>
                  <a:srgbClr val="4A5860"/>
                </a:solidFill>
                <a:latin typeface="IBM Plex Sans"/>
              </a:rPr>
              <a:t>12,50 becomes 12.50 and 1,250.00 becomes 1250.00, so users can type either way.</a:t>
            </a:r>
          </a:p>
        </p:txBody>
      </p:sp>
      <p:sp>
        <p:nvSpPr>
          <p:cNvPr id="13" name="Oval 12"/>
          <p:cNvSpPr/>
          <p:nvPr/>
        </p:nvSpPr>
        <p:spPr>
          <a:xfrm>
            <a:off x="7909560" y="3246120"/>
            <a:ext cx="384048" cy="384048"/>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2</a:t>
            </a:r>
          </a:p>
        </p:txBody>
      </p:sp>
      <p:sp>
        <p:nvSpPr>
          <p:cNvPr id="14" name="TextBox 13"/>
          <p:cNvSpPr txBox="1"/>
          <p:nvPr/>
        </p:nvSpPr>
        <p:spPr>
          <a:xfrm>
            <a:off x="8458200" y="3273551"/>
            <a:ext cx="2926080" cy="292608"/>
          </a:xfrm>
          <a:prstGeom prst="rect">
            <a:avLst/>
          </a:prstGeom>
          <a:noFill/>
        </p:spPr>
        <p:txBody>
          <a:bodyPr wrap="square" lIns="0" rIns="0" tIns="0" bIns="0" anchor="t">
            <a:spAutoFit/>
          </a:bodyPr>
          <a:lstStyle/>
          <a:p>
            <a:pPr algn="l"/>
            <a:r>
              <a:rPr sz="1600" b="1">
                <a:solidFill>
                  <a:srgbClr val="16232A"/>
                </a:solidFill>
                <a:latin typeface="Source Serif 4"/>
              </a:rPr>
              <a:t>Whitelist with a regex</a:t>
            </a:r>
          </a:p>
        </p:txBody>
      </p:sp>
      <p:sp>
        <p:nvSpPr>
          <p:cNvPr id="15" name="TextBox 14"/>
          <p:cNvSpPr txBox="1"/>
          <p:nvPr/>
        </p:nvSpPr>
        <p:spPr>
          <a:xfrm>
            <a:off x="8458200" y="3630168"/>
            <a:ext cx="2926080" cy="868680"/>
          </a:xfrm>
          <a:prstGeom prst="rect">
            <a:avLst/>
          </a:prstGeom>
          <a:noFill/>
        </p:spPr>
        <p:txBody>
          <a:bodyPr wrap="square" lIns="0" rIns="0" tIns="0" bIns="0" anchor="t">
            <a:spAutoFit/>
          </a:bodyPr>
          <a:lstStyle/>
          <a:p>
            <a:pPr algn="l"/>
            <a:r>
              <a:rPr sz="1300" b="0">
                <a:solidFill>
                  <a:srgbClr val="4A5860"/>
                </a:solidFill>
                <a:latin typeface="IBM Plex Sans"/>
              </a:rPr>
              <a:t>Only digits with up to two decimals pass, so NaN, 1e5 and -3 are rejected by one rule.</a:t>
            </a:r>
          </a:p>
        </p:txBody>
      </p:sp>
      <p:sp>
        <p:nvSpPr>
          <p:cNvPr id="16" name="Oval 15"/>
          <p:cNvSpPr/>
          <p:nvPr/>
        </p:nvSpPr>
        <p:spPr>
          <a:xfrm>
            <a:off x="7909560" y="4617720"/>
            <a:ext cx="384048" cy="384048"/>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3</a:t>
            </a:r>
          </a:p>
        </p:txBody>
      </p:sp>
      <p:sp>
        <p:nvSpPr>
          <p:cNvPr id="17" name="TextBox 16"/>
          <p:cNvSpPr txBox="1"/>
          <p:nvPr/>
        </p:nvSpPr>
        <p:spPr>
          <a:xfrm>
            <a:off x="8458200" y="4645152"/>
            <a:ext cx="2926080" cy="292608"/>
          </a:xfrm>
          <a:prstGeom prst="rect">
            <a:avLst/>
          </a:prstGeom>
          <a:noFill/>
        </p:spPr>
        <p:txBody>
          <a:bodyPr wrap="square" lIns="0" rIns="0" tIns="0" bIns="0" anchor="t">
            <a:spAutoFit/>
          </a:bodyPr>
          <a:lstStyle/>
          <a:p>
            <a:pPr algn="l"/>
            <a:r>
              <a:rPr sz="1600" b="1">
                <a:solidFill>
                  <a:srgbClr val="16232A"/>
                </a:solidFill>
                <a:latin typeface="Source Serif 4"/>
              </a:rPr>
              <a:t>One source of truth</a:t>
            </a:r>
          </a:p>
        </p:txBody>
      </p:sp>
      <p:sp>
        <p:nvSpPr>
          <p:cNvPr id="18" name="TextBox 17"/>
          <p:cNvSpPr txBox="1"/>
          <p:nvPr/>
        </p:nvSpPr>
        <p:spPr>
          <a:xfrm>
            <a:off x="8458200" y="5001768"/>
            <a:ext cx="2926080" cy="868680"/>
          </a:xfrm>
          <a:prstGeom prst="rect">
            <a:avLst/>
          </a:prstGeom>
          <a:noFill/>
        </p:spPr>
        <p:txBody>
          <a:bodyPr wrap="square" lIns="0" rIns="0" tIns="0" bIns="0" anchor="t">
            <a:spAutoFit/>
          </a:bodyPr>
          <a:lstStyle/>
          <a:p>
            <a:pPr algn="l"/>
            <a:r>
              <a:rPr sz="1300" b="0">
                <a:solidFill>
                  <a:srgbClr val="4A5860"/>
                </a:solidFill>
                <a:latin typeface="IBM Plex Sans"/>
              </a:rPr>
              <a:t>amount() adds the limits (&gt; 0, at most 1,000,000), and the unit tests use the same code.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813816" y="1124712"/>
            <a:ext cx="10881360" cy="548640"/>
          </a:xfrm>
        </p:spPr>
        <p:txBody>
          <a:bodyPr lIns="0" rIns="0" tIns="0" bIns="0"/>
          <a:lstStyle/>
          <a:p>
            <a:pPr algn="l"/>
            <a:r>
              <a:rPr sz="3200" b="1">
                <a:solidFill>
                  <a:srgbClr val="16232A"/>
                </a:solidFill>
                <a:latin typeface="Source Serif 4"/>
              </a:rPr>
              <a:t>Security in the database, state in the app</a:t>
            </a:r>
          </a:p>
        </p:txBody>
      </p:sp>
      <p:sp>
        <p:nvSpPr>
          <p:cNvPr id="3" name="TextBox 2"/>
          <p:cNvSpPr txBox="1"/>
          <p:nvPr/>
        </p:nvSpPr>
        <p:spPr>
          <a:xfrm>
            <a:off x="813816" y="813816"/>
            <a:ext cx="10881360" cy="237744"/>
          </a:xfrm>
          <a:prstGeom prst="rect">
            <a:avLst/>
          </a:prstGeom>
          <a:noFill/>
        </p:spPr>
        <p:txBody>
          <a:bodyPr wrap="square" lIns="0" rIns="0" tIns="0" bIns="0" anchor="t">
            <a:spAutoFit/>
          </a:bodyPr>
          <a:lstStyle/>
          <a:p>
            <a:pPr algn="l"/>
            <a:r>
              <a:rPr sz="1200" b="1">
                <a:solidFill>
                  <a:srgbClr val="0B6E63"/>
                </a:solidFill>
                <a:latin typeface="IBM Plex Sans"/>
              </a:rPr>
              <a:t>03 · TECHNICAL · CODE WALKTHROUGH 2/2</a:t>
            </a:r>
          </a:p>
        </p:txBody>
      </p:sp>
      <p:cxnSp>
        <p:nvCxnSpPr>
          <p:cNvPr id="4" name="Connector 3"/>
          <p:cNvCxnSpPr/>
          <p:nvPr/>
        </p:nvCxnSpPr>
        <p:spPr>
          <a:xfrm>
            <a:off x="813816" y="6099048"/>
            <a:ext cx="10570464"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6236208"/>
            <a:ext cx="5888736" cy="237744"/>
          </a:xfrm>
          <a:prstGeom prst="rect">
            <a:avLst/>
          </a:prstGeom>
          <a:noFill/>
        </p:spPr>
        <p:txBody>
          <a:bodyPr wrap="square" lIns="0" rIns="0" tIns="0" bIns="0" anchor="t">
            <a:spAutoFit/>
          </a:bodyPr>
          <a:lstStyle/>
          <a:p>
            <a:pPr algn="l"/>
            <a:r>
              <a:rPr sz="1200" b="0">
                <a:solidFill>
                  <a:srgbClr val="6B7880"/>
                </a:solidFill>
                <a:latin typeface="IBM Plex Sans"/>
              </a:rPr>
              <a:t>Expense Tracker · Final Project Presentation</a:t>
            </a:r>
          </a:p>
        </p:txBody>
      </p:sp>
      <p:sp>
        <p:nvSpPr>
          <p:cNvPr id="6" name="PageNum"/>
          <p:cNvSpPr txBox="1"/>
          <p:nvPr/>
        </p:nvSpPr>
        <p:spPr>
          <a:xfrm>
            <a:off x="10058400" y="6236208"/>
            <a:ext cx="1316736" cy="237744"/>
          </a:xfrm>
          <a:prstGeom prst="rect">
            <a:avLst/>
          </a:prstGeom>
          <a:noFill/>
        </p:spPr>
        <p:txBody>
          <a:bodyPr wrap="square" lIns="0" rIns="0" tIns="0" bIns="0" anchor="t">
            <a:spAutoFit/>
          </a:bodyPr>
          <a:lstStyle/>
          <a:p>
            <a:pPr algn="r"/>
            <a:r>
              <a:rPr sz="1200" b="0">
                <a:solidFill>
                  <a:srgbClr val="6B7880"/>
                </a:solidFill>
                <a:latin typeface="IBM Plex Sans"/>
              </a:rPr>
              <a:t>13</a:t>
            </a:r>
          </a:p>
        </p:txBody>
      </p:sp>
      <p:sp>
        <p:nvSpPr>
          <p:cNvPr id="7" name="Rounded Rectangle 6"/>
          <p:cNvSpPr/>
          <p:nvPr/>
        </p:nvSpPr>
        <p:spPr>
          <a:xfrm>
            <a:off x="813816" y="1810512"/>
            <a:ext cx="5074920" cy="4160520"/>
          </a:xfrm>
          <a:prstGeom prst="roundRect">
            <a:avLst>
              <a:gd name="adj" fmla="val 8000"/>
            </a:avLst>
          </a:prstGeom>
          <a:solidFill>
            <a:srgbClr val="162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88136" y="1993392"/>
            <a:ext cx="4526280" cy="228600"/>
          </a:xfrm>
          <a:prstGeom prst="rect">
            <a:avLst/>
          </a:prstGeom>
          <a:noFill/>
        </p:spPr>
        <p:txBody>
          <a:bodyPr wrap="square" lIns="0" rIns="0" tIns="0" bIns="0" anchor="t">
            <a:spAutoFit/>
          </a:bodyPr>
          <a:lstStyle/>
          <a:p>
            <a:pPr algn="l"/>
            <a:r>
              <a:rPr sz="1100" b="1">
                <a:solidFill>
                  <a:srgbClr val="7FC8BC"/>
                </a:solidFill>
                <a:latin typeface="IBM Plex Sans"/>
              </a:rPr>
              <a:t>schema.sql · Row Level Security</a:t>
            </a:r>
          </a:p>
        </p:txBody>
      </p:sp>
      <p:sp>
        <p:nvSpPr>
          <p:cNvPr id="9" name="TextBox 8"/>
          <p:cNvSpPr txBox="1"/>
          <p:nvPr/>
        </p:nvSpPr>
        <p:spPr>
          <a:xfrm>
            <a:off x="1088136" y="2267712"/>
            <a:ext cx="4526280" cy="3611879"/>
          </a:xfrm>
          <a:prstGeom prst="rect">
            <a:avLst/>
          </a:prstGeom>
          <a:noFill/>
        </p:spPr>
        <p:txBody>
          <a:bodyPr wrap="square" lIns="0" rIns="0" tIns="0" bIns="0" anchor="t">
            <a:spAutoFit/>
          </a:bodyPr>
          <a:lstStyle/>
          <a:p>
            <a:pPr algn="l">
              <a:lnSpc>
                <a:spcPts val="1220"/>
              </a:lnSpc>
            </a:pPr>
            <a:r>
              <a:rPr sz="1000" b="0">
                <a:solidFill>
                  <a:srgbClr val="E6ECEA"/>
                </a:solidFill>
                <a:latin typeface="Consolas"/>
              </a:rPr>
              <a:t>create table public.expenses (</a:t>
            </a:r>
          </a:p>
          <a:p>
            <a:pPr algn="l">
              <a:lnSpc>
                <a:spcPts val="1220"/>
              </a:lnSpc>
            </a:pPr>
            <a:r>
              <a:rPr sz="1000" b="0">
                <a:solidFill>
                  <a:srgbClr val="E6ECEA"/>
                </a:solidFill>
                <a:latin typeface="Consolas"/>
              </a:rPr>
              <a:t>  id       uuid primary key</a:t>
            </a:r>
          </a:p>
          <a:p>
            <a:pPr algn="l">
              <a:lnSpc>
                <a:spcPts val="1220"/>
              </a:lnSpc>
            </a:pPr>
            <a:r>
              <a:rPr sz="1000" b="0">
                <a:solidFill>
                  <a:srgbClr val="E6ECEA"/>
                </a:solidFill>
                <a:latin typeface="Consolas"/>
              </a:rPr>
              <a:t>           default gen_random_uuid(),</a:t>
            </a:r>
          </a:p>
          <a:p>
            <a:pPr algn="l">
              <a:lnSpc>
                <a:spcPts val="1220"/>
              </a:lnSpc>
            </a:pPr>
            <a:r>
              <a:rPr sz="1000" b="0">
                <a:solidFill>
                  <a:srgbClr val="E6ECEA"/>
                </a:solidFill>
                <a:latin typeface="Consolas"/>
              </a:rPr>
              <a:t>  user_id  uuid not null default auth.uid()</a:t>
            </a:r>
          </a:p>
          <a:p>
            <a:pPr algn="l">
              <a:lnSpc>
                <a:spcPts val="1220"/>
              </a:lnSpc>
            </a:pPr>
            <a:r>
              <a:rPr sz="1000" b="0">
                <a:solidFill>
                  <a:srgbClr val="E6ECEA"/>
                </a:solidFill>
                <a:latin typeface="Consolas"/>
              </a:rPr>
              <a:t>           references auth.users (id)</a:t>
            </a:r>
          </a:p>
          <a:p>
            <a:pPr algn="l">
              <a:lnSpc>
                <a:spcPts val="1220"/>
              </a:lnSpc>
            </a:pPr>
            <a:r>
              <a:rPr sz="1000" b="0">
                <a:solidFill>
                  <a:srgbClr val="E6ECEA"/>
                </a:solidFill>
                <a:latin typeface="Consolas"/>
              </a:rPr>
              <a:t>           on delete cascade,</a:t>
            </a:r>
          </a:p>
          <a:p>
            <a:pPr algn="l">
              <a:lnSpc>
                <a:spcPts val="1220"/>
              </a:lnSpc>
            </a:pPr>
            <a:r>
              <a:rPr sz="1000" b="0">
                <a:solidFill>
                  <a:srgbClr val="E6ECEA"/>
                </a:solidFill>
                <a:latin typeface="Consolas"/>
              </a:rPr>
              <a:t>  title    text not null,</a:t>
            </a:r>
          </a:p>
          <a:p>
            <a:pPr algn="l">
              <a:lnSpc>
                <a:spcPts val="1220"/>
              </a:lnSpc>
            </a:pPr>
            <a:r>
              <a:rPr sz="1000" b="0">
                <a:solidFill>
                  <a:srgbClr val="E6ECEA"/>
                </a:solidFill>
                <a:latin typeface="Consolas"/>
              </a:rPr>
              <a:t>  amount   numeric(10, 2) not null</a:t>
            </a:r>
          </a:p>
          <a:p>
            <a:pPr algn="l">
              <a:lnSpc>
                <a:spcPts val="1220"/>
              </a:lnSpc>
            </a:pPr>
            <a:r>
              <a:rPr sz="1000" b="0">
                <a:solidFill>
                  <a:srgbClr val="E6ECEA"/>
                </a:solidFill>
                <a:latin typeface="Consolas"/>
              </a:rPr>
              <a:t>           check (amount &gt; 0),</a:t>
            </a:r>
          </a:p>
          <a:p>
            <a:pPr algn="l">
              <a:lnSpc>
                <a:spcPts val="1220"/>
              </a:lnSpc>
            </a:pPr>
            <a:r>
              <a:rPr sz="1000" b="0">
                <a:solidFill>
                  <a:srgbClr val="E6ECEA"/>
                </a:solidFill>
                <a:latin typeface="Consolas"/>
              </a:rPr>
              <a:t>  category text not null,</a:t>
            </a:r>
          </a:p>
          <a:p>
            <a:pPr algn="l">
              <a:lnSpc>
                <a:spcPts val="1220"/>
              </a:lnSpc>
            </a:pPr>
            <a:r>
              <a:rPr sz="1000" b="0">
                <a:solidFill>
                  <a:srgbClr val="E6ECEA"/>
                </a:solidFill>
                <a:latin typeface="Consolas"/>
              </a:rPr>
              <a:t>  date     date not null default current_date</a:t>
            </a:r>
          </a:p>
          <a:p>
            <a:pPr algn="l">
              <a:lnSpc>
                <a:spcPts val="1220"/>
              </a:lnSpc>
            </a:pPr>
            <a:r>
              <a:rPr sz="1000" b="0">
                <a:solidFill>
                  <a:srgbClr val="E6ECEA"/>
                </a:solidFill>
                <a:latin typeface="Consolas"/>
              </a:rPr>
              <a:t>);</a:t>
            </a:r>
          </a:p>
          <a:p>
            <a:pPr algn="l">
              <a:lnSpc>
                <a:spcPts val="1220"/>
              </a:lnSpc>
            </a:pPr>
            <a:r>
              <a:rPr sz="1000" b="0">
                <a:solidFill>
                  <a:srgbClr val="E6ECEA"/>
                </a:solidFill>
                <a:latin typeface="Consolas"/>
              </a:rPr>
              <a:t> </a:t>
            </a:r>
          </a:p>
          <a:p>
            <a:pPr algn="l">
              <a:lnSpc>
                <a:spcPts val="1220"/>
              </a:lnSpc>
            </a:pPr>
            <a:r>
              <a:rPr sz="1000" b="0">
                <a:solidFill>
                  <a:srgbClr val="E6ECEA"/>
                </a:solidFill>
                <a:latin typeface="Consolas"/>
              </a:rPr>
              <a:t>alter table public.expenses</a:t>
            </a:r>
          </a:p>
          <a:p>
            <a:pPr algn="l">
              <a:lnSpc>
                <a:spcPts val="1220"/>
              </a:lnSpc>
            </a:pPr>
            <a:r>
              <a:rPr sz="1000" b="0">
                <a:solidFill>
                  <a:srgbClr val="E6ECEA"/>
                </a:solidFill>
                <a:latin typeface="Consolas"/>
              </a:rPr>
              <a:t>  enable row level security;</a:t>
            </a:r>
          </a:p>
          <a:p>
            <a:pPr algn="l">
              <a:lnSpc>
                <a:spcPts val="1220"/>
              </a:lnSpc>
            </a:pPr>
            <a:r>
              <a:rPr sz="1000" b="0">
                <a:solidFill>
                  <a:srgbClr val="E6ECEA"/>
                </a:solidFill>
                <a:latin typeface="Consolas"/>
              </a:rPr>
              <a:t> </a:t>
            </a:r>
          </a:p>
          <a:p>
            <a:pPr algn="l">
              <a:lnSpc>
                <a:spcPts val="1220"/>
              </a:lnSpc>
            </a:pPr>
            <a:r>
              <a:rPr sz="1000" b="0">
                <a:solidFill>
                  <a:srgbClr val="E6ECEA"/>
                </a:solidFill>
                <a:latin typeface="Consolas"/>
              </a:rPr>
              <a:t>create policy "Users can read their own expenses"</a:t>
            </a:r>
          </a:p>
          <a:p>
            <a:pPr algn="l">
              <a:lnSpc>
                <a:spcPts val="1220"/>
              </a:lnSpc>
            </a:pPr>
            <a:r>
              <a:rPr sz="1000" b="0">
                <a:solidFill>
                  <a:srgbClr val="E6ECEA"/>
                </a:solidFill>
                <a:latin typeface="Consolas"/>
              </a:rPr>
              <a:t>  on public.expenses for select</a:t>
            </a:r>
          </a:p>
          <a:p>
            <a:pPr algn="l">
              <a:lnSpc>
                <a:spcPts val="1220"/>
              </a:lnSpc>
            </a:pPr>
            <a:r>
              <a:rPr sz="1000" b="0">
                <a:solidFill>
                  <a:srgbClr val="E6ECEA"/>
                </a:solidFill>
                <a:latin typeface="Consolas"/>
              </a:rPr>
              <a:t>  using (auth.uid() = user_id);</a:t>
            </a:r>
          </a:p>
          <a:p>
            <a:pPr algn="l">
              <a:lnSpc>
                <a:spcPts val="1220"/>
              </a:lnSpc>
            </a:pPr>
            <a:r>
              <a:rPr sz="1000" b="0">
                <a:solidFill>
                  <a:srgbClr val="8FA3A8"/>
                </a:solidFill>
                <a:latin typeface="Consolas"/>
              </a:rPr>
              <a:t>-- + the same rule for insert, update, delete</a:t>
            </a:r>
          </a:p>
        </p:txBody>
      </p:sp>
      <p:sp>
        <p:nvSpPr>
          <p:cNvPr id="10" name="Rounded Rectangle 9"/>
          <p:cNvSpPr/>
          <p:nvPr/>
        </p:nvSpPr>
        <p:spPr>
          <a:xfrm>
            <a:off x="6053328" y="1810512"/>
            <a:ext cx="5330952" cy="4160520"/>
          </a:xfrm>
          <a:prstGeom prst="roundRect">
            <a:avLst>
              <a:gd name="adj" fmla="val 8000"/>
            </a:avLst>
          </a:prstGeom>
          <a:solidFill>
            <a:srgbClr val="162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27648" y="1993392"/>
            <a:ext cx="4782312" cy="228600"/>
          </a:xfrm>
          <a:prstGeom prst="rect">
            <a:avLst/>
          </a:prstGeom>
          <a:noFill/>
        </p:spPr>
        <p:txBody>
          <a:bodyPr wrap="square" lIns="0" rIns="0" tIns="0" bIns="0" anchor="t">
            <a:spAutoFit/>
          </a:bodyPr>
          <a:lstStyle/>
          <a:p>
            <a:pPr algn="l"/>
            <a:r>
              <a:rPr sz="1100" b="1">
                <a:solidFill>
                  <a:srgbClr val="7FC8BC"/>
                </a:solidFill>
                <a:latin typeface="IBM Plex Sans"/>
              </a:rPr>
              <a:t>lib/providers/expense_provider.dart · saving</a:t>
            </a:r>
          </a:p>
        </p:txBody>
      </p:sp>
      <p:sp>
        <p:nvSpPr>
          <p:cNvPr id="12" name="TextBox 11"/>
          <p:cNvSpPr txBox="1"/>
          <p:nvPr/>
        </p:nvSpPr>
        <p:spPr>
          <a:xfrm>
            <a:off x="6327648" y="2267712"/>
            <a:ext cx="4782312" cy="3611879"/>
          </a:xfrm>
          <a:prstGeom prst="rect">
            <a:avLst/>
          </a:prstGeom>
          <a:noFill/>
        </p:spPr>
        <p:txBody>
          <a:bodyPr wrap="square" lIns="0" rIns="0" tIns="0" bIns="0" anchor="t">
            <a:spAutoFit/>
          </a:bodyPr>
          <a:lstStyle/>
          <a:p>
            <a:pPr algn="l">
              <a:lnSpc>
                <a:spcPts val="1159"/>
              </a:lnSpc>
            </a:pPr>
            <a:r>
              <a:rPr sz="950" b="0">
                <a:solidFill>
                  <a:srgbClr val="E6ECEA"/>
                </a:solidFill>
                <a:latin typeface="Consolas"/>
              </a:rPr>
              <a:t>Future&lt;bool&gt; addExpense(Expense expense) {</a:t>
            </a:r>
          </a:p>
          <a:p>
            <a:pPr algn="l">
              <a:lnSpc>
                <a:spcPts val="1159"/>
              </a:lnSpc>
            </a:pPr>
            <a:r>
              <a:rPr sz="950" b="0">
                <a:solidFill>
                  <a:srgbClr val="E6ECEA"/>
                </a:solidFill>
                <a:latin typeface="Consolas"/>
              </a:rPr>
              <a:t>  return _save(() async {</a:t>
            </a:r>
          </a:p>
          <a:p>
            <a:pPr algn="l">
              <a:lnSpc>
                <a:spcPts val="1159"/>
              </a:lnSpc>
            </a:pPr>
            <a:r>
              <a:rPr sz="950" b="0">
                <a:solidFill>
                  <a:srgbClr val="E6ECEA"/>
                </a:solidFill>
                <a:latin typeface="Consolas"/>
              </a:rPr>
              <a:t>    final created = await _service</a:t>
            </a:r>
          </a:p>
          <a:p>
            <a:pPr algn="l">
              <a:lnSpc>
                <a:spcPts val="1159"/>
              </a:lnSpc>
            </a:pPr>
            <a:r>
              <a:rPr sz="950" b="0">
                <a:solidFill>
                  <a:srgbClr val="E6ECEA"/>
                </a:solidFill>
                <a:latin typeface="Consolas"/>
              </a:rPr>
              <a:t>        .addExpense(expense).timeout(_timeout);</a:t>
            </a:r>
          </a:p>
          <a:p>
            <a:pPr algn="l">
              <a:lnSpc>
                <a:spcPts val="1159"/>
              </a:lnSpc>
            </a:pPr>
            <a:r>
              <a:rPr sz="950" b="0">
                <a:solidFill>
                  <a:srgbClr val="E6ECEA"/>
                </a:solidFill>
                <a:latin typeface="Consolas"/>
              </a:rPr>
              <a:t>    _expenses.insert(0, created);</a:t>
            </a:r>
          </a:p>
          <a:p>
            <a:pPr algn="l">
              <a:lnSpc>
                <a:spcPts val="1159"/>
              </a:lnSpc>
            </a:pPr>
            <a:r>
              <a:rPr sz="950" b="0">
                <a:solidFill>
                  <a:srgbClr val="E6ECEA"/>
                </a:solidFill>
                <a:latin typeface="Consolas"/>
              </a:rPr>
              <a:t>  });</a:t>
            </a:r>
          </a:p>
          <a:p>
            <a:pPr algn="l">
              <a:lnSpc>
                <a:spcPts val="1159"/>
              </a:lnSpc>
            </a:pPr>
            <a:r>
              <a:rPr sz="950" b="0">
                <a:solidFill>
                  <a:srgbClr val="E6ECEA"/>
                </a:solidFill>
                <a:latin typeface="Consolas"/>
              </a:rPr>
              <a:t>}</a:t>
            </a:r>
          </a:p>
          <a:p>
            <a:pPr algn="l">
              <a:lnSpc>
                <a:spcPts val="1159"/>
              </a:lnSpc>
            </a:pPr>
            <a:r>
              <a:rPr sz="950" b="0">
                <a:solidFill>
                  <a:srgbClr val="E6ECEA"/>
                </a:solidFill>
                <a:latin typeface="Consolas"/>
              </a:rPr>
              <a:t>Future&lt;bool&gt; _save(Future&lt;void&gt; Function() action) async {</a:t>
            </a:r>
          </a:p>
          <a:p>
            <a:pPr algn="l">
              <a:lnSpc>
                <a:spcPts val="1159"/>
              </a:lnSpc>
            </a:pPr>
            <a:r>
              <a:rPr sz="950" b="0">
                <a:solidFill>
                  <a:srgbClr val="E6ECEA"/>
                </a:solidFill>
                <a:latin typeface="Consolas"/>
              </a:rPr>
              <a:t>  if (_isSaving) return false;</a:t>
            </a:r>
          </a:p>
          <a:p>
            <a:pPr algn="l">
              <a:lnSpc>
                <a:spcPts val="1159"/>
              </a:lnSpc>
            </a:pPr>
            <a:r>
              <a:rPr sz="950" b="0">
                <a:solidFill>
                  <a:srgbClr val="E6ECEA"/>
                </a:solidFill>
                <a:latin typeface="Consolas"/>
              </a:rPr>
              <a:t>  _isSaving = true;</a:t>
            </a:r>
          </a:p>
          <a:p>
            <a:pPr algn="l">
              <a:lnSpc>
                <a:spcPts val="1159"/>
              </a:lnSpc>
            </a:pPr>
            <a:r>
              <a:rPr sz="950" b="0">
                <a:solidFill>
                  <a:srgbClr val="E6ECEA"/>
                </a:solidFill>
                <a:latin typeface="Consolas"/>
              </a:rPr>
              <a:t>  _actionError = null;</a:t>
            </a:r>
          </a:p>
          <a:p>
            <a:pPr algn="l">
              <a:lnSpc>
                <a:spcPts val="1159"/>
              </a:lnSpc>
            </a:pPr>
            <a:r>
              <a:rPr sz="950" b="0">
                <a:solidFill>
                  <a:srgbClr val="E6ECEA"/>
                </a:solidFill>
                <a:latin typeface="Consolas"/>
              </a:rPr>
              <a:t>  notifyListeners();</a:t>
            </a:r>
          </a:p>
          <a:p>
            <a:pPr algn="l">
              <a:lnSpc>
                <a:spcPts val="1159"/>
              </a:lnSpc>
            </a:pPr>
            <a:r>
              <a:rPr sz="950" b="0">
                <a:solidFill>
                  <a:srgbClr val="E6ECEA"/>
                </a:solidFill>
                <a:latin typeface="Consolas"/>
              </a:rPr>
              <a:t>  try {</a:t>
            </a:r>
          </a:p>
          <a:p>
            <a:pPr algn="l">
              <a:lnSpc>
                <a:spcPts val="1159"/>
              </a:lnSpc>
            </a:pPr>
            <a:r>
              <a:rPr sz="950" b="0">
                <a:solidFill>
                  <a:srgbClr val="E6ECEA"/>
                </a:solidFill>
                <a:latin typeface="Consolas"/>
              </a:rPr>
              <a:t>    await action();</a:t>
            </a:r>
          </a:p>
          <a:p>
            <a:pPr algn="l">
              <a:lnSpc>
                <a:spcPts val="1159"/>
              </a:lnSpc>
            </a:pPr>
            <a:r>
              <a:rPr sz="950" b="0">
                <a:solidFill>
                  <a:srgbClr val="E6ECEA"/>
                </a:solidFill>
                <a:latin typeface="Consolas"/>
              </a:rPr>
              <a:t>    _recompute();</a:t>
            </a:r>
          </a:p>
          <a:p>
            <a:pPr algn="l">
              <a:lnSpc>
                <a:spcPts val="1159"/>
              </a:lnSpc>
            </a:pPr>
            <a:r>
              <a:rPr sz="950" b="0">
                <a:solidFill>
                  <a:srgbClr val="E6ECEA"/>
                </a:solidFill>
                <a:latin typeface="Consolas"/>
              </a:rPr>
              <a:t>    return true;</a:t>
            </a:r>
          </a:p>
          <a:p>
            <a:pPr algn="l">
              <a:lnSpc>
                <a:spcPts val="1159"/>
              </a:lnSpc>
            </a:pPr>
            <a:r>
              <a:rPr sz="950" b="0">
                <a:solidFill>
                  <a:srgbClr val="E6ECEA"/>
                </a:solidFill>
                <a:latin typeface="Consolas"/>
              </a:rPr>
              <a:t>  } catch (e) {</a:t>
            </a:r>
          </a:p>
          <a:p>
            <a:pPr algn="l">
              <a:lnSpc>
                <a:spcPts val="1159"/>
              </a:lnSpc>
            </a:pPr>
            <a:r>
              <a:rPr sz="950" b="0">
                <a:solidFill>
                  <a:srgbClr val="E6ECEA"/>
                </a:solidFill>
                <a:latin typeface="Consolas"/>
              </a:rPr>
              <a:t>    _actionError = friendlyError(e);</a:t>
            </a:r>
          </a:p>
          <a:p>
            <a:pPr algn="l">
              <a:lnSpc>
                <a:spcPts val="1159"/>
              </a:lnSpc>
            </a:pPr>
            <a:r>
              <a:rPr sz="950" b="0">
                <a:solidFill>
                  <a:srgbClr val="E6ECEA"/>
                </a:solidFill>
                <a:latin typeface="Consolas"/>
              </a:rPr>
              <a:t>    return false;</a:t>
            </a:r>
          </a:p>
          <a:p>
            <a:pPr algn="l">
              <a:lnSpc>
                <a:spcPts val="1159"/>
              </a:lnSpc>
            </a:pPr>
            <a:r>
              <a:rPr sz="950" b="0">
                <a:solidFill>
                  <a:srgbClr val="E6ECEA"/>
                </a:solidFill>
                <a:latin typeface="Consolas"/>
              </a:rPr>
              <a:t>  } finally {</a:t>
            </a:r>
          </a:p>
          <a:p>
            <a:pPr algn="l">
              <a:lnSpc>
                <a:spcPts val="1159"/>
              </a:lnSpc>
            </a:pPr>
            <a:r>
              <a:rPr sz="950" b="0">
                <a:solidFill>
                  <a:srgbClr val="E6ECEA"/>
                </a:solidFill>
                <a:latin typeface="Consolas"/>
              </a:rPr>
              <a:t>    _isSaving = false;</a:t>
            </a:r>
          </a:p>
          <a:p>
            <a:pPr algn="l">
              <a:lnSpc>
                <a:spcPts val="1159"/>
              </a:lnSpc>
            </a:pPr>
            <a:r>
              <a:rPr sz="950" b="0">
                <a:solidFill>
                  <a:srgbClr val="E6ECEA"/>
                </a:solidFill>
                <a:latin typeface="Consolas"/>
              </a:rPr>
              <a:t>    notifyListeners();</a:t>
            </a:r>
          </a:p>
          <a:p>
            <a:pPr algn="l">
              <a:lnSpc>
                <a:spcPts val="1159"/>
              </a:lnSpc>
            </a:pPr>
            <a:r>
              <a:rPr sz="950" b="0">
                <a:solidFill>
                  <a:srgbClr val="E6ECEA"/>
                </a:solidFill>
                <a:latin typeface="Consolas"/>
              </a:rPr>
              <a:t>  }</a:t>
            </a:r>
          </a:p>
          <a:p>
            <a:pPr algn="l">
              <a:lnSpc>
                <a:spcPts val="1159"/>
              </a:lnSpc>
            </a:pPr>
            <a:r>
              <a:rPr sz="950" b="0">
                <a:solidFill>
                  <a:srgbClr val="E6ECEA"/>
                </a:solidFill>
                <a:latin typeface="Consolas"/>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813816" y="1124712"/>
            <a:ext cx="10881360" cy="548640"/>
          </a:xfrm>
        </p:spPr>
        <p:txBody>
          <a:bodyPr lIns="0" rIns="0" tIns="0" bIns="0"/>
          <a:lstStyle/>
          <a:p>
            <a:pPr algn="l"/>
            <a:r>
              <a:rPr sz="3200" b="1">
                <a:solidFill>
                  <a:srgbClr val="16232A"/>
                </a:solidFill>
                <a:latin typeface="Source Serif 4"/>
              </a:rPr>
              <a:t>An individual project: I owned every role</a:t>
            </a:r>
          </a:p>
        </p:txBody>
      </p:sp>
      <p:sp>
        <p:nvSpPr>
          <p:cNvPr id="3" name="TextBox 2"/>
          <p:cNvSpPr txBox="1"/>
          <p:nvPr/>
        </p:nvSpPr>
        <p:spPr>
          <a:xfrm>
            <a:off x="813816" y="813816"/>
            <a:ext cx="10881360" cy="237744"/>
          </a:xfrm>
          <a:prstGeom prst="rect">
            <a:avLst/>
          </a:prstGeom>
          <a:noFill/>
        </p:spPr>
        <p:txBody>
          <a:bodyPr wrap="square" lIns="0" rIns="0" tIns="0" bIns="0" anchor="t">
            <a:spAutoFit/>
          </a:bodyPr>
          <a:lstStyle/>
          <a:p>
            <a:pPr algn="l"/>
            <a:r>
              <a:rPr sz="1200" b="1">
                <a:solidFill>
                  <a:srgbClr val="0B6E63"/>
                </a:solidFill>
                <a:latin typeface="IBM Plex Sans"/>
              </a:rPr>
              <a:t>04 · COLLABORATION · WORK DIVISION</a:t>
            </a:r>
          </a:p>
        </p:txBody>
      </p:sp>
      <p:cxnSp>
        <p:nvCxnSpPr>
          <p:cNvPr id="4" name="Connector 3"/>
          <p:cNvCxnSpPr/>
          <p:nvPr/>
        </p:nvCxnSpPr>
        <p:spPr>
          <a:xfrm>
            <a:off x="813816" y="6099048"/>
            <a:ext cx="10570464"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6236208"/>
            <a:ext cx="5888736" cy="237744"/>
          </a:xfrm>
          <a:prstGeom prst="rect">
            <a:avLst/>
          </a:prstGeom>
          <a:noFill/>
        </p:spPr>
        <p:txBody>
          <a:bodyPr wrap="square" lIns="0" rIns="0" tIns="0" bIns="0" anchor="t">
            <a:spAutoFit/>
          </a:bodyPr>
          <a:lstStyle/>
          <a:p>
            <a:pPr algn="l"/>
            <a:r>
              <a:rPr sz="1200" b="0">
                <a:solidFill>
                  <a:srgbClr val="6B7880"/>
                </a:solidFill>
                <a:latin typeface="IBM Plex Sans"/>
              </a:rPr>
              <a:t>Expense Tracker · Final Project Presentation</a:t>
            </a:r>
          </a:p>
        </p:txBody>
      </p:sp>
      <p:sp>
        <p:nvSpPr>
          <p:cNvPr id="6" name="PageNum"/>
          <p:cNvSpPr txBox="1"/>
          <p:nvPr/>
        </p:nvSpPr>
        <p:spPr>
          <a:xfrm>
            <a:off x="10058400" y="6236208"/>
            <a:ext cx="1316736" cy="237744"/>
          </a:xfrm>
          <a:prstGeom prst="rect">
            <a:avLst/>
          </a:prstGeom>
          <a:noFill/>
        </p:spPr>
        <p:txBody>
          <a:bodyPr wrap="square" lIns="0" rIns="0" tIns="0" bIns="0" anchor="t">
            <a:spAutoFit/>
          </a:bodyPr>
          <a:lstStyle/>
          <a:p>
            <a:pPr algn="r"/>
            <a:r>
              <a:rPr sz="1200" b="0">
                <a:solidFill>
                  <a:srgbClr val="6B7880"/>
                </a:solidFill>
                <a:latin typeface="IBM Plex Sans"/>
              </a:rPr>
              <a:t>15</a:t>
            </a:r>
          </a:p>
        </p:txBody>
      </p:sp>
      <p:sp>
        <p:nvSpPr>
          <p:cNvPr id="7" name="Rounded Rectangle 6"/>
          <p:cNvSpPr/>
          <p:nvPr/>
        </p:nvSpPr>
        <p:spPr>
          <a:xfrm>
            <a:off x="813816" y="1901952"/>
            <a:ext cx="5120640" cy="62179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87552" y="2039112"/>
            <a:ext cx="347472" cy="347472"/>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1</a:t>
            </a:r>
          </a:p>
        </p:txBody>
      </p:sp>
      <p:sp>
        <p:nvSpPr>
          <p:cNvPr id="9" name="TextBox 8"/>
          <p:cNvSpPr txBox="1"/>
          <p:nvPr/>
        </p:nvSpPr>
        <p:spPr>
          <a:xfrm>
            <a:off x="1508760" y="1975104"/>
            <a:ext cx="4297680" cy="256032"/>
          </a:xfrm>
          <a:prstGeom prst="rect">
            <a:avLst/>
          </a:prstGeom>
          <a:noFill/>
        </p:spPr>
        <p:txBody>
          <a:bodyPr wrap="square" lIns="0" rIns="0" tIns="0" bIns="0" anchor="t">
            <a:spAutoFit/>
          </a:bodyPr>
          <a:lstStyle/>
          <a:p>
            <a:pPr algn="l"/>
            <a:r>
              <a:rPr sz="1500" b="1">
                <a:solidFill>
                  <a:srgbClr val="16232A"/>
                </a:solidFill>
                <a:latin typeface="IBM Plex Sans"/>
              </a:rPr>
              <a:t>Planning &amp; UX</a:t>
            </a:r>
          </a:p>
        </p:txBody>
      </p:sp>
      <p:sp>
        <p:nvSpPr>
          <p:cNvPr id="10" name="TextBox 9"/>
          <p:cNvSpPr txBox="1"/>
          <p:nvPr/>
        </p:nvSpPr>
        <p:spPr>
          <a:xfrm>
            <a:off x="1508760" y="2231136"/>
            <a:ext cx="4297680" cy="237744"/>
          </a:xfrm>
          <a:prstGeom prst="rect">
            <a:avLst/>
          </a:prstGeom>
          <a:noFill/>
        </p:spPr>
        <p:txBody>
          <a:bodyPr wrap="square" lIns="0" rIns="0" tIns="0" bIns="0" anchor="t">
            <a:spAutoFit/>
          </a:bodyPr>
          <a:lstStyle/>
          <a:p>
            <a:pPr algn="l"/>
            <a:r>
              <a:rPr sz="1200" b="0">
                <a:solidFill>
                  <a:srgbClr val="4A5860"/>
                </a:solidFill>
                <a:latin typeface="IBM Plex Sans"/>
              </a:rPr>
              <a:t>User flows, screens, categories</a:t>
            </a:r>
          </a:p>
        </p:txBody>
      </p:sp>
      <p:sp>
        <p:nvSpPr>
          <p:cNvPr id="11" name="Rounded Rectangle 10"/>
          <p:cNvSpPr/>
          <p:nvPr/>
        </p:nvSpPr>
        <p:spPr>
          <a:xfrm>
            <a:off x="813816" y="2651760"/>
            <a:ext cx="5120640" cy="62179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87552" y="2788920"/>
            <a:ext cx="347472" cy="347472"/>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2</a:t>
            </a:r>
          </a:p>
        </p:txBody>
      </p:sp>
      <p:sp>
        <p:nvSpPr>
          <p:cNvPr id="13" name="TextBox 12"/>
          <p:cNvSpPr txBox="1"/>
          <p:nvPr/>
        </p:nvSpPr>
        <p:spPr>
          <a:xfrm>
            <a:off x="1508760" y="2724912"/>
            <a:ext cx="4297680" cy="256032"/>
          </a:xfrm>
          <a:prstGeom prst="rect">
            <a:avLst/>
          </a:prstGeom>
          <a:noFill/>
        </p:spPr>
        <p:txBody>
          <a:bodyPr wrap="square" lIns="0" rIns="0" tIns="0" bIns="0" anchor="t">
            <a:spAutoFit/>
          </a:bodyPr>
          <a:lstStyle/>
          <a:p>
            <a:pPr algn="l"/>
            <a:r>
              <a:rPr sz="1500" b="1">
                <a:solidFill>
                  <a:srgbClr val="16232A"/>
                </a:solidFill>
                <a:latin typeface="IBM Plex Sans"/>
              </a:rPr>
              <a:t>Flutter development</a:t>
            </a:r>
          </a:p>
        </p:txBody>
      </p:sp>
      <p:sp>
        <p:nvSpPr>
          <p:cNvPr id="14" name="TextBox 13"/>
          <p:cNvSpPr txBox="1"/>
          <p:nvPr/>
        </p:nvSpPr>
        <p:spPr>
          <a:xfrm>
            <a:off x="1508760" y="2980944"/>
            <a:ext cx="4297680" cy="237744"/>
          </a:xfrm>
          <a:prstGeom prst="rect">
            <a:avLst/>
          </a:prstGeom>
          <a:noFill/>
        </p:spPr>
        <p:txBody>
          <a:bodyPr wrap="square" lIns="0" rIns="0" tIns="0" bIns="0" anchor="t">
            <a:spAutoFit/>
          </a:bodyPr>
          <a:lstStyle/>
          <a:p>
            <a:pPr algn="l"/>
            <a:r>
              <a:rPr sz="1200" b="0">
                <a:solidFill>
                  <a:srgbClr val="4A5860"/>
                </a:solidFill>
                <a:latin typeface="IBM Plex Sans"/>
              </a:rPr>
              <a:t>UI, widgets, Provider state</a:t>
            </a:r>
          </a:p>
        </p:txBody>
      </p:sp>
      <p:sp>
        <p:nvSpPr>
          <p:cNvPr id="15" name="Rounded Rectangle 14"/>
          <p:cNvSpPr/>
          <p:nvPr/>
        </p:nvSpPr>
        <p:spPr>
          <a:xfrm>
            <a:off x="813816" y="3401568"/>
            <a:ext cx="5120640" cy="62179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87552" y="3538727"/>
            <a:ext cx="347472" cy="347472"/>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3</a:t>
            </a:r>
          </a:p>
        </p:txBody>
      </p:sp>
      <p:sp>
        <p:nvSpPr>
          <p:cNvPr id="17" name="TextBox 16"/>
          <p:cNvSpPr txBox="1"/>
          <p:nvPr/>
        </p:nvSpPr>
        <p:spPr>
          <a:xfrm>
            <a:off x="1508760" y="3474720"/>
            <a:ext cx="4297680" cy="256032"/>
          </a:xfrm>
          <a:prstGeom prst="rect">
            <a:avLst/>
          </a:prstGeom>
          <a:noFill/>
        </p:spPr>
        <p:txBody>
          <a:bodyPr wrap="square" lIns="0" rIns="0" tIns="0" bIns="0" anchor="t">
            <a:spAutoFit/>
          </a:bodyPr>
          <a:lstStyle/>
          <a:p>
            <a:pPr algn="l"/>
            <a:r>
              <a:rPr sz="1500" b="1">
                <a:solidFill>
                  <a:srgbClr val="16232A"/>
                </a:solidFill>
                <a:latin typeface="IBM Plex Sans"/>
              </a:rPr>
              <a:t>Backend</a:t>
            </a:r>
          </a:p>
        </p:txBody>
      </p:sp>
      <p:sp>
        <p:nvSpPr>
          <p:cNvPr id="18" name="TextBox 17"/>
          <p:cNvSpPr txBox="1"/>
          <p:nvPr/>
        </p:nvSpPr>
        <p:spPr>
          <a:xfrm>
            <a:off x="1508760" y="3730752"/>
            <a:ext cx="4297680" cy="237744"/>
          </a:xfrm>
          <a:prstGeom prst="rect">
            <a:avLst/>
          </a:prstGeom>
          <a:noFill/>
        </p:spPr>
        <p:txBody>
          <a:bodyPr wrap="square" lIns="0" rIns="0" tIns="0" bIns="0" anchor="t">
            <a:spAutoFit/>
          </a:bodyPr>
          <a:lstStyle/>
          <a:p>
            <a:pPr algn="l"/>
            <a:r>
              <a:rPr sz="1200" b="0">
                <a:solidFill>
                  <a:srgbClr val="4A5860"/>
                </a:solidFill>
                <a:latin typeface="IBM Plex Sans"/>
              </a:rPr>
              <a:t>Supabase schema and RLS policies</a:t>
            </a:r>
          </a:p>
        </p:txBody>
      </p:sp>
      <p:sp>
        <p:nvSpPr>
          <p:cNvPr id="19" name="Rounded Rectangle 18"/>
          <p:cNvSpPr/>
          <p:nvPr/>
        </p:nvSpPr>
        <p:spPr>
          <a:xfrm>
            <a:off x="813816" y="4151376"/>
            <a:ext cx="5120640" cy="62179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87552" y="4288536"/>
            <a:ext cx="347472" cy="347472"/>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4</a:t>
            </a:r>
          </a:p>
        </p:txBody>
      </p:sp>
      <p:sp>
        <p:nvSpPr>
          <p:cNvPr id="21" name="TextBox 20"/>
          <p:cNvSpPr txBox="1"/>
          <p:nvPr/>
        </p:nvSpPr>
        <p:spPr>
          <a:xfrm>
            <a:off x="1508760" y="4224528"/>
            <a:ext cx="4297680" cy="256032"/>
          </a:xfrm>
          <a:prstGeom prst="rect">
            <a:avLst/>
          </a:prstGeom>
          <a:noFill/>
        </p:spPr>
        <p:txBody>
          <a:bodyPr wrap="square" lIns="0" rIns="0" tIns="0" bIns="0" anchor="t">
            <a:spAutoFit/>
          </a:bodyPr>
          <a:lstStyle/>
          <a:p>
            <a:pPr algn="l"/>
            <a:r>
              <a:rPr sz="1500" b="1">
                <a:solidFill>
                  <a:srgbClr val="16232A"/>
                </a:solidFill>
                <a:latin typeface="IBM Plex Sans"/>
              </a:rPr>
              <a:t>Testing</a:t>
            </a:r>
          </a:p>
        </p:txBody>
      </p:sp>
      <p:sp>
        <p:nvSpPr>
          <p:cNvPr id="22" name="TextBox 21"/>
          <p:cNvSpPr txBox="1"/>
          <p:nvPr/>
        </p:nvSpPr>
        <p:spPr>
          <a:xfrm>
            <a:off x="1508760" y="4480560"/>
            <a:ext cx="4297680" cy="237744"/>
          </a:xfrm>
          <a:prstGeom prst="rect">
            <a:avLst/>
          </a:prstGeom>
          <a:noFill/>
        </p:spPr>
        <p:txBody>
          <a:bodyPr wrap="square" lIns="0" rIns="0" tIns="0" bIns="0" anchor="t">
            <a:spAutoFit/>
          </a:bodyPr>
          <a:lstStyle/>
          <a:p>
            <a:pPr algn="l"/>
            <a:r>
              <a:rPr sz="1200" b="0">
                <a:solidFill>
                  <a:srgbClr val="4A5860"/>
                </a:solidFill>
                <a:latin typeface="IBM Plex Sans"/>
              </a:rPr>
              <a:t>40 automated tests, 24-step manual check</a:t>
            </a:r>
          </a:p>
        </p:txBody>
      </p:sp>
      <p:sp>
        <p:nvSpPr>
          <p:cNvPr id="23" name="Rounded Rectangle 22"/>
          <p:cNvSpPr/>
          <p:nvPr/>
        </p:nvSpPr>
        <p:spPr>
          <a:xfrm>
            <a:off x="813816" y="4901183"/>
            <a:ext cx="5120640" cy="62179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87552" y="5038344"/>
            <a:ext cx="347472" cy="347472"/>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5</a:t>
            </a:r>
          </a:p>
        </p:txBody>
      </p:sp>
      <p:sp>
        <p:nvSpPr>
          <p:cNvPr id="25" name="TextBox 24"/>
          <p:cNvSpPr txBox="1"/>
          <p:nvPr/>
        </p:nvSpPr>
        <p:spPr>
          <a:xfrm>
            <a:off x="1508760" y="4974336"/>
            <a:ext cx="4297680" cy="256032"/>
          </a:xfrm>
          <a:prstGeom prst="rect">
            <a:avLst/>
          </a:prstGeom>
          <a:noFill/>
        </p:spPr>
        <p:txBody>
          <a:bodyPr wrap="square" lIns="0" rIns="0" tIns="0" bIns="0" anchor="t">
            <a:spAutoFit/>
          </a:bodyPr>
          <a:lstStyle/>
          <a:p>
            <a:pPr algn="l"/>
            <a:r>
              <a:rPr sz="1500" b="1">
                <a:solidFill>
                  <a:srgbClr val="16232A"/>
                </a:solidFill>
                <a:latin typeface="IBM Plex Sans"/>
              </a:rPr>
              <a:t>Release &amp; docs</a:t>
            </a:r>
          </a:p>
        </p:txBody>
      </p:sp>
      <p:sp>
        <p:nvSpPr>
          <p:cNvPr id="26" name="TextBox 25"/>
          <p:cNvSpPr txBox="1"/>
          <p:nvPr/>
        </p:nvSpPr>
        <p:spPr>
          <a:xfrm>
            <a:off x="1508760" y="5230368"/>
            <a:ext cx="4297680" cy="237744"/>
          </a:xfrm>
          <a:prstGeom prst="rect">
            <a:avLst/>
          </a:prstGeom>
          <a:noFill/>
        </p:spPr>
        <p:txBody>
          <a:bodyPr wrap="square" lIns="0" rIns="0" tIns="0" bIns="0" anchor="t">
            <a:spAutoFit/>
          </a:bodyPr>
          <a:lstStyle/>
          <a:p>
            <a:pPr algn="l"/>
            <a:r>
              <a:rPr sz="1200" b="0">
                <a:solidFill>
                  <a:srgbClr val="4A5860"/>
                </a:solidFill>
                <a:latin typeface="IBM Plex Sans"/>
              </a:rPr>
              <a:t>APK, README, API docs, diagrams</a:t>
            </a:r>
          </a:p>
        </p:txBody>
      </p:sp>
      <p:sp>
        <p:nvSpPr>
          <p:cNvPr id="27" name="TextBox 26"/>
          <p:cNvSpPr txBox="1"/>
          <p:nvPr/>
        </p:nvSpPr>
        <p:spPr>
          <a:xfrm>
            <a:off x="6400800" y="1901952"/>
            <a:ext cx="4937760" cy="329184"/>
          </a:xfrm>
          <a:prstGeom prst="rect">
            <a:avLst/>
          </a:prstGeom>
          <a:noFill/>
        </p:spPr>
        <p:txBody>
          <a:bodyPr wrap="square" lIns="0" rIns="0" tIns="0" bIns="0" anchor="t">
            <a:spAutoFit/>
          </a:bodyPr>
          <a:lstStyle/>
          <a:p>
            <a:pPr algn="l"/>
            <a:r>
              <a:rPr sz="1800" b="1">
                <a:solidFill>
                  <a:srgbClr val="16232A"/>
                </a:solidFill>
                <a:latin typeface="Source Serif 4"/>
              </a:rPr>
              <a:t>Delivered in three milestones</a:t>
            </a:r>
          </a:p>
        </p:txBody>
      </p:sp>
      <p:cxnSp>
        <p:nvCxnSpPr>
          <p:cNvPr id="28" name="Connector 27"/>
          <p:cNvCxnSpPr/>
          <p:nvPr/>
        </p:nvCxnSpPr>
        <p:spPr>
          <a:xfrm>
            <a:off x="6647688" y="2606040"/>
            <a:ext cx="0" cy="2514600"/>
          </a:xfrm>
          <a:prstGeom prst="line">
            <a:avLst/>
          </a:prstGeom>
          <a:ln w="25400">
            <a:solidFill>
              <a:srgbClr val="7FC8BC"/>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400800" y="2468880"/>
            <a:ext cx="502920" cy="502920"/>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IBM Plex Sans"/>
              </a:rPr>
              <a:t>v1.0</a:t>
            </a:r>
          </a:p>
        </p:txBody>
      </p:sp>
      <p:sp>
        <p:nvSpPr>
          <p:cNvPr id="30" name="TextBox 29"/>
          <p:cNvSpPr txBox="1"/>
          <p:nvPr/>
        </p:nvSpPr>
        <p:spPr>
          <a:xfrm>
            <a:off x="7086600" y="2468880"/>
            <a:ext cx="4297680" cy="274320"/>
          </a:xfrm>
          <a:prstGeom prst="rect">
            <a:avLst/>
          </a:prstGeom>
          <a:noFill/>
        </p:spPr>
        <p:txBody>
          <a:bodyPr wrap="square" lIns="0" rIns="0" tIns="0" bIns="0" anchor="t">
            <a:spAutoFit/>
          </a:bodyPr>
          <a:lstStyle/>
          <a:p>
            <a:pPr algn="l"/>
            <a:r>
              <a:rPr sz="1500" b="1">
                <a:solidFill>
                  <a:srgbClr val="16232A"/>
                </a:solidFill>
                <a:latin typeface="IBM Plex Sans"/>
              </a:rPr>
              <a:t>Core app</a:t>
            </a:r>
          </a:p>
        </p:txBody>
      </p:sp>
      <p:sp>
        <p:nvSpPr>
          <p:cNvPr id="31" name="TextBox 30"/>
          <p:cNvSpPr txBox="1"/>
          <p:nvPr/>
        </p:nvSpPr>
        <p:spPr>
          <a:xfrm>
            <a:off x="7086600" y="2761488"/>
            <a:ext cx="4297680" cy="502920"/>
          </a:xfrm>
          <a:prstGeom prst="rect">
            <a:avLst/>
          </a:prstGeom>
          <a:noFill/>
        </p:spPr>
        <p:txBody>
          <a:bodyPr wrap="square" lIns="0" rIns="0" tIns="0" bIns="0" anchor="t">
            <a:spAutoFit/>
          </a:bodyPr>
          <a:lstStyle/>
          <a:p>
            <a:pPr algn="l"/>
            <a:r>
              <a:rPr sz="1300" b="0">
                <a:solidFill>
                  <a:srgbClr val="4A5860"/>
                </a:solidFill>
                <a:latin typeface="IBM Plex Sans"/>
              </a:rPr>
              <a:t>Login, sign-up and expense CRUD with Supabase</a:t>
            </a:r>
          </a:p>
        </p:txBody>
      </p:sp>
      <p:sp>
        <p:nvSpPr>
          <p:cNvPr id="32" name="Oval 31"/>
          <p:cNvSpPr/>
          <p:nvPr/>
        </p:nvSpPr>
        <p:spPr>
          <a:xfrm>
            <a:off x="6400800" y="3493008"/>
            <a:ext cx="502920" cy="502920"/>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IBM Plex Sans"/>
              </a:rPr>
              <a:t>v1.1</a:t>
            </a:r>
          </a:p>
        </p:txBody>
      </p:sp>
      <p:sp>
        <p:nvSpPr>
          <p:cNvPr id="33" name="TextBox 32"/>
          <p:cNvSpPr txBox="1"/>
          <p:nvPr/>
        </p:nvSpPr>
        <p:spPr>
          <a:xfrm>
            <a:off x="7086600" y="3493008"/>
            <a:ext cx="4297680" cy="274320"/>
          </a:xfrm>
          <a:prstGeom prst="rect">
            <a:avLst/>
          </a:prstGeom>
          <a:noFill/>
        </p:spPr>
        <p:txBody>
          <a:bodyPr wrap="square" lIns="0" rIns="0" tIns="0" bIns="0" anchor="t">
            <a:spAutoFit/>
          </a:bodyPr>
          <a:lstStyle/>
          <a:p>
            <a:pPr algn="l"/>
            <a:r>
              <a:rPr sz="1500" b="1">
                <a:solidFill>
                  <a:srgbClr val="16232A"/>
                </a:solidFill>
                <a:latin typeface="IBM Plex Sans"/>
              </a:rPr>
              <a:t>Feature completion</a:t>
            </a:r>
          </a:p>
        </p:txBody>
      </p:sp>
      <p:sp>
        <p:nvSpPr>
          <p:cNvPr id="34" name="TextBox 33"/>
          <p:cNvSpPr txBox="1"/>
          <p:nvPr/>
        </p:nvSpPr>
        <p:spPr>
          <a:xfrm>
            <a:off x="7086600" y="3785616"/>
            <a:ext cx="4297680" cy="502920"/>
          </a:xfrm>
          <a:prstGeom prst="rect">
            <a:avLst/>
          </a:prstGeom>
          <a:noFill/>
        </p:spPr>
        <p:txBody>
          <a:bodyPr wrap="square" lIns="0" rIns="0" tIns="0" bIns="0" anchor="t">
            <a:spAutoFit/>
          </a:bodyPr>
          <a:lstStyle/>
          <a:p>
            <a:pPr algn="l"/>
            <a:r>
              <a:rPr sz="1300" b="0">
                <a:solidFill>
                  <a:srgbClr val="4A5860"/>
                </a:solidFill>
                <a:latin typeface="IBM Plex Sans"/>
              </a:rPr>
              <a:t>Search, filters, sort, summary, Undo, dark mode, tests</a:t>
            </a:r>
          </a:p>
        </p:txBody>
      </p:sp>
      <p:sp>
        <p:nvSpPr>
          <p:cNvPr id="35" name="Oval 34"/>
          <p:cNvSpPr/>
          <p:nvPr/>
        </p:nvSpPr>
        <p:spPr>
          <a:xfrm>
            <a:off x="6400800" y="4517136"/>
            <a:ext cx="502920" cy="502920"/>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IBM Plex Sans"/>
              </a:rPr>
              <a:t>v1.2</a:t>
            </a:r>
          </a:p>
        </p:txBody>
      </p:sp>
      <p:sp>
        <p:nvSpPr>
          <p:cNvPr id="36" name="TextBox 35"/>
          <p:cNvSpPr txBox="1"/>
          <p:nvPr/>
        </p:nvSpPr>
        <p:spPr>
          <a:xfrm>
            <a:off x="7086600" y="4517136"/>
            <a:ext cx="4297680" cy="274320"/>
          </a:xfrm>
          <a:prstGeom prst="rect">
            <a:avLst/>
          </a:prstGeom>
          <a:noFill/>
        </p:spPr>
        <p:txBody>
          <a:bodyPr wrap="square" lIns="0" rIns="0" tIns="0" bIns="0" anchor="t">
            <a:spAutoFit/>
          </a:bodyPr>
          <a:lstStyle/>
          <a:p>
            <a:pPr algn="l"/>
            <a:r>
              <a:rPr sz="1500" b="1">
                <a:solidFill>
                  <a:srgbClr val="16232A"/>
                </a:solidFill>
                <a:latin typeface="IBM Plex Sans"/>
              </a:rPr>
              <a:t>Release &amp; documentation</a:t>
            </a:r>
          </a:p>
        </p:txBody>
      </p:sp>
      <p:sp>
        <p:nvSpPr>
          <p:cNvPr id="37" name="TextBox 36"/>
          <p:cNvSpPr txBox="1"/>
          <p:nvPr/>
        </p:nvSpPr>
        <p:spPr>
          <a:xfrm>
            <a:off x="7086600" y="4809744"/>
            <a:ext cx="4297680" cy="502920"/>
          </a:xfrm>
          <a:prstGeom prst="rect">
            <a:avLst/>
          </a:prstGeom>
          <a:noFill/>
        </p:spPr>
        <p:txBody>
          <a:bodyPr wrap="square" lIns="0" rIns="0" tIns="0" bIns="0" anchor="t">
            <a:spAutoFit/>
          </a:bodyPr>
          <a:lstStyle/>
          <a:p>
            <a:pPr algn="l"/>
            <a:r>
              <a:rPr sz="1300" b="0">
                <a:solidFill>
                  <a:srgbClr val="4A5860"/>
                </a:solidFill>
                <a:latin typeface="IBM Plex Sans"/>
              </a:rPr>
              <a:t>Release APK, INTERNET fix, README, API docs</a:t>
            </a:r>
          </a:p>
        </p:txBody>
      </p:sp>
      <p:sp>
        <p:nvSpPr>
          <p:cNvPr id="38" name="Rounded Rectangle 37"/>
          <p:cNvSpPr/>
          <p:nvPr/>
        </p:nvSpPr>
        <p:spPr>
          <a:xfrm>
            <a:off x="6400800" y="5532120"/>
            <a:ext cx="4983480" cy="384048"/>
          </a:xfrm>
          <a:prstGeom prst="roundRect">
            <a:avLst>
              <a:gd name="adj" fmla="val 8000"/>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583680" y="5532120"/>
            <a:ext cx="4663440" cy="384048"/>
          </a:xfrm>
          <a:prstGeom prst="rect">
            <a:avLst/>
          </a:prstGeom>
          <a:noFill/>
        </p:spPr>
        <p:txBody>
          <a:bodyPr wrap="square" lIns="0" rIns="0" tIns="0" bIns="0" anchor="ctr">
            <a:spAutoFit/>
          </a:bodyPr>
          <a:lstStyle/>
          <a:p>
            <a:pPr algn="l"/>
            <a:r>
              <a:rPr sz="1300" b="0">
                <a:solidFill>
                  <a:srgbClr val="16232A"/>
                </a:solidFill>
                <a:latin typeface="IBM Plex Sans"/>
              </a:rPr>
              <a:t>Each daily task was reviewed by the program mentors.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813816" y="1124712"/>
            <a:ext cx="10881360" cy="548640"/>
          </a:xfrm>
        </p:spPr>
        <p:txBody>
          <a:bodyPr lIns="0" rIns="0" tIns="0" bIns="0"/>
          <a:lstStyle/>
          <a:p>
            <a:pPr algn="l"/>
            <a:r>
              <a:rPr sz="3200" b="1">
                <a:solidFill>
                  <a:srgbClr val="16232A"/>
                </a:solidFill>
                <a:latin typeface="Source Serif 4"/>
              </a:rPr>
              <a:t>Version control with Git and GitHub</a:t>
            </a:r>
          </a:p>
        </p:txBody>
      </p:sp>
      <p:sp>
        <p:nvSpPr>
          <p:cNvPr id="3" name="TextBox 2"/>
          <p:cNvSpPr txBox="1"/>
          <p:nvPr/>
        </p:nvSpPr>
        <p:spPr>
          <a:xfrm>
            <a:off x="813816" y="813816"/>
            <a:ext cx="10881360" cy="237744"/>
          </a:xfrm>
          <a:prstGeom prst="rect">
            <a:avLst/>
          </a:prstGeom>
          <a:noFill/>
        </p:spPr>
        <p:txBody>
          <a:bodyPr wrap="square" lIns="0" rIns="0" tIns="0" bIns="0" anchor="t">
            <a:spAutoFit/>
          </a:bodyPr>
          <a:lstStyle/>
          <a:p>
            <a:pPr algn="l"/>
            <a:r>
              <a:rPr sz="1200" b="1">
                <a:solidFill>
                  <a:srgbClr val="0B6E63"/>
                </a:solidFill>
                <a:latin typeface="IBM Plex Sans"/>
              </a:rPr>
              <a:t>04 · COLLABORATION · GIT WORKFLOW</a:t>
            </a:r>
          </a:p>
        </p:txBody>
      </p:sp>
      <p:cxnSp>
        <p:nvCxnSpPr>
          <p:cNvPr id="4" name="Connector 3"/>
          <p:cNvCxnSpPr/>
          <p:nvPr/>
        </p:nvCxnSpPr>
        <p:spPr>
          <a:xfrm>
            <a:off x="813816" y="6099048"/>
            <a:ext cx="10570464" cy="0"/>
          </a:xfrm>
          <a:prstGeom prst="line">
            <a:avLst/>
          </a:prstGeom>
          <a:ln w="6350">
            <a:solidFill>
              <a:srgbClr val="D5D9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3816" y="6236208"/>
            <a:ext cx="5888736" cy="237744"/>
          </a:xfrm>
          <a:prstGeom prst="rect">
            <a:avLst/>
          </a:prstGeom>
          <a:noFill/>
        </p:spPr>
        <p:txBody>
          <a:bodyPr wrap="square" lIns="0" rIns="0" tIns="0" bIns="0" anchor="t">
            <a:spAutoFit/>
          </a:bodyPr>
          <a:lstStyle/>
          <a:p>
            <a:pPr algn="l"/>
            <a:r>
              <a:rPr sz="1200" b="0">
                <a:solidFill>
                  <a:srgbClr val="6B7880"/>
                </a:solidFill>
                <a:latin typeface="IBM Plex Sans"/>
              </a:rPr>
              <a:t>Expense Tracker · Final Project Presentation</a:t>
            </a:r>
          </a:p>
        </p:txBody>
      </p:sp>
      <p:sp>
        <p:nvSpPr>
          <p:cNvPr id="6" name="PageNum"/>
          <p:cNvSpPr txBox="1"/>
          <p:nvPr/>
        </p:nvSpPr>
        <p:spPr>
          <a:xfrm>
            <a:off x="10058400" y="6236208"/>
            <a:ext cx="1316736" cy="237744"/>
          </a:xfrm>
          <a:prstGeom prst="rect">
            <a:avLst/>
          </a:prstGeom>
          <a:noFill/>
        </p:spPr>
        <p:txBody>
          <a:bodyPr wrap="square" lIns="0" rIns="0" tIns="0" bIns="0" anchor="t">
            <a:spAutoFit/>
          </a:bodyPr>
          <a:lstStyle/>
          <a:p>
            <a:pPr algn="r"/>
            <a:r>
              <a:rPr sz="1200" b="0">
                <a:solidFill>
                  <a:srgbClr val="6B7880"/>
                </a:solidFill>
                <a:latin typeface="IBM Plex Sans"/>
              </a:rPr>
              <a:t>16</a:t>
            </a:r>
          </a:p>
        </p:txBody>
      </p:sp>
      <p:sp>
        <p:nvSpPr>
          <p:cNvPr id="7" name="Rounded Rectangle 6"/>
          <p:cNvSpPr/>
          <p:nvPr/>
        </p:nvSpPr>
        <p:spPr>
          <a:xfrm>
            <a:off x="813816" y="1920240"/>
            <a:ext cx="1883664"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96696" y="2084831"/>
            <a:ext cx="347472" cy="347472"/>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1</a:t>
            </a:r>
          </a:p>
        </p:txBody>
      </p:sp>
      <p:sp>
        <p:nvSpPr>
          <p:cNvPr id="9" name="TextBox 8"/>
          <p:cNvSpPr txBox="1"/>
          <p:nvPr/>
        </p:nvSpPr>
        <p:spPr>
          <a:xfrm>
            <a:off x="996696" y="2514600"/>
            <a:ext cx="1609344" cy="274320"/>
          </a:xfrm>
          <a:prstGeom prst="rect">
            <a:avLst/>
          </a:prstGeom>
          <a:noFill/>
        </p:spPr>
        <p:txBody>
          <a:bodyPr wrap="square" lIns="0" rIns="0" tIns="0" bIns="0" anchor="t">
            <a:spAutoFit/>
          </a:bodyPr>
          <a:lstStyle/>
          <a:p>
            <a:pPr algn="l"/>
            <a:r>
              <a:rPr sz="1500" b="1">
                <a:solidFill>
                  <a:srgbClr val="16232A"/>
                </a:solidFill>
                <a:latin typeface="IBM Plex Sans"/>
              </a:rPr>
              <a:t>Pick the task</a:t>
            </a:r>
          </a:p>
        </p:txBody>
      </p:sp>
      <p:sp>
        <p:nvSpPr>
          <p:cNvPr id="10" name="TextBox 9"/>
          <p:cNvSpPr txBox="1"/>
          <p:nvPr/>
        </p:nvSpPr>
        <p:spPr>
          <a:xfrm>
            <a:off x="996696" y="2788920"/>
            <a:ext cx="1609344" cy="292608"/>
          </a:xfrm>
          <a:prstGeom prst="rect">
            <a:avLst/>
          </a:prstGeom>
          <a:noFill/>
        </p:spPr>
        <p:txBody>
          <a:bodyPr wrap="square" lIns="0" rIns="0" tIns="0" bIns="0" anchor="t">
            <a:spAutoFit/>
          </a:bodyPr>
          <a:lstStyle/>
          <a:p>
            <a:pPr algn="l"/>
            <a:r>
              <a:rPr sz="1150" b="0">
                <a:solidFill>
                  <a:srgbClr val="4A5860"/>
                </a:solidFill>
                <a:latin typeface="IBM Plex Sans"/>
              </a:rPr>
              <a:t>Daily program task</a:t>
            </a:r>
          </a:p>
        </p:txBody>
      </p:sp>
      <p:cxnSp>
        <p:nvCxnSpPr>
          <p:cNvPr id="11" name="Connector 10"/>
          <p:cNvCxnSpPr/>
          <p:nvPr/>
        </p:nvCxnSpPr>
        <p:spPr>
          <a:xfrm>
            <a:off x="2734056" y="2542032"/>
            <a:ext cx="210312" cy="0"/>
          </a:xfrm>
          <a:prstGeom prst="line">
            <a:avLst/>
          </a:prstGeom>
          <a:ln w="19050">
            <a:solidFill>
              <a:srgbClr val="0B6E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80944" y="1920240"/>
            <a:ext cx="1883664"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163824" y="2084831"/>
            <a:ext cx="347472" cy="347472"/>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2</a:t>
            </a:r>
          </a:p>
        </p:txBody>
      </p:sp>
      <p:sp>
        <p:nvSpPr>
          <p:cNvPr id="14" name="TextBox 13"/>
          <p:cNvSpPr txBox="1"/>
          <p:nvPr/>
        </p:nvSpPr>
        <p:spPr>
          <a:xfrm>
            <a:off x="3163824" y="2514600"/>
            <a:ext cx="1609344" cy="274320"/>
          </a:xfrm>
          <a:prstGeom prst="rect">
            <a:avLst/>
          </a:prstGeom>
          <a:noFill/>
        </p:spPr>
        <p:txBody>
          <a:bodyPr wrap="square" lIns="0" rIns="0" tIns="0" bIns="0" anchor="t">
            <a:spAutoFit/>
          </a:bodyPr>
          <a:lstStyle/>
          <a:p>
            <a:pPr algn="l"/>
            <a:r>
              <a:rPr sz="1500" b="1">
                <a:solidFill>
                  <a:srgbClr val="16232A"/>
                </a:solidFill>
                <a:latin typeface="IBM Plex Sans"/>
              </a:rPr>
              <a:t>Build locally</a:t>
            </a:r>
          </a:p>
        </p:txBody>
      </p:sp>
      <p:sp>
        <p:nvSpPr>
          <p:cNvPr id="15" name="TextBox 14"/>
          <p:cNvSpPr txBox="1"/>
          <p:nvPr/>
        </p:nvSpPr>
        <p:spPr>
          <a:xfrm>
            <a:off x="3163824" y="2788920"/>
            <a:ext cx="1609344" cy="292608"/>
          </a:xfrm>
          <a:prstGeom prst="rect">
            <a:avLst/>
          </a:prstGeom>
          <a:noFill/>
        </p:spPr>
        <p:txBody>
          <a:bodyPr wrap="square" lIns="0" rIns="0" tIns="0" bIns="0" anchor="t">
            <a:spAutoFit/>
          </a:bodyPr>
          <a:lstStyle/>
          <a:p>
            <a:pPr algn="l"/>
            <a:r>
              <a:rPr sz="1150" b="0">
                <a:solidFill>
                  <a:srgbClr val="4A5860"/>
                </a:solidFill>
                <a:latin typeface="IBM Plex Sans"/>
              </a:rPr>
              <a:t>Small, focused change</a:t>
            </a:r>
          </a:p>
        </p:txBody>
      </p:sp>
      <p:cxnSp>
        <p:nvCxnSpPr>
          <p:cNvPr id="16" name="Connector 15"/>
          <p:cNvCxnSpPr/>
          <p:nvPr/>
        </p:nvCxnSpPr>
        <p:spPr>
          <a:xfrm>
            <a:off x="4901184" y="2542032"/>
            <a:ext cx="210312" cy="0"/>
          </a:xfrm>
          <a:prstGeom prst="line">
            <a:avLst/>
          </a:prstGeom>
          <a:ln w="19050">
            <a:solidFill>
              <a:srgbClr val="0B6E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48072" y="1920240"/>
            <a:ext cx="1883664"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330952" y="2084831"/>
            <a:ext cx="347472" cy="347472"/>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3</a:t>
            </a:r>
          </a:p>
        </p:txBody>
      </p:sp>
      <p:sp>
        <p:nvSpPr>
          <p:cNvPr id="19" name="TextBox 18"/>
          <p:cNvSpPr txBox="1"/>
          <p:nvPr/>
        </p:nvSpPr>
        <p:spPr>
          <a:xfrm>
            <a:off x="5330952" y="2514600"/>
            <a:ext cx="1609344" cy="274320"/>
          </a:xfrm>
          <a:prstGeom prst="rect">
            <a:avLst/>
          </a:prstGeom>
          <a:noFill/>
        </p:spPr>
        <p:txBody>
          <a:bodyPr wrap="square" lIns="0" rIns="0" tIns="0" bIns="0" anchor="t">
            <a:spAutoFit/>
          </a:bodyPr>
          <a:lstStyle/>
          <a:p>
            <a:pPr algn="l"/>
            <a:r>
              <a:rPr sz="1500" b="1">
                <a:solidFill>
                  <a:srgbClr val="16232A"/>
                </a:solidFill>
                <a:latin typeface="IBM Plex Sans"/>
              </a:rPr>
              <a:t>Check</a:t>
            </a:r>
          </a:p>
        </p:txBody>
      </p:sp>
      <p:sp>
        <p:nvSpPr>
          <p:cNvPr id="20" name="TextBox 19"/>
          <p:cNvSpPr txBox="1"/>
          <p:nvPr/>
        </p:nvSpPr>
        <p:spPr>
          <a:xfrm>
            <a:off x="5330952" y="2788920"/>
            <a:ext cx="1609344" cy="292608"/>
          </a:xfrm>
          <a:prstGeom prst="rect">
            <a:avLst/>
          </a:prstGeom>
          <a:noFill/>
        </p:spPr>
        <p:txBody>
          <a:bodyPr wrap="square" lIns="0" rIns="0" tIns="0" bIns="0" anchor="t">
            <a:spAutoFit/>
          </a:bodyPr>
          <a:lstStyle/>
          <a:p>
            <a:pPr algn="l"/>
            <a:r>
              <a:rPr sz="1150" b="0">
                <a:solidFill>
                  <a:srgbClr val="4A5860"/>
                </a:solidFill>
                <a:latin typeface="IBM Plex Sans"/>
              </a:rPr>
              <a:t>analyze + test</a:t>
            </a:r>
          </a:p>
        </p:txBody>
      </p:sp>
      <p:cxnSp>
        <p:nvCxnSpPr>
          <p:cNvPr id="21" name="Connector 20"/>
          <p:cNvCxnSpPr/>
          <p:nvPr/>
        </p:nvCxnSpPr>
        <p:spPr>
          <a:xfrm>
            <a:off x="7068312" y="2542032"/>
            <a:ext cx="210311" cy="0"/>
          </a:xfrm>
          <a:prstGeom prst="line">
            <a:avLst/>
          </a:prstGeom>
          <a:ln w="19050">
            <a:solidFill>
              <a:srgbClr val="0B6E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15200" y="1920240"/>
            <a:ext cx="1883664"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498079" y="2084831"/>
            <a:ext cx="347472" cy="347472"/>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4</a:t>
            </a:r>
          </a:p>
        </p:txBody>
      </p:sp>
      <p:sp>
        <p:nvSpPr>
          <p:cNvPr id="24" name="TextBox 23"/>
          <p:cNvSpPr txBox="1"/>
          <p:nvPr/>
        </p:nvSpPr>
        <p:spPr>
          <a:xfrm>
            <a:off x="7498079" y="2514600"/>
            <a:ext cx="1609344" cy="274320"/>
          </a:xfrm>
          <a:prstGeom prst="rect">
            <a:avLst/>
          </a:prstGeom>
          <a:noFill/>
        </p:spPr>
        <p:txBody>
          <a:bodyPr wrap="square" lIns="0" rIns="0" tIns="0" bIns="0" anchor="t">
            <a:spAutoFit/>
          </a:bodyPr>
          <a:lstStyle/>
          <a:p>
            <a:pPr algn="l"/>
            <a:r>
              <a:rPr sz="1500" b="1">
                <a:solidFill>
                  <a:srgbClr val="16232A"/>
                </a:solidFill>
                <a:latin typeface="IBM Plex Sans"/>
              </a:rPr>
              <a:t>Commit</a:t>
            </a:r>
          </a:p>
        </p:txBody>
      </p:sp>
      <p:sp>
        <p:nvSpPr>
          <p:cNvPr id="25" name="TextBox 24"/>
          <p:cNvSpPr txBox="1"/>
          <p:nvPr/>
        </p:nvSpPr>
        <p:spPr>
          <a:xfrm>
            <a:off x="7498079" y="2788920"/>
            <a:ext cx="1609344" cy="292608"/>
          </a:xfrm>
          <a:prstGeom prst="rect">
            <a:avLst/>
          </a:prstGeom>
          <a:noFill/>
        </p:spPr>
        <p:txBody>
          <a:bodyPr wrap="square" lIns="0" rIns="0" tIns="0" bIns="0" anchor="t">
            <a:spAutoFit/>
          </a:bodyPr>
          <a:lstStyle/>
          <a:p>
            <a:pPr algn="l"/>
            <a:r>
              <a:rPr sz="1150" b="0">
                <a:solidFill>
                  <a:srgbClr val="4A5860"/>
                </a:solidFill>
                <a:latin typeface="IBM Plex Sans"/>
              </a:rPr>
              <a:t>Clear message</a:t>
            </a:r>
          </a:p>
        </p:txBody>
      </p:sp>
      <p:cxnSp>
        <p:nvCxnSpPr>
          <p:cNvPr id="26" name="Connector 25"/>
          <p:cNvCxnSpPr/>
          <p:nvPr/>
        </p:nvCxnSpPr>
        <p:spPr>
          <a:xfrm>
            <a:off x="9235440" y="2542032"/>
            <a:ext cx="210312" cy="0"/>
          </a:xfrm>
          <a:prstGeom prst="line">
            <a:avLst/>
          </a:prstGeom>
          <a:ln w="19050">
            <a:solidFill>
              <a:srgbClr val="0B6E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482328" y="1920240"/>
            <a:ext cx="1883664"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665208" y="2084831"/>
            <a:ext cx="347472" cy="347472"/>
          </a:xfrm>
          <a:prstGeom prst="ellipse">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5</a:t>
            </a:r>
          </a:p>
        </p:txBody>
      </p:sp>
      <p:sp>
        <p:nvSpPr>
          <p:cNvPr id="29" name="TextBox 28"/>
          <p:cNvSpPr txBox="1"/>
          <p:nvPr/>
        </p:nvSpPr>
        <p:spPr>
          <a:xfrm>
            <a:off x="9665208" y="2514600"/>
            <a:ext cx="1609344" cy="274320"/>
          </a:xfrm>
          <a:prstGeom prst="rect">
            <a:avLst/>
          </a:prstGeom>
          <a:noFill/>
        </p:spPr>
        <p:txBody>
          <a:bodyPr wrap="square" lIns="0" rIns="0" tIns="0" bIns="0" anchor="t">
            <a:spAutoFit/>
          </a:bodyPr>
          <a:lstStyle/>
          <a:p>
            <a:pPr algn="l"/>
            <a:r>
              <a:rPr sz="1500" b="1">
                <a:solidFill>
                  <a:srgbClr val="16232A"/>
                </a:solidFill>
                <a:latin typeface="IBM Plex Sans"/>
              </a:rPr>
              <a:t>Push</a:t>
            </a:r>
          </a:p>
        </p:txBody>
      </p:sp>
      <p:sp>
        <p:nvSpPr>
          <p:cNvPr id="30" name="TextBox 29"/>
          <p:cNvSpPr txBox="1"/>
          <p:nvPr/>
        </p:nvSpPr>
        <p:spPr>
          <a:xfrm>
            <a:off x="9665208" y="2788920"/>
            <a:ext cx="1609344" cy="292608"/>
          </a:xfrm>
          <a:prstGeom prst="rect">
            <a:avLst/>
          </a:prstGeom>
          <a:noFill/>
        </p:spPr>
        <p:txBody>
          <a:bodyPr wrap="square" lIns="0" rIns="0" tIns="0" bIns="0" anchor="t">
            <a:spAutoFit/>
          </a:bodyPr>
          <a:lstStyle/>
          <a:p>
            <a:pPr algn="l"/>
            <a:r>
              <a:rPr sz="1150" b="0">
                <a:solidFill>
                  <a:srgbClr val="4A5860"/>
                </a:solidFill>
                <a:latin typeface="IBM Plex Sans"/>
              </a:rPr>
              <a:t>GitHub repository</a:t>
            </a:r>
          </a:p>
        </p:txBody>
      </p:sp>
      <p:sp>
        <p:nvSpPr>
          <p:cNvPr id="31" name="TextBox 30"/>
          <p:cNvSpPr txBox="1"/>
          <p:nvPr/>
        </p:nvSpPr>
        <p:spPr>
          <a:xfrm>
            <a:off x="813816" y="3520440"/>
            <a:ext cx="5120640" cy="310896"/>
          </a:xfrm>
          <a:prstGeom prst="rect">
            <a:avLst/>
          </a:prstGeom>
          <a:noFill/>
        </p:spPr>
        <p:txBody>
          <a:bodyPr wrap="square" lIns="0" rIns="0" tIns="0" bIns="0" anchor="t">
            <a:spAutoFit/>
          </a:bodyPr>
          <a:lstStyle/>
          <a:p>
            <a:pPr algn="l"/>
            <a:r>
              <a:rPr sz="1800" b="1">
                <a:solidFill>
                  <a:srgbClr val="16232A"/>
                </a:solidFill>
                <a:latin typeface="Source Serif 4"/>
              </a:rPr>
              <a:t>Good practice I followed</a:t>
            </a:r>
          </a:p>
        </p:txBody>
      </p:sp>
      <p:cxnSp>
        <p:nvCxnSpPr>
          <p:cNvPr id="32" name="Connector 31"/>
          <p:cNvCxnSpPr/>
          <p:nvPr/>
        </p:nvCxnSpPr>
        <p:spPr>
          <a:xfrm>
            <a:off x="813816" y="3913632"/>
            <a:ext cx="5120639" cy="0"/>
          </a:xfrm>
          <a:prstGeom prst="line">
            <a:avLst/>
          </a:prstGeom>
          <a:ln w="6350">
            <a:solidFill>
              <a:srgbClr val="0B6E63"/>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13816" y="4050791"/>
            <a:ext cx="5120640" cy="1737360"/>
          </a:xfrm>
          <a:prstGeom prst="rect">
            <a:avLst/>
          </a:prstGeom>
          <a:noFill/>
        </p:spPr>
        <p:txBody>
          <a:bodyPr wrap="square" lIns="0" rIns="0" tIns="0" bIns="0" anchor="t">
            <a:spAutoFit/>
          </a:bodyPr>
          <a:lstStyle/>
          <a:p>
            <a:pPr algn="l" marL="175768" indent="-175768">
              <a:buChar char="•"/>
              <a:spcAft>
                <a:spcPts val="400"/>
              </a:spcAft>
            </a:pPr>
            <a:r>
              <a:rPr sz="1350" b="0">
                <a:solidFill>
                  <a:srgbClr val="4A5860"/>
                </a:solidFill>
                <a:latin typeface="IBM Plex Sans"/>
              </a:rPr>
              <a:t>Milestones marked as versions 1.0, 1.1 and 1.2</a:t>
            </a:r>
          </a:p>
          <a:p>
            <a:pPr algn="l" marL="175768" indent="-175768">
              <a:buChar char="•"/>
              <a:spcAft>
                <a:spcPts val="400"/>
              </a:spcAft>
            </a:pPr>
            <a:r>
              <a:rPr sz="1350" b="0">
                <a:solidFill>
                  <a:srgbClr val="4A5860"/>
                </a:solidFill>
                <a:latin typeface="IBM Plex Sans"/>
              </a:rPr>
              <a:t>Secrets kept out of Git with .gitignore (key.properties, *.jks)</a:t>
            </a:r>
          </a:p>
          <a:p>
            <a:pPr algn="l" marL="175768" indent="-175768">
              <a:buChar char="•"/>
              <a:spcAft>
                <a:spcPts val="400"/>
              </a:spcAft>
            </a:pPr>
            <a:r>
              <a:rPr sz="1350" b="0">
                <a:solidFill>
                  <a:srgbClr val="4A5860"/>
                </a:solidFill>
                <a:latin typeface="IBM Plex Sans"/>
              </a:rPr>
              <a:t>Only the publishable Supabase key in the repo</a:t>
            </a:r>
          </a:p>
          <a:p>
            <a:pPr algn="l" marL="175768" indent="-175768">
              <a:buChar char="•"/>
              <a:spcAft>
                <a:spcPts val="400"/>
              </a:spcAft>
            </a:pPr>
            <a:r>
              <a:rPr sz="1350" b="0">
                <a:solidFill>
                  <a:srgbClr val="4A5860"/>
                </a:solidFill>
                <a:latin typeface="IBM Plex Sans"/>
              </a:rPr>
              <a:t>README and docs updated in the same repository</a:t>
            </a:r>
          </a:p>
        </p:txBody>
      </p:sp>
      <p:sp>
        <p:nvSpPr>
          <p:cNvPr id="34" name="TextBox 33"/>
          <p:cNvSpPr txBox="1"/>
          <p:nvPr/>
        </p:nvSpPr>
        <p:spPr>
          <a:xfrm>
            <a:off x="6263640" y="3520440"/>
            <a:ext cx="5120640" cy="310896"/>
          </a:xfrm>
          <a:prstGeom prst="rect">
            <a:avLst/>
          </a:prstGeom>
          <a:noFill/>
        </p:spPr>
        <p:txBody>
          <a:bodyPr wrap="square" lIns="0" rIns="0" tIns="0" bIns="0" anchor="t">
            <a:spAutoFit/>
          </a:bodyPr>
          <a:lstStyle/>
          <a:p>
            <a:pPr algn="l"/>
            <a:r>
              <a:rPr sz="1800" b="1">
                <a:solidFill>
                  <a:srgbClr val="16232A"/>
                </a:solidFill>
                <a:latin typeface="Source Serif 4"/>
              </a:rPr>
              <a:t>How I would work in a team</a:t>
            </a:r>
          </a:p>
        </p:txBody>
      </p:sp>
      <p:cxnSp>
        <p:nvCxnSpPr>
          <p:cNvPr id="35" name="Connector 34"/>
          <p:cNvCxnSpPr/>
          <p:nvPr/>
        </p:nvCxnSpPr>
        <p:spPr>
          <a:xfrm>
            <a:off x="6263640" y="3913632"/>
            <a:ext cx="5120640" cy="0"/>
          </a:xfrm>
          <a:prstGeom prst="line">
            <a:avLst/>
          </a:prstGeom>
          <a:ln w="6350">
            <a:solidFill>
              <a:srgbClr val="0B6E63"/>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263640" y="4050791"/>
            <a:ext cx="5120640" cy="1737360"/>
          </a:xfrm>
          <a:prstGeom prst="rect">
            <a:avLst/>
          </a:prstGeom>
          <a:noFill/>
        </p:spPr>
        <p:txBody>
          <a:bodyPr wrap="square" lIns="0" rIns="0" tIns="0" bIns="0" anchor="t">
            <a:spAutoFit/>
          </a:bodyPr>
          <a:lstStyle/>
          <a:p>
            <a:pPr algn="l" marL="175768" indent="-175768">
              <a:buChar char="•"/>
              <a:spcAft>
                <a:spcPts val="400"/>
              </a:spcAft>
            </a:pPr>
            <a:r>
              <a:rPr sz="1350" b="0">
                <a:solidFill>
                  <a:srgbClr val="4A5860"/>
                </a:solidFill>
                <a:latin typeface="IBM Plex Sans"/>
              </a:rPr>
              <a:t>A feature branch for every task</a:t>
            </a:r>
          </a:p>
          <a:p>
            <a:pPr algn="l" marL="175768" indent="-175768">
              <a:buChar char="•"/>
              <a:spcAft>
                <a:spcPts val="400"/>
              </a:spcAft>
            </a:pPr>
            <a:r>
              <a:rPr sz="1350" b="0">
                <a:solidFill>
                  <a:srgbClr val="4A5860"/>
                </a:solidFill>
                <a:latin typeface="IBM Plex Sans"/>
              </a:rPr>
              <a:t>Pull requests with code review before merging</a:t>
            </a:r>
          </a:p>
          <a:p>
            <a:pPr algn="l" marL="175768" indent="-175768">
              <a:buChar char="•"/>
              <a:spcAft>
                <a:spcPts val="400"/>
              </a:spcAft>
            </a:pPr>
            <a:r>
              <a:rPr sz="1350" b="0">
                <a:solidFill>
                  <a:srgbClr val="4A5860"/>
                </a:solidFill>
                <a:latin typeface="IBM Plex Sans"/>
              </a:rPr>
              <a:t>CI running analyze and tests on every pull request</a:t>
            </a:r>
          </a:p>
          <a:p>
            <a:pPr algn="l" marL="175768" indent="-175768">
              <a:buChar char="•"/>
              <a:spcAft>
                <a:spcPts val="400"/>
              </a:spcAft>
            </a:pPr>
            <a:r>
              <a:rPr sz="1350" b="0">
                <a:solidFill>
                  <a:srgbClr val="4A5860"/>
                </a:solidFill>
                <a:latin typeface="IBM Plex Sans"/>
              </a:rPr>
              <a:t>Merge conflicts resolved by rebasing on main</a:t>
            </a:r>
          </a:p>
        </p:txBody>
      </p:sp>
    </p:spTree>
  </p:cSld>
  <p:clrMapOvr>
    <a:masterClrMapping/>
  </p:clrMapOvr>
</p:sld>
</file>

<file path=ppt/theme/theme1.xml><?xml version="1.0" encoding="utf-8"?>
<a:theme xmlns:a="http://schemas.openxmlformats.org/drawingml/2006/main" name="Expense Tracker">
  <a:themeElements>
    <a:clrScheme name="Expense Tracker">
      <a:dk1>
        <a:srgbClr val="16232A"/>
      </a:dk1>
      <a:lt1>
        <a:srgbClr val="F7F6F2"/>
      </a:lt1>
      <a:dk2>
        <a:srgbClr val="4E585C"/>
      </a:dk2>
      <a:lt2>
        <a:srgbClr val="E1E1DE"/>
      </a:lt2>
      <a:accent1>
        <a:srgbClr val="0B6E63"/>
      </a:accent1>
      <a:accent2>
        <a:srgbClr val="7FC8BC"/>
      </a:accent2>
      <a:accent3>
        <a:srgbClr val="4A5860"/>
      </a:accent3>
      <a:accent4>
        <a:srgbClr val="6B7880"/>
      </a:accent4>
      <a:accent5>
        <a:srgbClr val="C3CDD0"/>
      </a:accent5>
      <a:accent6>
        <a:srgbClr val="9AAAB0"/>
      </a:accent6>
      <a:hlink>
        <a:srgbClr val="0563C1"/>
      </a:hlink>
      <a:folHlink>
        <a:srgbClr val="954F72"/>
      </a:folHlink>
    </a:clrScheme>
    <a:fontScheme name="Expense Tracker">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Expense Tracker</dc:title>
  <dc:subject/>
  <dc:creator/>
  <cp:lastModifiedBy/>
  <cp:revision>1</cp:revision>
  <dcterms:created xsi:type="dcterms:W3CDTF">2026-10-14T05:01:18Z</dcterms:created>
  <dcterms:modified xsi:type="dcterms:W3CDTF">2026-10-14T05:01:18Z</dcterms:modified>
</cp:coreProperties>
</file>